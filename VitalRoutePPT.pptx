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9" d="100"/>
          <a:sy n="89" d="100"/>
        </p:scale>
        <p:origin x="72" y="40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58918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jpe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144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14350" y="621506"/>
            <a:ext cx="4080504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INTRODUÇÃO À COMPUTAÇÃO MÓVEL · 2025/26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514350" y="1316236"/>
            <a:ext cx="4080504" cy="53890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73600"/>
              </a:lnSpc>
              <a:buNone/>
            </a:pPr>
            <a:r>
              <a:rPr lang="en-US" sz="4250" b="1" kern="0" spc="-4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VitalRoute</a:t>
            </a:r>
            <a:endParaRPr lang="en-US" sz="4250" dirty="0"/>
          </a:p>
        </p:txBody>
      </p:sp>
      <p:sp>
        <p:nvSpPr>
          <p:cNvPr id="5" name="Text 2"/>
          <p:cNvSpPr/>
          <p:nvPr/>
        </p:nvSpPr>
        <p:spPr>
          <a:xfrm>
            <a:off x="514350" y="2569936"/>
            <a:ext cx="4071938" cy="5314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9200"/>
              </a:lnSpc>
              <a:buNone/>
            </a:pPr>
            <a:r>
              <a:rPr lang="en-US" sz="1600" dirty="0">
                <a:solidFill>
                  <a:srgbClr val="E5E7EB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Fitness + segurança ativa para atletas ao ar livre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14350" y="3515757"/>
            <a:ext cx="2138406" cy="1825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7600"/>
              </a:lnSpc>
              <a:buNone/>
            </a:pPr>
            <a:r>
              <a:rPr lang="en-US" sz="900" dirty="0" err="1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Autores</a:t>
            </a: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</a:t>
            </a:r>
            <a:r>
              <a:rPr lang="en-US" sz="9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Duarte Lourenço,  João Silva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14350" y="3736907"/>
            <a:ext cx="4080504" cy="2211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7600"/>
              </a:lnSpc>
              <a:buNone/>
            </a:pP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Universidade:</a:t>
            </a:r>
            <a:r>
              <a:rPr lang="en-US" sz="9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Universidade de Aveiro · DETI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14350" y="3958056"/>
            <a:ext cx="4080504" cy="2211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7600"/>
              </a:lnSpc>
              <a:buNone/>
            </a:pP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Data:</a:t>
            </a:r>
            <a:r>
              <a:rPr lang="en-US" sz="9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19 de maio de 2026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937754" y="750094"/>
            <a:ext cx="3691868" cy="3643313"/>
          </a:xfrm>
          <a:prstGeom prst="rect">
            <a:avLst/>
          </a:prstGeom>
          <a:solidFill>
            <a:srgbClr val="FFFFFF">
              <a:alpha val="4000"/>
            </a:srgbClr>
          </a:solidFill>
          <a:ln w="9144">
            <a:solidFill>
              <a:srgbClr val="FF6B35">
                <a:alpha val="28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Shape 7"/>
          <p:cNvSpPr/>
          <p:nvPr/>
        </p:nvSpPr>
        <p:spPr>
          <a:xfrm>
            <a:off x="5890720" y="1035844"/>
            <a:ext cx="1785938" cy="3071813"/>
          </a:xfrm>
          <a:prstGeom prst="rect">
            <a:avLst/>
          </a:prstGeom>
          <a:solidFill>
            <a:srgbClr val="131318"/>
          </a:solidFill>
          <a:ln w="18288">
            <a:solidFill>
              <a:srgbClr val="2A2A3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6047882" y="1421606"/>
            <a:ext cx="1471613" cy="1943100"/>
          </a:xfrm>
          <a:prstGeom prst="rect">
            <a:avLst/>
          </a:prstGeom>
          <a:solidFill>
            <a:srgbClr val="101015"/>
          </a:solidFill>
          <a:ln w="9144">
            <a:solidFill>
              <a:srgbClr val="2F303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0"/>
          <p:cNvSpPr/>
          <p:nvPr/>
        </p:nvSpPr>
        <p:spPr>
          <a:xfrm>
            <a:off x="6097888" y="3631763"/>
            <a:ext cx="1371600" cy="12311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514350" y="4564856"/>
            <a:ext cx="8115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Shape 12"/>
          <p:cNvSpPr/>
          <p:nvPr/>
        </p:nvSpPr>
        <p:spPr>
          <a:xfrm>
            <a:off x="514350" y="4564856"/>
            <a:ext cx="81153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/>
          <p:nvPr/>
        </p:nvSpPr>
        <p:spPr>
          <a:xfrm>
            <a:off x="514350" y="4789884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8331398" y="4789884"/>
            <a:ext cx="298252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12</a:t>
            </a:r>
            <a:endParaRPr lang="en-US" sz="750" dirty="0"/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id="{D1B59539-4954-194F-69D9-9781440018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4001" y="1406808"/>
            <a:ext cx="1539373" cy="200707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3323658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 problema que resolvemos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288244" y="573286"/>
            <a:ext cx="1398556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PROBLEMA &amp; CONCEITO</a:t>
            </a:r>
            <a:endParaRPr lang="en-US" sz="650" dirty="0"/>
          </a:p>
        </p:txBody>
      </p:sp>
      <p:sp>
        <p:nvSpPr>
          <p:cNvPr id="5" name="Text 2"/>
          <p:cNvSpPr/>
          <p:nvPr/>
        </p:nvSpPr>
        <p:spPr>
          <a:xfrm>
            <a:off x="457200" y="1000125"/>
            <a:ext cx="4000500" cy="4457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Atletas ao ar livre precisam de métricas de treino e de segurança ativa no mesmo fluxo.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1688771"/>
            <a:ext cx="2164556" cy="58578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457200" y="1688771"/>
            <a:ext cx="2164556" cy="21431"/>
          </a:xfrm>
          <a:prstGeom prst="rect">
            <a:avLst/>
          </a:prstGeom>
          <a:solidFill>
            <a:srgbClr val="2F303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457200" y="1688771"/>
            <a:ext cx="2164556" cy="585788"/>
          </a:xfrm>
          <a:prstGeom prst="rect">
            <a:avLst/>
          </a:prstGeom>
          <a:noFill/>
          <a:ln/>
        </p:spPr>
        <p:txBody>
          <a:bodyPr wrap="square" lIns="153035" tIns="0" rIns="153035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Ciclistas e corredores treinam sozinhos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50344" y="1688771"/>
            <a:ext cx="2164556" cy="58578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7"/>
          <p:cNvSpPr/>
          <p:nvPr/>
        </p:nvSpPr>
        <p:spPr>
          <a:xfrm>
            <a:off x="2750344" y="1688771"/>
            <a:ext cx="2164556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2750344" y="1688771"/>
            <a:ext cx="2164556" cy="585788"/>
          </a:xfrm>
          <a:prstGeom prst="rect">
            <a:avLst/>
          </a:prstGeom>
          <a:noFill/>
          <a:ln/>
        </p:spPr>
        <p:txBody>
          <a:bodyPr wrap="square" lIns="153035" tIns="0" rIns="153035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Acidentes sem testemunhas são críticos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2403146"/>
            <a:ext cx="2164556" cy="58578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457200" y="2403146"/>
            <a:ext cx="2164556" cy="2143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1"/>
          <p:cNvSpPr/>
          <p:nvPr/>
        </p:nvSpPr>
        <p:spPr>
          <a:xfrm>
            <a:off x="457200" y="2403146"/>
            <a:ext cx="2164556" cy="585788"/>
          </a:xfrm>
          <a:prstGeom prst="rect">
            <a:avLst/>
          </a:prstGeom>
          <a:noFill/>
          <a:ln/>
        </p:spPr>
        <p:txBody>
          <a:bodyPr wrap="square" lIns="153035" tIns="0" rIns="153035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Apps de fitness ignoram emergência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2750344" y="2403146"/>
            <a:ext cx="2164556" cy="58578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2750344" y="2403146"/>
            <a:ext cx="2164556" cy="21431"/>
          </a:xfrm>
          <a:prstGeom prst="rect">
            <a:avLst/>
          </a:prstGeom>
          <a:solidFill>
            <a:srgbClr val="2F303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/>
          <p:nvPr/>
        </p:nvSpPr>
        <p:spPr>
          <a:xfrm>
            <a:off x="2750344" y="2403146"/>
            <a:ext cx="2164556" cy="585788"/>
          </a:xfrm>
          <a:prstGeom prst="rect">
            <a:avLst/>
          </a:prstGeom>
          <a:noFill/>
          <a:ln/>
        </p:spPr>
        <p:txBody>
          <a:bodyPr wrap="square" lIns="153035" tIns="0" rIns="153035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Botões SOS ignoram contexto desportivo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57200" y="3260396"/>
            <a:ext cx="4457700" cy="614363"/>
          </a:xfrm>
          <a:prstGeom prst="rect">
            <a:avLst/>
          </a:prstGeom>
          <a:solidFill>
            <a:srgbClr val="25171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6"/>
          <p:cNvSpPr/>
          <p:nvPr/>
        </p:nvSpPr>
        <p:spPr>
          <a:xfrm>
            <a:off x="457200" y="3260396"/>
            <a:ext cx="4457700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7"/>
          <p:cNvSpPr/>
          <p:nvPr/>
        </p:nvSpPr>
        <p:spPr>
          <a:xfrm>
            <a:off x="457200" y="3260396"/>
            <a:ext cx="4457700" cy="614363"/>
          </a:xfrm>
          <a:prstGeom prst="rect">
            <a:avLst/>
          </a:prstGeom>
          <a:noFill/>
          <a:ln/>
        </p:spPr>
        <p:txBody>
          <a:bodyPr wrap="square" lIns="204089" tIns="0" rIns="204089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VitalRoute = fitness tracker + sistema automático de emergência numa única app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329238" y="1028700"/>
            <a:ext cx="3357563" cy="3000375"/>
          </a:xfrm>
          <a:prstGeom prst="rect">
            <a:avLst/>
          </a:prstGeom>
          <a:solidFill>
            <a:srgbClr val="101015"/>
          </a:solidFill>
          <a:ln w="9144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/>
          <p:nvPr/>
        </p:nvSpPr>
        <p:spPr>
          <a:xfrm>
            <a:off x="6283263" y="1369479"/>
            <a:ext cx="1449484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7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PLACEHOLDER VISUAL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5865019" y="3341154"/>
            <a:ext cx="2286000" cy="3471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9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[INSERIR IMAGEM: ciclista sozinho, acidente ou split conceptual]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Shape 22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Text 23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8368903" y="4797028"/>
            <a:ext cx="317897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12</a:t>
            </a:r>
            <a:endParaRPr lang="en-US" sz="750" dirty="0"/>
          </a:p>
        </p:txBody>
      </p:sp>
      <p:pic>
        <p:nvPicPr>
          <p:cNvPr id="31" name="Imagem 30">
            <a:extLst>
              <a:ext uri="{FF2B5EF4-FFF2-40B4-BE49-F238E27FC236}">
                <a16:creationId xmlns:a16="http://schemas.microsoft.com/office/drawing/2014/main" id="{25A2E379-E56B-6A32-C337-99FB9B706E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9238" y="1028700"/>
            <a:ext cx="3427900" cy="30063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149153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Como a Marta usa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835745" y="573286"/>
            <a:ext cx="851055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JOURNEY MAP</a:t>
            </a:r>
            <a:endParaRPr lang="en-US" sz="650" dirty="0"/>
          </a:p>
        </p:txBody>
      </p:sp>
      <p:sp>
        <p:nvSpPr>
          <p:cNvPr id="5" name="Shape 2"/>
          <p:cNvSpPr/>
          <p:nvPr/>
        </p:nvSpPr>
        <p:spPr>
          <a:xfrm>
            <a:off x="457200" y="957263"/>
            <a:ext cx="2357438" cy="3043238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457200" y="957263"/>
            <a:ext cx="2357438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642938" y="1171575"/>
            <a:ext cx="685800" cy="685800"/>
          </a:xfrm>
          <a:prstGeom prst="rect">
            <a:avLst/>
          </a:prstGeom>
          <a:solidFill>
            <a:srgbClr val="241A15"/>
          </a:solidFill>
          <a:ln w="18288">
            <a:solidFill>
              <a:srgbClr val="FF6B35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642938" y="1171575"/>
            <a:ext cx="6858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42938" y="2028825"/>
            <a:ext cx="1985963" cy="258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500" b="1" kern="0" spc="-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Marta, 34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2938" y="2359223"/>
            <a:ext cx="1985963" cy="745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Ciclista de fim-de-semana. Sai sozinha duas vezes por semana e quer segurança sem interromper o treino.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42938" y="3319276"/>
            <a:ext cx="1985963" cy="3107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Touchpoints: app, SMS, contactos do telemóvel, mapas OSM.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114675" y="957263"/>
            <a:ext cx="1771650" cy="135731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3114675" y="957263"/>
            <a:ext cx="1771650" cy="2143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Shape 11"/>
          <p:cNvSpPr/>
          <p:nvPr/>
        </p:nvSpPr>
        <p:spPr>
          <a:xfrm>
            <a:off x="3257550" y="1114425"/>
            <a:ext cx="242888" cy="2428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3257550" y="1114425"/>
            <a:ext cx="24288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94400"/>
              </a:lnSpc>
              <a:buNone/>
            </a:pPr>
            <a:r>
              <a:rPr lang="en-US" sz="8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571875" y="1151567"/>
            <a:ext cx="632222" cy="1685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Abre app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3257550" y="1485900"/>
            <a:ext cx="1500188" cy="462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Consulta meteorologia e camada de mapa para ciclismo.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014913" y="957263"/>
            <a:ext cx="1771650" cy="135731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6"/>
          <p:cNvSpPr/>
          <p:nvPr/>
        </p:nvSpPr>
        <p:spPr>
          <a:xfrm>
            <a:off x="5014913" y="957263"/>
            <a:ext cx="1771650" cy="21431"/>
          </a:xfrm>
          <a:prstGeom prst="rect">
            <a:avLst/>
          </a:prstGeom>
          <a:solidFill>
            <a:srgbClr val="2F303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Shape 17"/>
          <p:cNvSpPr/>
          <p:nvPr/>
        </p:nvSpPr>
        <p:spPr>
          <a:xfrm>
            <a:off x="5157788" y="1161557"/>
            <a:ext cx="207364" cy="2428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Text 18"/>
          <p:cNvSpPr/>
          <p:nvPr/>
        </p:nvSpPr>
        <p:spPr>
          <a:xfrm>
            <a:off x="5157788" y="1161557"/>
            <a:ext cx="207364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94400"/>
              </a:lnSpc>
              <a:buNone/>
            </a:pPr>
            <a:r>
              <a:rPr lang="en-US" sz="8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2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5436589" y="1114425"/>
            <a:ext cx="1221386" cy="337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Confirma segurança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157788" y="1580164"/>
            <a:ext cx="1500188" cy="3085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Revê contactos de confiança antes de sair.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6915150" y="957263"/>
            <a:ext cx="1771650" cy="135731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Shape 22"/>
          <p:cNvSpPr/>
          <p:nvPr/>
        </p:nvSpPr>
        <p:spPr>
          <a:xfrm>
            <a:off x="6915150" y="957263"/>
            <a:ext cx="1771650" cy="21431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7058025" y="1114425"/>
            <a:ext cx="242888" cy="2428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/>
          <p:nvPr/>
        </p:nvSpPr>
        <p:spPr>
          <a:xfrm>
            <a:off x="7058025" y="1114425"/>
            <a:ext cx="24288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94400"/>
              </a:lnSpc>
              <a:buNone/>
            </a:pPr>
            <a:r>
              <a:rPr lang="en-US" sz="8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3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7372350" y="1151567"/>
            <a:ext cx="1057275" cy="1685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Inicia gravação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7058025" y="1485900"/>
            <a:ext cx="1500188" cy="462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Começa percurso, cronómetro e métricas em tempo real.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114675" y="2443163"/>
            <a:ext cx="1771650" cy="135731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3114675" y="2443163"/>
            <a:ext cx="1771650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Shape 29"/>
          <p:cNvSpPr/>
          <p:nvPr/>
        </p:nvSpPr>
        <p:spPr>
          <a:xfrm>
            <a:off x="3257550" y="2600325"/>
            <a:ext cx="242888" cy="2428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3" name="Text 30"/>
          <p:cNvSpPr/>
          <p:nvPr/>
        </p:nvSpPr>
        <p:spPr>
          <a:xfrm>
            <a:off x="3257550" y="2600325"/>
            <a:ext cx="24288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94400"/>
              </a:lnSpc>
              <a:buNone/>
            </a:pPr>
            <a:r>
              <a:rPr lang="en-US" sz="8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4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3571875" y="2637467"/>
            <a:ext cx="1107281" cy="1685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Queda detetada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3257550" y="2971800"/>
            <a:ext cx="1500188" cy="4628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sensibilidade configurada identifica impacto provável.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5014913" y="2443163"/>
            <a:ext cx="1771650" cy="135731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7" name="Shape 34"/>
          <p:cNvSpPr/>
          <p:nvPr/>
        </p:nvSpPr>
        <p:spPr>
          <a:xfrm>
            <a:off x="5014913" y="2443163"/>
            <a:ext cx="1771650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8" name="Shape 35"/>
          <p:cNvSpPr/>
          <p:nvPr/>
        </p:nvSpPr>
        <p:spPr>
          <a:xfrm>
            <a:off x="5157788" y="2600325"/>
            <a:ext cx="242888" cy="2428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9" name="Text 36"/>
          <p:cNvSpPr/>
          <p:nvPr/>
        </p:nvSpPr>
        <p:spPr>
          <a:xfrm>
            <a:off x="5157788" y="2600325"/>
            <a:ext cx="24288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94400"/>
              </a:lnSpc>
              <a:buNone/>
            </a:pPr>
            <a:r>
              <a:rPr lang="en-US" sz="8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5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5472113" y="2637467"/>
            <a:ext cx="896541" cy="1685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SOS aparece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5157788" y="2971800"/>
            <a:ext cx="1500188" cy="3085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Slider dá 10 segundos para cancelar falso positivo.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6915150" y="2443163"/>
            <a:ext cx="1771650" cy="135731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3" name="Shape 40"/>
          <p:cNvSpPr/>
          <p:nvPr/>
        </p:nvSpPr>
        <p:spPr>
          <a:xfrm>
            <a:off x="6915150" y="2443163"/>
            <a:ext cx="1771650" cy="21431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4" name="Shape 41"/>
          <p:cNvSpPr/>
          <p:nvPr/>
        </p:nvSpPr>
        <p:spPr>
          <a:xfrm>
            <a:off x="7058025" y="2600325"/>
            <a:ext cx="242888" cy="2428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5" name="Text 42"/>
          <p:cNvSpPr/>
          <p:nvPr/>
        </p:nvSpPr>
        <p:spPr>
          <a:xfrm>
            <a:off x="7058025" y="2600325"/>
            <a:ext cx="242888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94400"/>
              </a:lnSpc>
              <a:buNone/>
            </a:pPr>
            <a:r>
              <a:rPr lang="en-US" sz="8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6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7372350" y="2637467"/>
            <a:ext cx="1137642" cy="16857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44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SMS automático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7058025" y="2971800"/>
            <a:ext cx="1500188" cy="3085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Contactos recebem alerta com localização GPS.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9" name="Shape 46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0" name="Text 47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51" name="Text 48"/>
          <p:cNvSpPr/>
          <p:nvPr/>
        </p:nvSpPr>
        <p:spPr>
          <a:xfrm>
            <a:off x="8367117" y="4797028"/>
            <a:ext cx="31968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12</a:t>
            </a:r>
            <a:endParaRPr lang="en-US" sz="750" dirty="0"/>
          </a:p>
        </p:txBody>
      </p:sp>
      <p:pic>
        <p:nvPicPr>
          <p:cNvPr id="53" name="Imagem 52">
            <a:extLst>
              <a:ext uri="{FF2B5EF4-FFF2-40B4-BE49-F238E27FC236}">
                <a16:creationId xmlns:a16="http://schemas.microsoft.com/office/drawing/2014/main" id="{1F595C2F-208F-5491-05E6-D9734F6741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237" y="1197248"/>
            <a:ext cx="655201" cy="6601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3009388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Cinco ecrãs, uma jornada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896467" y="573286"/>
            <a:ext cx="790333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TOUR DA APP</a:t>
            </a:r>
            <a:endParaRPr lang="en-US" sz="650" dirty="0"/>
          </a:p>
        </p:txBody>
      </p:sp>
      <p:sp>
        <p:nvSpPr>
          <p:cNvPr id="5" name="Text 2"/>
          <p:cNvSpPr/>
          <p:nvPr/>
        </p:nvSpPr>
        <p:spPr>
          <a:xfrm>
            <a:off x="457200" y="928688"/>
            <a:ext cx="6215063" cy="39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5600"/>
              </a:lnSpc>
              <a:buNone/>
            </a:pPr>
            <a:r>
              <a:rPr lang="en-US" sz="1100" dirty="0">
                <a:solidFill>
                  <a:srgbClr val="D4D4D8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 aplicação organiza o fluxo de utilização em cinco áreas principais, mantendo navegação inferior consistente e ações críticas sempre acessíveis.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94354" y="1510457"/>
            <a:ext cx="1257300" cy="2357438"/>
          </a:xfrm>
          <a:prstGeom prst="rect">
            <a:avLst/>
          </a:prstGeom>
          <a:solidFill>
            <a:srgbClr val="131318"/>
          </a:solidFill>
          <a:ln w="18288">
            <a:solidFill>
              <a:srgbClr val="2A2A3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708654" y="1767632"/>
            <a:ext cx="1028700" cy="1678781"/>
          </a:xfrm>
          <a:prstGeom prst="rect">
            <a:avLst/>
          </a:prstGeom>
          <a:solidFill>
            <a:srgbClr val="101015"/>
          </a:solidFill>
          <a:ln w="9144">
            <a:solidFill>
              <a:srgbClr val="5B5E68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1054261" y="2357884"/>
            <a:ext cx="337486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INÍCIO</a:t>
            </a:r>
            <a:endParaRPr lang="en-US" sz="650" dirty="0"/>
          </a:p>
        </p:txBody>
      </p:sp>
      <p:sp>
        <p:nvSpPr>
          <p:cNvPr id="9" name="Shape 6"/>
          <p:cNvSpPr/>
          <p:nvPr/>
        </p:nvSpPr>
        <p:spPr>
          <a:xfrm>
            <a:off x="708654" y="3539282"/>
            <a:ext cx="1028700" cy="214313"/>
          </a:xfrm>
          <a:prstGeom prst="rect">
            <a:avLst/>
          </a:prstGeom>
          <a:solidFill>
            <a:srgbClr val="20161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Shape 7"/>
          <p:cNvSpPr/>
          <p:nvPr/>
        </p:nvSpPr>
        <p:spPr>
          <a:xfrm>
            <a:off x="708654" y="3539282"/>
            <a:ext cx="1028700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487198" y="3982194"/>
            <a:ext cx="1471613" cy="1414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Início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87198" y="4180768"/>
            <a:ext cx="1471613" cy="237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2400"/>
              </a:lnSpc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semanal e estado dos sensores</a:t>
            </a:r>
            <a:endParaRPr lang="en-US" sz="650" dirty="0"/>
          </a:p>
        </p:txBody>
      </p:sp>
      <p:sp>
        <p:nvSpPr>
          <p:cNvPr id="13" name="Shape 10"/>
          <p:cNvSpPr/>
          <p:nvPr/>
        </p:nvSpPr>
        <p:spPr>
          <a:xfrm>
            <a:off x="2268838" y="1510457"/>
            <a:ext cx="1257300" cy="2357438"/>
          </a:xfrm>
          <a:prstGeom prst="rect">
            <a:avLst/>
          </a:prstGeom>
          <a:solidFill>
            <a:srgbClr val="131318"/>
          </a:solidFill>
          <a:ln w="18288">
            <a:solidFill>
              <a:srgbClr val="2A2A3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Shape 11"/>
          <p:cNvSpPr/>
          <p:nvPr/>
        </p:nvSpPr>
        <p:spPr>
          <a:xfrm>
            <a:off x="2383138" y="1767632"/>
            <a:ext cx="1028700" cy="1678781"/>
          </a:xfrm>
          <a:prstGeom prst="rect">
            <a:avLst/>
          </a:prstGeom>
          <a:solidFill>
            <a:srgbClr val="101015"/>
          </a:solidFill>
          <a:ln w="9144">
            <a:solidFill>
              <a:srgbClr val="5B5E68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2708346" y="2357884"/>
            <a:ext cx="378284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MAPAS</a:t>
            </a:r>
            <a:endParaRPr lang="en-US" sz="650" dirty="0"/>
          </a:p>
        </p:txBody>
      </p:sp>
      <p:sp>
        <p:nvSpPr>
          <p:cNvPr id="16" name="Shape 13"/>
          <p:cNvSpPr/>
          <p:nvPr/>
        </p:nvSpPr>
        <p:spPr>
          <a:xfrm>
            <a:off x="2383138" y="3539282"/>
            <a:ext cx="1028700" cy="214313"/>
          </a:xfrm>
          <a:prstGeom prst="rect">
            <a:avLst/>
          </a:prstGeom>
          <a:solidFill>
            <a:srgbClr val="20161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Shape 14"/>
          <p:cNvSpPr/>
          <p:nvPr/>
        </p:nvSpPr>
        <p:spPr>
          <a:xfrm>
            <a:off x="2383138" y="3539282"/>
            <a:ext cx="1028700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/>
          <p:nvPr/>
        </p:nvSpPr>
        <p:spPr>
          <a:xfrm>
            <a:off x="2161682" y="3982194"/>
            <a:ext cx="1471613" cy="1414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Mapas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2161682" y="4180768"/>
            <a:ext cx="1471613" cy="237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2400"/>
              </a:lnSpc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OSM, CyclOSM e meteorologia em tempo real</a:t>
            </a:r>
            <a:endParaRPr lang="en-US" sz="650" dirty="0"/>
          </a:p>
        </p:txBody>
      </p:sp>
      <p:sp>
        <p:nvSpPr>
          <p:cNvPr id="20" name="Shape 17"/>
          <p:cNvSpPr/>
          <p:nvPr/>
        </p:nvSpPr>
        <p:spPr>
          <a:xfrm>
            <a:off x="3943322" y="1510457"/>
            <a:ext cx="1257300" cy="2357438"/>
          </a:xfrm>
          <a:prstGeom prst="rect">
            <a:avLst/>
          </a:prstGeom>
          <a:solidFill>
            <a:srgbClr val="131318"/>
          </a:solidFill>
          <a:ln w="18288">
            <a:solidFill>
              <a:srgbClr val="2A2A3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4057622" y="1767632"/>
            <a:ext cx="1028700" cy="1678781"/>
          </a:xfrm>
          <a:prstGeom prst="rect">
            <a:avLst/>
          </a:prstGeom>
          <a:solidFill>
            <a:srgbClr val="101015"/>
          </a:solidFill>
          <a:ln w="9144">
            <a:solidFill>
              <a:srgbClr val="5B5E68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/>
          <p:nvPr/>
        </p:nvSpPr>
        <p:spPr>
          <a:xfrm>
            <a:off x="4369157" y="2357884"/>
            <a:ext cx="405631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INICIAR</a:t>
            </a:r>
            <a:endParaRPr lang="en-US" sz="650" dirty="0"/>
          </a:p>
        </p:txBody>
      </p:sp>
      <p:sp>
        <p:nvSpPr>
          <p:cNvPr id="23" name="Shape 20"/>
          <p:cNvSpPr/>
          <p:nvPr/>
        </p:nvSpPr>
        <p:spPr>
          <a:xfrm>
            <a:off x="4057622" y="3539282"/>
            <a:ext cx="1028700" cy="214313"/>
          </a:xfrm>
          <a:prstGeom prst="rect">
            <a:avLst/>
          </a:prstGeom>
          <a:solidFill>
            <a:srgbClr val="20161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Shape 21"/>
          <p:cNvSpPr/>
          <p:nvPr/>
        </p:nvSpPr>
        <p:spPr>
          <a:xfrm>
            <a:off x="4057622" y="3539282"/>
            <a:ext cx="1028700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2"/>
          <p:cNvSpPr/>
          <p:nvPr/>
        </p:nvSpPr>
        <p:spPr>
          <a:xfrm>
            <a:off x="4345148" y="3982194"/>
            <a:ext cx="453650" cy="1218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8000"/>
              </a:lnSpc>
              <a:buNone/>
            </a:pPr>
            <a:r>
              <a:rPr lang="en-US" sz="900" b="1" dirty="0" err="1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</a:rPr>
              <a:t>Gravação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836166" y="4180768"/>
            <a:ext cx="1471613" cy="237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2400"/>
              </a:lnSpc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Cronómetro, métricas e slider SOS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5617834" y="1510457"/>
            <a:ext cx="1257300" cy="2357438"/>
          </a:xfrm>
          <a:prstGeom prst="rect">
            <a:avLst/>
          </a:prstGeom>
          <a:solidFill>
            <a:srgbClr val="131318"/>
          </a:solidFill>
          <a:ln w="18288">
            <a:solidFill>
              <a:srgbClr val="2A2A3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Shape 25"/>
          <p:cNvSpPr/>
          <p:nvPr/>
        </p:nvSpPr>
        <p:spPr>
          <a:xfrm>
            <a:off x="5732134" y="1767632"/>
            <a:ext cx="1028700" cy="1678781"/>
          </a:xfrm>
          <a:prstGeom prst="rect">
            <a:avLst/>
          </a:prstGeom>
          <a:solidFill>
            <a:srgbClr val="101015"/>
          </a:solidFill>
          <a:ln w="9144">
            <a:solidFill>
              <a:srgbClr val="5B5E68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29" name="Text 26"/>
          <p:cNvSpPr/>
          <p:nvPr/>
        </p:nvSpPr>
        <p:spPr>
          <a:xfrm>
            <a:off x="5914774" y="2357884"/>
            <a:ext cx="663392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SEGURANÇA</a:t>
            </a:r>
            <a:endParaRPr lang="en-US" sz="650" dirty="0"/>
          </a:p>
        </p:txBody>
      </p:sp>
      <p:sp>
        <p:nvSpPr>
          <p:cNvPr id="30" name="Shape 27"/>
          <p:cNvSpPr/>
          <p:nvPr/>
        </p:nvSpPr>
        <p:spPr>
          <a:xfrm>
            <a:off x="5732134" y="3539282"/>
            <a:ext cx="1028700" cy="214313"/>
          </a:xfrm>
          <a:prstGeom prst="rect">
            <a:avLst/>
          </a:prstGeom>
          <a:solidFill>
            <a:srgbClr val="20161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5732134" y="3539282"/>
            <a:ext cx="1028700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/>
          <p:nvPr/>
        </p:nvSpPr>
        <p:spPr>
          <a:xfrm>
            <a:off x="5510678" y="3982194"/>
            <a:ext cx="1471613" cy="1414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8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Segurança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5510678" y="4180768"/>
            <a:ext cx="1471613" cy="237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2400"/>
              </a:lnSpc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Contactos, sensibilidade e zonas seguras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7292318" y="1510457"/>
            <a:ext cx="1257300" cy="2357438"/>
          </a:xfrm>
          <a:prstGeom prst="rect">
            <a:avLst/>
          </a:prstGeom>
          <a:solidFill>
            <a:srgbClr val="131318"/>
          </a:solidFill>
          <a:ln w="18288">
            <a:solidFill>
              <a:srgbClr val="2A2A3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5" name="Shape 32"/>
          <p:cNvSpPr/>
          <p:nvPr/>
        </p:nvSpPr>
        <p:spPr>
          <a:xfrm>
            <a:off x="7406618" y="1767632"/>
            <a:ext cx="1028700" cy="1678781"/>
          </a:xfrm>
          <a:prstGeom prst="rect">
            <a:avLst/>
          </a:prstGeom>
          <a:solidFill>
            <a:srgbClr val="101015"/>
          </a:solidFill>
          <a:ln w="9144">
            <a:solidFill>
              <a:srgbClr val="5B5E68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36" name="Text 33"/>
          <p:cNvSpPr/>
          <p:nvPr/>
        </p:nvSpPr>
        <p:spPr>
          <a:xfrm>
            <a:off x="7736151" y="2357884"/>
            <a:ext cx="369633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6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DIÁRIO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7406618" y="3539282"/>
            <a:ext cx="1028700" cy="214313"/>
          </a:xfrm>
          <a:prstGeom prst="rect">
            <a:avLst/>
          </a:prstGeom>
          <a:solidFill>
            <a:srgbClr val="20161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8" name="Shape 35"/>
          <p:cNvSpPr/>
          <p:nvPr/>
        </p:nvSpPr>
        <p:spPr>
          <a:xfrm>
            <a:off x="7406618" y="3539282"/>
            <a:ext cx="1028700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9" name="Text 36"/>
          <p:cNvSpPr/>
          <p:nvPr/>
        </p:nvSpPr>
        <p:spPr>
          <a:xfrm>
            <a:off x="7793529" y="3982194"/>
            <a:ext cx="254878" cy="1218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8000"/>
              </a:lnSpc>
              <a:buNone/>
            </a:pPr>
            <a:r>
              <a:rPr lang="en-US" sz="900" b="1" dirty="0" err="1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Perfil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7185161" y="4180768"/>
            <a:ext cx="1471613" cy="237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2400"/>
              </a:lnSpc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Histórico, recordes e resumo mensal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2" name="Shape 39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3" name="Text 40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44" name="Text 41"/>
          <p:cNvSpPr/>
          <p:nvPr/>
        </p:nvSpPr>
        <p:spPr>
          <a:xfrm>
            <a:off x="8365331" y="4797028"/>
            <a:ext cx="321469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12</a:t>
            </a:r>
            <a:endParaRPr lang="en-US" sz="750" dirty="0"/>
          </a:p>
        </p:txBody>
      </p:sp>
      <p:pic>
        <p:nvPicPr>
          <p:cNvPr id="46" name="Imagem 45">
            <a:extLst>
              <a:ext uri="{FF2B5EF4-FFF2-40B4-BE49-F238E27FC236}">
                <a16:creationId xmlns:a16="http://schemas.microsoft.com/office/drawing/2014/main" id="{608CC0EE-7425-9D37-BEBB-8C5E204955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26" y="1510429"/>
            <a:ext cx="1257300" cy="2357466"/>
          </a:xfrm>
          <a:prstGeom prst="rect">
            <a:avLst/>
          </a:prstGeom>
        </p:spPr>
      </p:pic>
      <p:pic>
        <p:nvPicPr>
          <p:cNvPr id="48" name="Imagem 47">
            <a:extLst>
              <a:ext uri="{FF2B5EF4-FFF2-40B4-BE49-F238E27FC236}">
                <a16:creationId xmlns:a16="http://schemas.microsoft.com/office/drawing/2014/main" id="{10CF1012-435A-DBFC-04B8-11A602F17D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8810" y="1510457"/>
            <a:ext cx="1278332" cy="2357438"/>
          </a:xfrm>
          <a:prstGeom prst="rect">
            <a:avLst/>
          </a:prstGeom>
        </p:spPr>
      </p:pic>
      <p:pic>
        <p:nvPicPr>
          <p:cNvPr id="50" name="Imagem 49">
            <a:extLst>
              <a:ext uri="{FF2B5EF4-FFF2-40B4-BE49-F238E27FC236}">
                <a16:creationId xmlns:a16="http://schemas.microsoft.com/office/drawing/2014/main" id="{57EA626A-0F8A-0DE4-263E-085C52D0C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5768" y="1515055"/>
            <a:ext cx="1284005" cy="2352840"/>
          </a:xfrm>
          <a:prstGeom prst="rect">
            <a:avLst/>
          </a:prstGeom>
        </p:spPr>
      </p:pic>
      <p:pic>
        <p:nvPicPr>
          <p:cNvPr id="52" name="Imagem 51">
            <a:extLst>
              <a:ext uri="{FF2B5EF4-FFF2-40B4-BE49-F238E27FC236}">
                <a16:creationId xmlns:a16="http://schemas.microsoft.com/office/drawing/2014/main" id="{372C1A5F-48FA-CFC5-C085-ABC0B7D1D38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5098" y="1512177"/>
            <a:ext cx="1255502" cy="2355718"/>
          </a:xfrm>
          <a:prstGeom prst="rect">
            <a:avLst/>
          </a:prstGeom>
        </p:spPr>
      </p:pic>
      <p:pic>
        <p:nvPicPr>
          <p:cNvPr id="54" name="Imagem 53">
            <a:extLst>
              <a:ext uri="{FF2B5EF4-FFF2-40B4-BE49-F238E27FC236}">
                <a16:creationId xmlns:a16="http://schemas.microsoft.com/office/drawing/2014/main" id="{F19948AD-B66C-897C-91C3-E51ABB52F74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83196" y="1515055"/>
            <a:ext cx="1255502" cy="2352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1610218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MVVM + UDF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426905" y="573286"/>
            <a:ext cx="1259895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ARQUITETURA GERAL</a:t>
            </a:r>
            <a:endParaRPr lang="en-US" sz="650" dirty="0"/>
          </a:p>
        </p:txBody>
      </p:sp>
      <p:sp>
        <p:nvSpPr>
          <p:cNvPr id="5" name="Text 2"/>
          <p:cNvSpPr/>
          <p:nvPr/>
        </p:nvSpPr>
        <p:spPr>
          <a:xfrm>
            <a:off x="457200" y="885825"/>
            <a:ext cx="6072188" cy="414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56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 arquitetura separa interface, estado e dados para reduzir acoplamento e tornar o comportamento da app previsível.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1515033"/>
            <a:ext cx="2400300" cy="2000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457200" y="1515033"/>
            <a:ext cx="2400300" cy="285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571500" y="1629333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CAMADA 1</a:t>
            </a:r>
            <a:endParaRPr lang="en-US" sz="650" dirty="0"/>
          </a:p>
        </p:txBody>
      </p:sp>
      <p:sp>
        <p:nvSpPr>
          <p:cNvPr id="9" name="Text 6"/>
          <p:cNvSpPr/>
          <p:nvPr/>
        </p:nvSpPr>
        <p:spPr>
          <a:xfrm>
            <a:off x="571500" y="1813285"/>
            <a:ext cx="2171700" cy="2121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350" b="1" kern="0" spc="-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UI Layer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71500" y="2111173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Compose Screens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571500" y="2322612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Home, Maps, Recording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571500" y="2534050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Security, Diary, Auth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71500" y="2745488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Renderiza estado observado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2857500" y="1515033"/>
            <a:ext cx="514350" cy="20002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→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3371850" y="1515033"/>
            <a:ext cx="2400300" cy="2000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3371850" y="1515033"/>
            <a:ext cx="2400300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/>
          <p:nvPr/>
        </p:nvSpPr>
        <p:spPr>
          <a:xfrm>
            <a:off x="3486150" y="1629333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CAMADA 2</a:t>
            </a:r>
            <a:endParaRPr lang="en-US" sz="650" dirty="0"/>
          </a:p>
        </p:txBody>
      </p:sp>
      <p:sp>
        <p:nvSpPr>
          <p:cNvPr id="18" name="Text 15"/>
          <p:cNvSpPr/>
          <p:nvPr/>
        </p:nvSpPr>
        <p:spPr>
          <a:xfrm>
            <a:off x="3486150" y="1813285"/>
            <a:ext cx="2171700" cy="2121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350" b="1" kern="0" spc="-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State Holders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3486150" y="2111173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ViewModels por funcionalidade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3486150" y="2329755"/>
            <a:ext cx="466130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Expõem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3952280" y="2342257"/>
            <a:ext cx="1151762" cy="142875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/>
          <p:nvPr/>
        </p:nvSpPr>
        <p:spPr>
          <a:xfrm>
            <a:off x="3952280" y="2342257"/>
            <a:ext cx="1151762" cy="142875"/>
          </a:xfrm>
          <a:prstGeom prst="rect">
            <a:avLst/>
          </a:prstGeom>
          <a:noFill/>
          <a:ln/>
        </p:spPr>
        <p:txBody>
          <a:bodyPr wrap="none" lIns="42545" tIns="17018" rIns="42545" bIns="17018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StateFlow&lt;UiState&gt;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3486150" y="2546914"/>
            <a:ext cx="373261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UI usa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3859411" y="2559416"/>
            <a:ext cx="1691925" cy="142875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2"/>
          <p:cNvSpPr/>
          <p:nvPr/>
        </p:nvSpPr>
        <p:spPr>
          <a:xfrm>
            <a:off x="3859411" y="2559416"/>
            <a:ext cx="1691925" cy="142875"/>
          </a:xfrm>
          <a:prstGeom prst="rect">
            <a:avLst/>
          </a:prstGeom>
          <a:noFill/>
          <a:ln/>
        </p:spPr>
        <p:txBody>
          <a:bodyPr wrap="none" lIns="42545" tIns="17018" rIns="42545" bIns="17018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collectAsStateWithLifecycle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3486150" y="2756929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Processam eventos da interface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5772150" y="1515033"/>
            <a:ext cx="514350" cy="20002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→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6286500" y="1515033"/>
            <a:ext cx="2400300" cy="2000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9" name="Shape 26"/>
          <p:cNvSpPr/>
          <p:nvPr/>
        </p:nvSpPr>
        <p:spPr>
          <a:xfrm>
            <a:off x="6286500" y="1515033"/>
            <a:ext cx="2400300" cy="28575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0" name="Text 27"/>
          <p:cNvSpPr/>
          <p:nvPr/>
        </p:nvSpPr>
        <p:spPr>
          <a:xfrm>
            <a:off x="6400800" y="1629333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CAMADA 3</a:t>
            </a:r>
            <a:endParaRPr lang="en-US" sz="650" dirty="0"/>
          </a:p>
        </p:txBody>
      </p:sp>
      <p:sp>
        <p:nvSpPr>
          <p:cNvPr id="31" name="Text 28"/>
          <p:cNvSpPr/>
          <p:nvPr/>
        </p:nvSpPr>
        <p:spPr>
          <a:xfrm>
            <a:off x="6400800" y="1813285"/>
            <a:ext cx="2171700" cy="21216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350" b="1" kern="0" spc="-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 Layer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6400800" y="2111173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FirestoreRepository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6400800" y="2322612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WeatherRepository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6400800" y="2534050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NominatimRepository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400800" y="2745488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SosManager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57200" y="3658158"/>
            <a:ext cx="8229600" cy="571500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7" name="Shape 34"/>
          <p:cNvSpPr/>
          <p:nvPr/>
        </p:nvSpPr>
        <p:spPr>
          <a:xfrm>
            <a:off x="457200" y="3658158"/>
            <a:ext cx="8229600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8" name="Text 35"/>
          <p:cNvSpPr/>
          <p:nvPr/>
        </p:nvSpPr>
        <p:spPr>
          <a:xfrm>
            <a:off x="600075" y="3799247"/>
            <a:ext cx="390048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A1A1A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State flows down ↓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600075" y="3986771"/>
            <a:ext cx="390048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A1A1A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Os ViewModels publicam estado imutável para os composables.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4643438" y="3799247"/>
            <a:ext cx="390048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A1A1A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Events flow up ↑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4643438" y="3986771"/>
            <a:ext cx="390048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A1A1AA"/>
                </a:solidFill>
                <a:latin typeface="Inter Medium" pitchFamily="34" charset="0"/>
                <a:ea typeface="Inter Medium" pitchFamily="34" charset="-122"/>
                <a:cs typeface="Inter Medium" pitchFamily="34" charset="-120"/>
              </a:rPr>
              <a:t>A UI comunica intenções; a lógica permanece fora dos ecrãs.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457200" y="4315383"/>
            <a:ext cx="8229600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Padrão alinhado com a Android Architecture Guide: separação de responsabilidades, estado observável e ciclo de vida explícito.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457200" y="4436827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4" name="Shape 41"/>
          <p:cNvSpPr/>
          <p:nvPr/>
        </p:nvSpPr>
        <p:spPr>
          <a:xfrm>
            <a:off x="457200" y="4436827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5" name="Text 42"/>
          <p:cNvSpPr/>
          <p:nvPr/>
        </p:nvSpPr>
        <p:spPr>
          <a:xfrm>
            <a:off x="457200" y="4661855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46" name="Text 43"/>
          <p:cNvSpPr/>
          <p:nvPr/>
        </p:nvSpPr>
        <p:spPr>
          <a:xfrm>
            <a:off x="8370689" y="4661855"/>
            <a:ext cx="31611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12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215232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Compose e estado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705455" y="573286"/>
            <a:ext cx="981345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UI DECLARATIVA</a:t>
            </a:r>
            <a:endParaRPr lang="en-US" sz="650" dirty="0"/>
          </a:p>
        </p:txBody>
      </p:sp>
      <p:sp>
        <p:nvSpPr>
          <p:cNvPr id="5" name="Text 2"/>
          <p:cNvSpPr/>
          <p:nvPr/>
        </p:nvSpPr>
        <p:spPr>
          <a:xfrm>
            <a:off x="457200" y="828675"/>
            <a:ext cx="4643438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 interface é construída como função do estado, reduzindo acoplamento entre ecrãs, eventos e dados.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1377851"/>
            <a:ext cx="2428875" cy="57150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457200" y="1377851"/>
            <a:ext cx="2428875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585788" y="1477863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UI TOOLKIT</a:t>
            </a:r>
            <a:endParaRPr lang="en-US" sz="650" dirty="0"/>
          </a:p>
        </p:txBody>
      </p:sp>
      <p:sp>
        <p:nvSpPr>
          <p:cNvPr id="9" name="Text 6"/>
          <p:cNvSpPr/>
          <p:nvPr/>
        </p:nvSpPr>
        <p:spPr>
          <a:xfrm>
            <a:off x="585788" y="1647527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Jetpack Compose + Material 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957513" y="1377851"/>
            <a:ext cx="2428875" cy="57150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2957513" y="1377851"/>
            <a:ext cx="2428875" cy="21431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/>
          <p:nvPr/>
        </p:nvSpPr>
        <p:spPr>
          <a:xfrm>
            <a:off x="3086100" y="1477863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COMPOSIÇÃO</a:t>
            </a:r>
            <a:endParaRPr lang="en-US" sz="650" dirty="0"/>
          </a:p>
        </p:txBody>
      </p:sp>
      <p:sp>
        <p:nvSpPr>
          <p:cNvPr id="13" name="Text 10"/>
          <p:cNvSpPr/>
          <p:nvPr/>
        </p:nvSpPr>
        <p:spPr>
          <a:xfrm>
            <a:off x="3086100" y="1647527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Stateless + state hoisting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57200" y="2020788"/>
            <a:ext cx="2428875" cy="57150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Shape 12"/>
          <p:cNvSpPr/>
          <p:nvPr/>
        </p:nvSpPr>
        <p:spPr>
          <a:xfrm>
            <a:off x="457200" y="2020788"/>
            <a:ext cx="2428875" cy="2143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/>
          <p:nvPr/>
        </p:nvSpPr>
        <p:spPr>
          <a:xfrm>
            <a:off x="585788" y="2120801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ESTADO</a:t>
            </a:r>
            <a:endParaRPr lang="en-US" sz="650" dirty="0"/>
          </a:p>
        </p:txBody>
      </p:sp>
      <p:sp>
        <p:nvSpPr>
          <p:cNvPr id="17" name="Text 14"/>
          <p:cNvSpPr/>
          <p:nvPr/>
        </p:nvSpPr>
        <p:spPr>
          <a:xfrm>
            <a:off x="585788" y="2290465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ViewModel expõe StateFlow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2957513" y="2020788"/>
            <a:ext cx="2428875" cy="57150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6"/>
          <p:cNvSpPr/>
          <p:nvPr/>
        </p:nvSpPr>
        <p:spPr>
          <a:xfrm>
            <a:off x="2957513" y="2020788"/>
            <a:ext cx="2428875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7"/>
          <p:cNvSpPr/>
          <p:nvPr/>
        </p:nvSpPr>
        <p:spPr>
          <a:xfrm>
            <a:off x="3086100" y="2120801"/>
            <a:ext cx="2171700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TEMA</a:t>
            </a:r>
            <a:endParaRPr lang="en-US" sz="650" dirty="0"/>
          </a:p>
        </p:txBody>
      </p:sp>
      <p:sp>
        <p:nvSpPr>
          <p:cNvPr id="21" name="Text 18"/>
          <p:cNvSpPr/>
          <p:nvPr/>
        </p:nvSpPr>
        <p:spPr>
          <a:xfrm>
            <a:off x="3086100" y="2290465"/>
            <a:ext cx="2171700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Dark theme em Theme.kt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57200" y="2735163"/>
            <a:ext cx="4929188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SNIPPET KOTLIN</a:t>
            </a:r>
            <a:endParaRPr lang="en-US" sz="650" dirty="0"/>
          </a:p>
        </p:txBody>
      </p:sp>
      <p:sp>
        <p:nvSpPr>
          <p:cNvPr id="23" name="Shape 20"/>
          <p:cNvSpPr/>
          <p:nvPr/>
        </p:nvSpPr>
        <p:spPr>
          <a:xfrm>
            <a:off x="457200" y="2904827"/>
            <a:ext cx="4643438" cy="714375"/>
          </a:xfrm>
          <a:prstGeom prst="rect">
            <a:avLst/>
          </a:prstGeom>
          <a:solidFill>
            <a:srgbClr val="121217"/>
          </a:solidFill>
          <a:ln w="9144">
            <a:solidFill>
              <a:srgbClr val="30303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1"/>
          <p:cNvSpPr/>
          <p:nvPr/>
        </p:nvSpPr>
        <p:spPr>
          <a:xfrm>
            <a:off x="457200" y="2904827"/>
            <a:ext cx="4643438" cy="714375"/>
          </a:xfrm>
          <a:prstGeom prst="rect">
            <a:avLst/>
          </a:prstGeom>
          <a:noFill/>
          <a:ln/>
        </p:spPr>
        <p:txBody>
          <a:bodyPr wrap="square" lIns="153035" tIns="102108" rIns="119126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FF6B35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@Composable</a:t>
            </a:r>
            <a:r>
              <a:rPr lang="en-US" sz="850" dirty="0">
                <a:solidFill>
                  <a:srgbClr val="E5E7EB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
</a:t>
            </a:r>
            <a:r>
              <a:rPr lang="en-US" sz="800" b="1" dirty="0">
                <a:solidFill>
                  <a:srgbClr val="FF6B35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fun</a:t>
            </a:r>
            <a:r>
              <a:rPr lang="en-US" sz="850" dirty="0">
                <a:solidFill>
                  <a:srgbClr val="E5E7EB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 </a:t>
            </a:r>
            <a:r>
              <a:rPr lang="en-US" sz="800" b="1" dirty="0">
                <a:solidFill>
                  <a:srgbClr val="4ADE80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HomeScreen</a:t>
            </a:r>
            <a:r>
              <a:rPr lang="en-US" sz="850" dirty="0">
                <a:solidFill>
                  <a:srgbClr val="E5E7EB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(vm: </a:t>
            </a:r>
            <a:r>
              <a:rPr lang="en-US" sz="800" b="1" dirty="0">
                <a:solidFill>
                  <a:srgbClr val="3B82F6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HomeViewModel</a:t>
            </a:r>
            <a:r>
              <a:rPr lang="en-US" sz="850" dirty="0">
                <a:solidFill>
                  <a:srgbClr val="E5E7EB"/>
                </a:solidFill>
                <a:latin typeface="SFMono-Regular" pitchFamily="34" charset="0"/>
                <a:ea typeface="SFMono-Regular" pitchFamily="34" charset="-122"/>
                <a:cs typeface="SFMono-Regular" pitchFamily="34" charset="-120"/>
              </a:rPr>
              <a:t> = viewModel()) {
    val state by vm.uiState.collectAsStateWithLifecycle()
    HomeContent(state, onSosClick = vm::triggerSos)
}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457200" y="4257675"/>
            <a:ext cx="8229600" cy="51435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5" name="Shape 32"/>
          <p:cNvSpPr/>
          <p:nvPr/>
        </p:nvSpPr>
        <p:spPr>
          <a:xfrm>
            <a:off x="457200" y="4257675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6" name="Text 33"/>
          <p:cNvSpPr/>
          <p:nvPr/>
        </p:nvSpPr>
        <p:spPr>
          <a:xfrm>
            <a:off x="457200" y="44541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8367117" y="4454128"/>
            <a:ext cx="31968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12</a:t>
            </a:r>
            <a:endParaRPr lang="en-US" sz="750" dirty="0"/>
          </a:p>
        </p:txBody>
      </p:sp>
      <p:pic>
        <p:nvPicPr>
          <p:cNvPr id="40" name="Imagem 39">
            <a:extLst>
              <a:ext uri="{FF2B5EF4-FFF2-40B4-BE49-F238E27FC236}">
                <a16:creationId xmlns:a16="http://schemas.microsoft.com/office/drawing/2014/main" id="{42AC6346-DFD2-C270-4B13-178C7342A0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9119" y="806478"/>
            <a:ext cx="3200401" cy="296797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495401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Dados em tempo real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498342" y="573286"/>
            <a:ext cx="1188458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FIRESTORE REATIVO</a:t>
            </a:r>
            <a:endParaRPr lang="en-US" sz="650" dirty="0"/>
          </a:p>
        </p:txBody>
      </p:sp>
      <p:sp>
        <p:nvSpPr>
          <p:cNvPr id="5" name="Shape 2"/>
          <p:cNvSpPr/>
          <p:nvPr/>
        </p:nvSpPr>
        <p:spPr>
          <a:xfrm>
            <a:off x="457200" y="942975"/>
            <a:ext cx="3643313" cy="2986088"/>
          </a:xfrm>
          <a:prstGeom prst="rect">
            <a:avLst/>
          </a:prstGeom>
          <a:solidFill>
            <a:srgbClr val="14141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457200" y="942975"/>
            <a:ext cx="3643313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657225" y="1143000"/>
            <a:ext cx="3271838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b="1" kern="0" spc="2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MODELO POR UTILIZADOR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657225" y="1428750"/>
            <a:ext cx="3271838" cy="18515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9600"/>
              </a:lnSpc>
              <a:buNone/>
            </a:pPr>
            <a:r>
              <a:rPr lang="en-US" sz="1050" dirty="0">
                <a:solidFill>
                  <a:srgbClr val="FF6B3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users/{uid}/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├─ </a:t>
            </a:r>
            <a:r>
              <a:rPr lang="en-US" sz="1050" dirty="0">
                <a:solidFill>
                  <a:srgbClr val="3B82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raiz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    </a:t>
            </a:r>
            <a:r>
              <a:rPr lang="en-US" sz="105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name, email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├─ </a:t>
            </a:r>
            <a:r>
              <a:rPr lang="en-US" sz="1050" dirty="0">
                <a:solidFill>
                  <a:srgbClr val="4ADE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activities/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</a:t>
            </a:r>
            <a:r>
              <a:rPr lang="en-US" sz="105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distância, duração, velocidade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├─ </a:t>
            </a:r>
            <a:r>
              <a:rPr lang="en-US" sz="1050" dirty="0">
                <a:solidFill>
                  <a:srgbClr val="4ADE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contacts/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</a:t>
            </a:r>
            <a:r>
              <a:rPr lang="en-US" sz="105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nome, telefone, sosEnabled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└─ </a:t>
            </a:r>
            <a:r>
              <a:rPr lang="en-US" sz="1050" dirty="0">
                <a:solidFill>
                  <a:srgbClr val="4ADE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settings/main</a:t>
            </a:r>
            <a:r>
              <a:rPr lang="en-US" sz="105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r>
              <a:rPr lang="en-US" sz="105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fallSensitivity, alertas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429125" y="942975"/>
            <a:ext cx="4071938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 Firestore mantém os dados sincronizados e expõe alterações como fluxos consumidos pela UI.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429125" y="2143125"/>
            <a:ext cx="2064544" cy="828675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4429125" y="2143125"/>
            <a:ext cx="2064544" cy="21431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/>
          <p:nvPr/>
        </p:nvSpPr>
        <p:spPr>
          <a:xfrm>
            <a:off x="4572000" y="2271713"/>
            <a:ext cx="1807369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Listeners → Flow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0" y="2509940"/>
            <a:ext cx="771525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callbackFlow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343525" y="2520655"/>
            <a:ext cx="93761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converte listeners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4572000" y="2667102"/>
            <a:ext cx="666155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Firestore em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5238155" y="2656387"/>
            <a:ext cx="450056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Flow&lt;T&gt;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5688211" y="2667102"/>
            <a:ext cx="344686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Kotlin.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622256" y="2143125"/>
            <a:ext cx="2064544" cy="828675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Shape 16"/>
          <p:cNvSpPr/>
          <p:nvPr/>
        </p:nvSpPr>
        <p:spPr>
          <a:xfrm>
            <a:off x="6622256" y="2143125"/>
            <a:ext cx="2064544" cy="2143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7"/>
          <p:cNvSpPr/>
          <p:nvPr/>
        </p:nvSpPr>
        <p:spPr>
          <a:xfrm>
            <a:off x="6765131" y="2271713"/>
            <a:ext cx="1807369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UI reativa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765131" y="2511726"/>
            <a:ext cx="1807369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ecrãs atualizam quando outro dispositivo escreve dados.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4429125" y="3100388"/>
            <a:ext cx="2064544" cy="828675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Shape 20"/>
          <p:cNvSpPr/>
          <p:nvPr/>
        </p:nvSpPr>
        <p:spPr>
          <a:xfrm>
            <a:off x="4429125" y="3100388"/>
            <a:ext cx="2064544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Text 21"/>
          <p:cNvSpPr/>
          <p:nvPr/>
        </p:nvSpPr>
        <p:spPr>
          <a:xfrm>
            <a:off x="4572000" y="3228975"/>
            <a:ext cx="1807369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Segurança por UID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0" y="3468988"/>
            <a:ext cx="1807369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utilizador lê e escreve apenas os seus documentos.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622256" y="3100388"/>
            <a:ext cx="2064544" cy="828675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Shape 24"/>
          <p:cNvSpPr/>
          <p:nvPr/>
        </p:nvSpPr>
        <p:spPr>
          <a:xfrm>
            <a:off x="6622256" y="3100388"/>
            <a:ext cx="2064544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8" name="Text 25"/>
          <p:cNvSpPr/>
          <p:nvPr/>
        </p:nvSpPr>
        <p:spPr>
          <a:xfrm>
            <a:off x="6765131" y="3228975"/>
            <a:ext cx="1807369" cy="1542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Firebase Auth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765131" y="3476132"/>
            <a:ext cx="106084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Email/password com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765131" y="3611863"/>
            <a:ext cx="1092994" cy="1464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monospace" pitchFamily="34" charset="0"/>
                <a:ea typeface="monospace" pitchFamily="34" charset="-122"/>
                <a:cs typeface="monospace" pitchFamily="34" charset="-120"/>
              </a:rPr>
              <a:t>AuthStateListener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7858125" y="3622579"/>
            <a:ext cx="650081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sessão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765131" y="3767240"/>
            <a:ext cx="275034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ativa.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457200" y="3943350"/>
            <a:ext cx="8229600" cy="585788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4" name="Shape 31"/>
          <p:cNvSpPr/>
          <p:nvPr/>
        </p:nvSpPr>
        <p:spPr>
          <a:xfrm>
            <a:off x="457200" y="3943350"/>
            <a:ext cx="8229600" cy="21431"/>
          </a:xfrm>
          <a:prstGeom prst="rect">
            <a:avLst/>
          </a:prstGeom>
          <a:solidFill>
            <a:srgbClr val="FF906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5" name="Text 32"/>
          <p:cNvSpPr/>
          <p:nvPr/>
        </p:nvSpPr>
        <p:spPr>
          <a:xfrm>
            <a:off x="1185863" y="4141589"/>
            <a:ext cx="1543050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Firestore Listener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2986088" y="4138910"/>
            <a:ext cx="8572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→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3328988" y="4141589"/>
            <a:ext cx="1028700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callbackFlow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4614863" y="4138910"/>
            <a:ext cx="8572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→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4957763" y="4141589"/>
            <a:ext cx="1543050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StateFlow&lt;UiState&gt;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6757988" y="4138910"/>
            <a:ext cx="85725" cy="19466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→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7100888" y="4141589"/>
            <a:ext cx="857250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F6B35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Compose UI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57200" y="4529138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3" name="Shape 40"/>
          <p:cNvSpPr/>
          <p:nvPr/>
        </p:nvSpPr>
        <p:spPr>
          <a:xfrm>
            <a:off x="457200" y="4529138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4" name="Text 41"/>
          <p:cNvSpPr/>
          <p:nvPr/>
        </p:nvSpPr>
        <p:spPr>
          <a:xfrm>
            <a:off x="457200" y="4754166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8374261" y="4754166"/>
            <a:ext cx="312539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12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190145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Navigation + REST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534647" y="573286"/>
            <a:ext cx="1152153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NAVEGAÇÃO E APIS</a:t>
            </a:r>
            <a:endParaRPr lang="en-US" sz="650" dirty="0"/>
          </a:p>
        </p:txBody>
      </p:sp>
      <p:sp>
        <p:nvSpPr>
          <p:cNvPr id="5" name="Shape 2"/>
          <p:cNvSpPr/>
          <p:nvPr/>
        </p:nvSpPr>
        <p:spPr>
          <a:xfrm>
            <a:off x="457200" y="957263"/>
            <a:ext cx="3964781" cy="2728913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pPr algn="ctr"/>
            <a:endParaRPr lang="es-ES" u="sng" dirty="0"/>
          </a:p>
        </p:txBody>
      </p:sp>
      <p:sp>
        <p:nvSpPr>
          <p:cNvPr id="6" name="Shape 3"/>
          <p:cNvSpPr/>
          <p:nvPr/>
        </p:nvSpPr>
        <p:spPr>
          <a:xfrm>
            <a:off x="457200" y="957263"/>
            <a:ext cx="3964781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657225" y="1143000"/>
            <a:ext cx="3564731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Navegação interna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42938" y="1525192"/>
            <a:ext cx="1732359" cy="414338"/>
          </a:xfrm>
          <a:prstGeom prst="rect">
            <a:avLst/>
          </a:prstGeom>
          <a:solidFill>
            <a:srgbClr val="1B1B23"/>
          </a:solidFill>
          <a:ln/>
        </p:spPr>
        <p:txBody>
          <a:bodyPr/>
          <a:lstStyle/>
          <a:p>
            <a:endParaRPr lang="es-ES" dirty="0"/>
          </a:p>
        </p:txBody>
      </p:sp>
      <p:sp>
        <p:nvSpPr>
          <p:cNvPr id="9" name="Shape 6"/>
          <p:cNvSpPr/>
          <p:nvPr/>
        </p:nvSpPr>
        <p:spPr>
          <a:xfrm>
            <a:off x="657225" y="1489472"/>
            <a:ext cx="1732359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/>
          <p:nvPr/>
        </p:nvSpPr>
        <p:spPr>
          <a:xfrm>
            <a:off x="657225" y="1520934"/>
            <a:ext cx="718523" cy="130805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</a:rPr>
              <a:t>Home</a:t>
            </a:r>
          </a:p>
        </p:txBody>
      </p:sp>
      <p:sp>
        <p:nvSpPr>
          <p:cNvPr id="11" name="Shape 8"/>
          <p:cNvSpPr/>
          <p:nvPr/>
        </p:nvSpPr>
        <p:spPr>
          <a:xfrm>
            <a:off x="2489597" y="1489472"/>
            <a:ext cx="1732359" cy="414338"/>
          </a:xfrm>
          <a:prstGeom prst="rect">
            <a:avLst/>
          </a:prstGeom>
          <a:solidFill>
            <a:srgbClr val="1B1B23"/>
          </a:solidFill>
          <a:ln/>
        </p:spPr>
        <p:txBody>
          <a:bodyPr/>
          <a:lstStyle/>
          <a:p>
            <a:endParaRPr lang="es-ES" dirty="0"/>
          </a:p>
        </p:txBody>
      </p:sp>
      <p:sp>
        <p:nvSpPr>
          <p:cNvPr id="12" name="Shape 9"/>
          <p:cNvSpPr/>
          <p:nvPr/>
        </p:nvSpPr>
        <p:spPr>
          <a:xfrm>
            <a:off x="2489597" y="1489472"/>
            <a:ext cx="1732359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 dirty="0"/>
          </a:p>
        </p:txBody>
      </p:sp>
      <p:sp>
        <p:nvSpPr>
          <p:cNvPr id="13" name="Text 10"/>
          <p:cNvSpPr/>
          <p:nvPr/>
        </p:nvSpPr>
        <p:spPr>
          <a:xfrm>
            <a:off x="1781165" y="1508734"/>
            <a:ext cx="1732359" cy="130805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</a:rPr>
              <a:t>Maps</a:t>
            </a:r>
          </a:p>
        </p:txBody>
      </p:sp>
      <p:sp>
        <p:nvSpPr>
          <p:cNvPr id="14" name="Shape 11"/>
          <p:cNvSpPr/>
          <p:nvPr/>
        </p:nvSpPr>
        <p:spPr>
          <a:xfrm>
            <a:off x="657225" y="2003822"/>
            <a:ext cx="1732359" cy="414338"/>
          </a:xfrm>
          <a:prstGeom prst="rect">
            <a:avLst/>
          </a:prstGeom>
          <a:solidFill>
            <a:srgbClr val="1B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Shape 12"/>
          <p:cNvSpPr/>
          <p:nvPr/>
        </p:nvSpPr>
        <p:spPr>
          <a:xfrm>
            <a:off x="657225" y="2003822"/>
            <a:ext cx="1732359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/>
          <p:nvPr/>
        </p:nvSpPr>
        <p:spPr>
          <a:xfrm>
            <a:off x="657225" y="2003822"/>
            <a:ext cx="1732359" cy="414338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Recording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489597" y="2003822"/>
            <a:ext cx="1732359" cy="414338"/>
          </a:xfrm>
          <a:prstGeom prst="rect">
            <a:avLst/>
          </a:prstGeom>
          <a:solidFill>
            <a:srgbClr val="1B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Shape 15"/>
          <p:cNvSpPr/>
          <p:nvPr/>
        </p:nvSpPr>
        <p:spPr>
          <a:xfrm>
            <a:off x="2489597" y="2003822"/>
            <a:ext cx="1732359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6"/>
          <p:cNvSpPr/>
          <p:nvPr/>
        </p:nvSpPr>
        <p:spPr>
          <a:xfrm>
            <a:off x="2489597" y="2003822"/>
            <a:ext cx="1732359" cy="414338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Security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657225" y="2518172"/>
            <a:ext cx="1732359" cy="414338"/>
          </a:xfrm>
          <a:prstGeom prst="rect">
            <a:avLst/>
          </a:prstGeom>
          <a:solidFill>
            <a:srgbClr val="1B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657225" y="2518172"/>
            <a:ext cx="1732359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/>
          <p:nvPr/>
        </p:nvSpPr>
        <p:spPr>
          <a:xfrm>
            <a:off x="657225" y="2518172"/>
            <a:ext cx="1732359" cy="414338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Diary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2489597" y="2518172"/>
            <a:ext cx="1732359" cy="414338"/>
          </a:xfrm>
          <a:prstGeom prst="rect">
            <a:avLst/>
          </a:prstGeom>
          <a:solidFill>
            <a:srgbClr val="1B1B2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Shape 21"/>
          <p:cNvSpPr/>
          <p:nvPr/>
        </p:nvSpPr>
        <p:spPr>
          <a:xfrm>
            <a:off x="2489597" y="2518172"/>
            <a:ext cx="1732359" cy="14288"/>
          </a:xfrm>
          <a:prstGeom prst="rect">
            <a:avLst/>
          </a:prstGeom>
          <a:solidFill>
            <a:srgbClr val="2F303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2"/>
          <p:cNvSpPr/>
          <p:nvPr/>
        </p:nvSpPr>
        <p:spPr>
          <a:xfrm>
            <a:off x="2489597" y="2518172"/>
            <a:ext cx="1732359" cy="414338"/>
          </a:xfrm>
          <a:prstGeom prst="rect">
            <a:avLst/>
          </a:prstGeom>
          <a:noFill/>
          <a:ln/>
        </p:spPr>
        <p:txBody>
          <a:bodyPr wrap="square" lIns="136017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E5E7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Auth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657225" y="3089672"/>
            <a:ext cx="3564731" cy="514350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Shape 24"/>
          <p:cNvSpPr/>
          <p:nvPr/>
        </p:nvSpPr>
        <p:spPr>
          <a:xfrm>
            <a:off x="657225" y="3089672"/>
            <a:ext cx="3564731" cy="142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8" name="Text 25"/>
          <p:cNvSpPr/>
          <p:nvPr/>
        </p:nvSpPr>
        <p:spPr>
          <a:xfrm>
            <a:off x="785813" y="3286125"/>
            <a:ext cx="54122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3B82F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DETALHE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841427" y="3278088"/>
            <a:ext cx="1251942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Settings · ActivityDetail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57225" y="3761184"/>
            <a:ext cx="3564731" cy="514350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657225" y="3761184"/>
            <a:ext cx="3564731" cy="142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/>
          <p:nvPr/>
        </p:nvSpPr>
        <p:spPr>
          <a:xfrm>
            <a:off x="785813" y="3957638"/>
            <a:ext cx="56393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3B82F6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REGRA UI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1746647" y="3949601"/>
            <a:ext cx="2346722" cy="137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bar escondida em ecrãs detalhados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722019" y="957263"/>
            <a:ext cx="3964781" cy="2728913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 dirty="0"/>
          </a:p>
        </p:txBody>
      </p:sp>
      <p:sp>
        <p:nvSpPr>
          <p:cNvPr id="35" name="Shape 32"/>
          <p:cNvSpPr/>
          <p:nvPr/>
        </p:nvSpPr>
        <p:spPr>
          <a:xfrm>
            <a:off x="4722019" y="957263"/>
            <a:ext cx="3964781" cy="285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6" name="Text 33"/>
          <p:cNvSpPr/>
          <p:nvPr/>
        </p:nvSpPr>
        <p:spPr>
          <a:xfrm>
            <a:off x="4922044" y="1143000"/>
            <a:ext cx="3564731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APIs externas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922044" y="1489472"/>
            <a:ext cx="1028700" cy="289322"/>
          </a:xfrm>
          <a:prstGeom prst="rect">
            <a:avLst/>
          </a:prstGeom>
          <a:noFill/>
          <a:ln/>
        </p:spPr>
        <p:txBody>
          <a:bodyPr wrap="none" lIns="8509" tIns="8509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SERVIÇO</a:t>
            </a:r>
            <a:endParaRPr lang="en-US" sz="650" dirty="0"/>
          </a:p>
        </p:txBody>
      </p:sp>
      <p:sp>
        <p:nvSpPr>
          <p:cNvPr id="38" name="Text 35"/>
          <p:cNvSpPr/>
          <p:nvPr/>
        </p:nvSpPr>
        <p:spPr>
          <a:xfrm>
            <a:off x="5950744" y="1489472"/>
            <a:ext cx="2536031" cy="289322"/>
          </a:xfrm>
          <a:prstGeom prst="rect">
            <a:avLst/>
          </a:prstGeom>
          <a:noFill/>
          <a:ln/>
        </p:spPr>
        <p:txBody>
          <a:bodyPr wrap="square" lIns="8509" tIns="8509" rIns="8509" bIns="8509" rtlCol="0" anchor="ctr">
            <a:spAutoFit/>
          </a:bodyPr>
          <a:lstStyle/>
          <a:p>
            <a:pPr marL="0" indent="0" algn="l">
              <a:buNone/>
            </a:pPr>
            <a:r>
              <a:rPr lang="en-US" sz="65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USO NA APP</a:t>
            </a:r>
            <a:endParaRPr lang="en-US" sz="650" dirty="0"/>
          </a:p>
        </p:txBody>
      </p:sp>
      <p:sp>
        <p:nvSpPr>
          <p:cNvPr id="39" name="Text 36"/>
          <p:cNvSpPr/>
          <p:nvPr/>
        </p:nvSpPr>
        <p:spPr>
          <a:xfrm>
            <a:off x="4929188" y="1948542"/>
            <a:ext cx="710803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8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Open-Meteo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5950744" y="1778794"/>
            <a:ext cx="2536031" cy="478631"/>
          </a:xfrm>
          <a:prstGeom prst="rect">
            <a:avLst/>
          </a:prstGeom>
          <a:noFill/>
          <a:ln/>
        </p:spPr>
        <p:txBody>
          <a:bodyPr wrap="square" lIns="8509" tIns="8509" rIns="8509" bIns="8509" rtlCol="0" anchor="ctr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85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Temperatura, humidade e vento sem API key.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4929188" y="2427173"/>
            <a:ext cx="617934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8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Nominatim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5950744" y="2257425"/>
            <a:ext cx="2536031" cy="478631"/>
          </a:xfrm>
          <a:prstGeom prst="rect">
            <a:avLst/>
          </a:prstGeom>
          <a:noFill/>
          <a:ln/>
        </p:spPr>
        <p:txBody>
          <a:bodyPr wrap="square" lIns="8509" tIns="8509" rIns="8509" bIns="8509" rtlCol="0" anchor="ctr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85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Geocoding reverso baseado em OpenStreetMap.</a:t>
            </a:r>
            <a:endParaRPr lang="en-US" sz="850" dirty="0"/>
          </a:p>
        </p:txBody>
      </p:sp>
      <p:sp>
        <p:nvSpPr>
          <p:cNvPr id="43" name="Text 40"/>
          <p:cNvSpPr/>
          <p:nvPr/>
        </p:nvSpPr>
        <p:spPr>
          <a:xfrm>
            <a:off x="4929188" y="2905804"/>
            <a:ext cx="546497" cy="1375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8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Overpass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5950744" y="2736056"/>
            <a:ext cx="2536031" cy="478631"/>
          </a:xfrm>
          <a:prstGeom prst="rect">
            <a:avLst/>
          </a:prstGeom>
          <a:noFill/>
          <a:ln/>
        </p:spPr>
        <p:txBody>
          <a:bodyPr wrap="square" lIns="8509" tIns="8509" rIns="8509" bIns="8509" rtlCol="0" anchor="ctr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85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Pontos de interesse OSM para contexto no mapa.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457200" y="3914775"/>
            <a:ext cx="8229600" cy="628650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457200" y="3914775"/>
            <a:ext cx="8229600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7" name="Text 44"/>
          <p:cNvSpPr/>
          <p:nvPr/>
        </p:nvSpPr>
        <p:spPr>
          <a:xfrm>
            <a:off x="642938" y="4168378"/>
            <a:ext cx="1671638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2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STACK ASSÍNCRONA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2314575" y="4055529"/>
            <a:ext cx="6372225" cy="3471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Retrofit + Gson · suspend functions · viewModelScope</a:t>
            </a:r>
            <a:r>
              <a:rPr lang="en-US" sz="950" dirty="0">
                <a:solidFill>
                  <a:srgbClr val="D4D4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Chamadas REST sem bloqueios no main thread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0" name="Shape 47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1" name="Text 48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52" name="Text 49"/>
          <p:cNvSpPr/>
          <p:nvPr/>
        </p:nvSpPr>
        <p:spPr>
          <a:xfrm>
            <a:off x="8367117" y="4797028"/>
            <a:ext cx="31968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/ 12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759720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Mapas OpenStreetMap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298959" y="573286"/>
            <a:ext cx="1387841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LOCALIZAÇÃO E MAPAS</a:t>
            </a:r>
            <a:endParaRPr lang="en-US" sz="650" dirty="0"/>
          </a:p>
        </p:txBody>
      </p:sp>
      <p:sp>
        <p:nvSpPr>
          <p:cNvPr id="5" name="Shape 2"/>
          <p:cNvSpPr/>
          <p:nvPr/>
        </p:nvSpPr>
        <p:spPr>
          <a:xfrm>
            <a:off x="457200" y="928688"/>
            <a:ext cx="2250281" cy="2800350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457200" y="928688"/>
            <a:ext cx="2250281" cy="285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614363" y="1100138"/>
            <a:ext cx="1935956" cy="188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Localização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4363" y="1445884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Shape 6"/>
          <p:cNvSpPr/>
          <p:nvPr/>
        </p:nvSpPr>
        <p:spPr>
          <a:xfrm>
            <a:off x="614363" y="1445884"/>
            <a:ext cx="1935956" cy="142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/>
          <p:nvPr/>
        </p:nvSpPr>
        <p:spPr>
          <a:xfrm>
            <a:off x="714375" y="1524465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PROVIDER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714375" y="1672698"/>
            <a:ext cx="17502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FusedLocationProviderClient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614363" y="1974521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614363" y="1974521"/>
            <a:ext cx="1935956" cy="14288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1"/>
          <p:cNvSpPr/>
          <p:nvPr/>
        </p:nvSpPr>
        <p:spPr>
          <a:xfrm>
            <a:off x="714375" y="2053103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PERMISSÕES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714375" y="2201335"/>
            <a:ext cx="17502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Fine + coarse location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614363" y="2503159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Shape 14"/>
          <p:cNvSpPr/>
          <p:nvPr/>
        </p:nvSpPr>
        <p:spPr>
          <a:xfrm>
            <a:off x="614363" y="2503159"/>
            <a:ext cx="1935956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/>
          <p:nvPr/>
        </p:nvSpPr>
        <p:spPr>
          <a:xfrm>
            <a:off x="714375" y="2581740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UX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714375" y="2729973"/>
            <a:ext cx="17502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Pedido em contexto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614363" y="3031796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614363" y="3031796"/>
            <a:ext cx="1935956" cy="142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/>
          <p:nvPr/>
        </p:nvSpPr>
        <p:spPr>
          <a:xfrm>
            <a:off x="714375" y="3110378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OVERLAY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714375" y="3258610"/>
            <a:ext cx="17502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MyLocationOverlay mostra ponto azul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2907506" y="928688"/>
            <a:ext cx="2250281" cy="2800350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Shape 22"/>
          <p:cNvSpPr/>
          <p:nvPr/>
        </p:nvSpPr>
        <p:spPr>
          <a:xfrm>
            <a:off x="2907506" y="928688"/>
            <a:ext cx="2250281" cy="28575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Text 23"/>
          <p:cNvSpPr/>
          <p:nvPr/>
        </p:nvSpPr>
        <p:spPr>
          <a:xfrm>
            <a:off x="3064669" y="1100138"/>
            <a:ext cx="1935956" cy="188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Mapas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3064669" y="1445884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8" name="Shape 25"/>
          <p:cNvSpPr/>
          <p:nvPr/>
        </p:nvSpPr>
        <p:spPr>
          <a:xfrm>
            <a:off x="3064669" y="1445884"/>
            <a:ext cx="1935956" cy="14288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9" name="Text 26"/>
          <p:cNvSpPr/>
          <p:nvPr/>
        </p:nvSpPr>
        <p:spPr>
          <a:xfrm>
            <a:off x="3164681" y="1524465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BIBLIOTECA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3164681" y="1672698"/>
            <a:ext cx="175021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OSMDroid em vez de Google Maps</a:t>
            </a:r>
            <a:endParaRPr lang="en-US" sz="750" dirty="0"/>
          </a:p>
        </p:txBody>
      </p:sp>
      <p:sp>
        <p:nvSpPr>
          <p:cNvPr id="31" name="Shape 28"/>
          <p:cNvSpPr/>
          <p:nvPr/>
        </p:nvSpPr>
        <p:spPr>
          <a:xfrm>
            <a:off x="3064669" y="1974521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Shape 29"/>
          <p:cNvSpPr/>
          <p:nvPr/>
        </p:nvSpPr>
        <p:spPr>
          <a:xfrm>
            <a:off x="3064669" y="1974521"/>
            <a:ext cx="1935956" cy="1428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3" name="Text 30"/>
          <p:cNvSpPr/>
          <p:nvPr/>
        </p:nvSpPr>
        <p:spPr>
          <a:xfrm>
            <a:off x="3164681" y="2053103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BASE</a:t>
            </a:r>
            <a:endParaRPr lang="en-US" sz="600" dirty="0"/>
          </a:p>
        </p:txBody>
      </p:sp>
      <p:sp>
        <p:nvSpPr>
          <p:cNvPr id="34" name="Text 31"/>
          <p:cNvSpPr/>
          <p:nvPr/>
        </p:nvSpPr>
        <p:spPr>
          <a:xfrm>
            <a:off x="3164681" y="2201335"/>
            <a:ext cx="17502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OpenStreetMap padrão</a:t>
            </a:r>
            <a:endParaRPr lang="en-US" sz="750" dirty="0"/>
          </a:p>
        </p:txBody>
      </p:sp>
      <p:sp>
        <p:nvSpPr>
          <p:cNvPr id="35" name="Shape 32"/>
          <p:cNvSpPr/>
          <p:nvPr/>
        </p:nvSpPr>
        <p:spPr>
          <a:xfrm>
            <a:off x="3064669" y="2503159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3064669" y="2503159"/>
            <a:ext cx="1935956" cy="14288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/>
          <p:nvPr/>
        </p:nvSpPr>
        <p:spPr>
          <a:xfrm>
            <a:off x="3164681" y="2581740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CAMADA</a:t>
            </a:r>
            <a:endParaRPr lang="en-US" sz="600" dirty="0"/>
          </a:p>
        </p:txBody>
      </p:sp>
      <p:sp>
        <p:nvSpPr>
          <p:cNvPr id="38" name="Text 35"/>
          <p:cNvSpPr/>
          <p:nvPr/>
        </p:nvSpPr>
        <p:spPr>
          <a:xfrm>
            <a:off x="3164681" y="2729973"/>
            <a:ext cx="17502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CyclOSM para ciclovias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3064669" y="3031796"/>
            <a:ext cx="1935956" cy="442913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0" name="Shape 37"/>
          <p:cNvSpPr/>
          <p:nvPr/>
        </p:nvSpPr>
        <p:spPr>
          <a:xfrm>
            <a:off x="3064669" y="3031796"/>
            <a:ext cx="1935956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1" name="Text 38"/>
          <p:cNvSpPr/>
          <p:nvPr/>
        </p:nvSpPr>
        <p:spPr>
          <a:xfrm>
            <a:off x="3164681" y="3110378"/>
            <a:ext cx="1750219" cy="1053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kern="0" spc="1" dirty="0">
                <a:solidFill>
                  <a:srgbClr val="A1A1AA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OPERAÇÃO</a:t>
            </a:r>
            <a:endParaRPr lang="en-US" sz="600" dirty="0"/>
          </a:p>
        </p:txBody>
      </p:sp>
      <p:sp>
        <p:nvSpPr>
          <p:cNvPr id="42" name="Text 39"/>
          <p:cNvSpPr/>
          <p:nvPr/>
        </p:nvSpPr>
        <p:spPr>
          <a:xfrm>
            <a:off x="3164681" y="3258610"/>
            <a:ext cx="17502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Sem API key · sem billing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5357813" y="928688"/>
            <a:ext cx="3328988" cy="2800350"/>
          </a:xfrm>
          <a:prstGeom prst="rect">
            <a:avLst/>
          </a:prstGeom>
          <a:solidFill>
            <a:srgbClr val="101015"/>
          </a:solidFill>
          <a:ln w="9144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44" name="Text 41"/>
          <p:cNvSpPr/>
          <p:nvPr/>
        </p:nvSpPr>
        <p:spPr>
          <a:xfrm>
            <a:off x="6155959" y="1100138"/>
            <a:ext cx="1732666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PLACEHOLDER SCREENSHOT</a:t>
            </a:r>
            <a:endParaRPr lang="en-US" sz="700" dirty="0"/>
          </a:p>
        </p:txBody>
      </p:sp>
      <p:sp>
        <p:nvSpPr>
          <p:cNvPr id="45" name="Shape 42"/>
          <p:cNvSpPr/>
          <p:nvPr/>
        </p:nvSpPr>
        <p:spPr>
          <a:xfrm>
            <a:off x="6143625" y="1364456"/>
            <a:ext cx="1757363" cy="2185988"/>
          </a:xfrm>
          <a:prstGeom prst="rect">
            <a:avLst/>
          </a:prstGeom>
          <a:solidFill>
            <a:srgbClr val="111116"/>
          </a:solidFill>
          <a:ln w="18288">
            <a:solidFill>
              <a:srgbClr val="2F303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6293644" y="1621631"/>
            <a:ext cx="1457325" cy="1571625"/>
          </a:xfrm>
          <a:prstGeom prst="rect">
            <a:avLst/>
          </a:prstGeom>
          <a:solidFill>
            <a:srgbClr val="3B82F6">
              <a:alpha val="12000"/>
            </a:srgbClr>
          </a:solidFill>
          <a:ln w="9144">
            <a:solidFill>
              <a:srgbClr val="30303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Shape 44"/>
          <p:cNvSpPr/>
          <p:nvPr/>
        </p:nvSpPr>
        <p:spPr>
          <a:xfrm>
            <a:off x="7179469" y="1693069"/>
            <a:ext cx="500063" cy="171450"/>
          </a:xfrm>
          <a:prstGeom prst="rect">
            <a:avLst/>
          </a:prstGeom>
          <a:solidFill>
            <a:srgbClr val="132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8" name="Shape 45"/>
          <p:cNvSpPr/>
          <p:nvPr/>
        </p:nvSpPr>
        <p:spPr>
          <a:xfrm>
            <a:off x="7179469" y="1693069"/>
            <a:ext cx="500063" cy="14288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9" name="Text 46"/>
          <p:cNvSpPr/>
          <p:nvPr/>
        </p:nvSpPr>
        <p:spPr>
          <a:xfrm>
            <a:off x="7179469" y="1693069"/>
            <a:ext cx="500063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550" b="1" dirty="0">
                <a:solidFill>
                  <a:srgbClr val="4ADE80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CyclOSM</a:t>
            </a:r>
            <a:endParaRPr lang="en-US" sz="550" dirty="0"/>
          </a:p>
        </p:txBody>
      </p:sp>
      <p:sp>
        <p:nvSpPr>
          <p:cNvPr id="50" name="Shape 47"/>
          <p:cNvSpPr/>
          <p:nvPr/>
        </p:nvSpPr>
        <p:spPr>
          <a:xfrm>
            <a:off x="6293644" y="3293269"/>
            <a:ext cx="1457325" cy="214313"/>
          </a:xfrm>
          <a:prstGeom prst="rect">
            <a:avLst/>
          </a:prstGeom>
          <a:solidFill>
            <a:srgbClr val="24181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1" name="Shape 48"/>
          <p:cNvSpPr/>
          <p:nvPr/>
        </p:nvSpPr>
        <p:spPr>
          <a:xfrm>
            <a:off x="6293644" y="3293269"/>
            <a:ext cx="1457325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2" name="Text 49"/>
          <p:cNvSpPr/>
          <p:nvPr/>
        </p:nvSpPr>
        <p:spPr>
          <a:xfrm>
            <a:off x="6293644" y="3293269"/>
            <a:ext cx="1457325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MAPS SCREEN</a:t>
            </a:r>
            <a:endParaRPr lang="en-US" sz="600" dirty="0"/>
          </a:p>
        </p:txBody>
      </p:sp>
      <p:sp>
        <p:nvSpPr>
          <p:cNvPr id="53" name="Text 50"/>
          <p:cNvSpPr/>
          <p:nvPr/>
        </p:nvSpPr>
        <p:spPr>
          <a:xfrm>
            <a:off x="5807869" y="3607594"/>
            <a:ext cx="2428875" cy="115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7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]</a:t>
            </a:r>
            <a:endParaRPr lang="en-US" sz="750" dirty="0"/>
          </a:p>
        </p:txBody>
      </p:sp>
      <p:sp>
        <p:nvSpPr>
          <p:cNvPr id="54" name="Shape 51"/>
          <p:cNvSpPr/>
          <p:nvPr/>
        </p:nvSpPr>
        <p:spPr>
          <a:xfrm>
            <a:off x="457200" y="3943350"/>
            <a:ext cx="8229600" cy="614363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5" name="Shape 52"/>
          <p:cNvSpPr/>
          <p:nvPr/>
        </p:nvSpPr>
        <p:spPr>
          <a:xfrm>
            <a:off x="457200" y="3943350"/>
            <a:ext cx="8229600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6" name="Text 53"/>
          <p:cNvSpPr/>
          <p:nvPr/>
        </p:nvSpPr>
        <p:spPr>
          <a:xfrm>
            <a:off x="642938" y="4189809"/>
            <a:ext cx="1707356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2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FALLBACK</a:t>
            </a:r>
            <a:endParaRPr lang="en-US" sz="700" dirty="0"/>
          </a:p>
        </p:txBody>
      </p:sp>
      <p:sp>
        <p:nvSpPr>
          <p:cNvPr id="57" name="Text 54"/>
          <p:cNvSpPr/>
          <p:nvPr/>
        </p:nvSpPr>
        <p:spPr>
          <a:xfrm>
            <a:off x="2350294" y="4082960"/>
            <a:ext cx="6336506" cy="3351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0400"/>
              </a:lnSpc>
              <a:buNone/>
            </a:pPr>
            <a:r>
              <a:rPr lang="en-US" sz="850" b="1" dirty="0">
                <a:solidFill>
                  <a:srgbClr val="3B82F6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Sem permissão:</a:t>
            </a:r>
            <a:r>
              <a:rPr lang="en-US" sz="850" b="1" dirty="0">
                <a:solidFill>
                  <a:srgbClr val="4ADE80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 centro inicial em Aveiro · Open-source · custo previsível · independência de billing externo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9" name="Shape 56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0" name="Text 57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61" name="Text 58"/>
          <p:cNvSpPr/>
          <p:nvPr/>
        </p:nvSpPr>
        <p:spPr>
          <a:xfrm>
            <a:off x="8367117" y="4797028"/>
            <a:ext cx="31968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/ 12</a:t>
            </a:r>
            <a:endParaRPr lang="en-US" sz="750" dirty="0"/>
          </a:p>
        </p:txBody>
      </p:sp>
      <p:pic>
        <p:nvPicPr>
          <p:cNvPr id="65" name="Imagem 64">
            <a:extLst>
              <a:ext uri="{FF2B5EF4-FFF2-40B4-BE49-F238E27FC236}">
                <a16:creationId xmlns:a16="http://schemas.microsoft.com/office/drawing/2014/main" id="{EFDF2E75-84E2-68AC-9838-9A9D6E3DF0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78" y="931170"/>
            <a:ext cx="1890720" cy="280643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957736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Tracking em background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982932" y="573286"/>
            <a:ext cx="1703868" cy="112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GRAVAÇÃO EM BACKGROUND</a:t>
            </a:r>
            <a:endParaRPr lang="en-US" sz="650" dirty="0"/>
          </a:p>
        </p:txBody>
      </p:sp>
      <p:sp>
        <p:nvSpPr>
          <p:cNvPr id="5" name="Text 2"/>
          <p:cNvSpPr/>
          <p:nvPr/>
        </p:nvSpPr>
        <p:spPr>
          <a:xfrm>
            <a:off x="457200" y="928688"/>
            <a:ext cx="6286500" cy="447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 gravação fiável de percursos exige uma tarefa visível ao sistema quando a app deixa de estar em primeiro plano.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1504345"/>
            <a:ext cx="3714750" cy="2000250"/>
          </a:xfrm>
          <a:prstGeom prst="rect">
            <a:avLst/>
          </a:prstGeom>
          <a:solidFill>
            <a:srgbClr val="14141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457200" y="1504345"/>
            <a:ext cx="3714750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600075" y="1647220"/>
            <a:ext cx="3443288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2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DECISION PATH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600075" y="1868677"/>
            <a:ext cx="3443288" cy="1140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16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Sobrevive a app em background?
 ├─ </a:t>
            </a:r>
            <a:r>
              <a:rPr lang="en-US" sz="1050" b="1" dirty="0">
                <a:solidFill>
                  <a:srgbClr val="4ADE80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Sim</a:t>
            </a:r>
            <a:r>
              <a:rPr lang="en-US" sz="110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→ tarefa visível?
 │       └─ </a:t>
            </a:r>
            <a:r>
              <a:rPr lang="en-US" sz="1050" b="1" dirty="0">
                <a:solidFill>
                  <a:srgbClr val="4ADE80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Foreground Service ✓</a:t>
            </a:r>
            <a:r>
              <a:rPr lang="en-US" sz="110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
└─ </a:t>
            </a:r>
            <a:r>
              <a:rPr lang="en-US" sz="1050" b="1" dirty="0">
                <a:solidFill>
                  <a:srgbClr val="EF4444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Não</a:t>
            </a:r>
            <a:r>
              <a:rPr lang="en-US" sz="1100" dirty="0">
                <a:solidFill>
                  <a:srgbClr val="E5E7E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→ coroutine no
         </a:t>
            </a:r>
            <a:r>
              <a:rPr lang="en-US" sz="1050" b="1" dirty="0">
                <a:solidFill>
                  <a:srgbClr val="3B82F6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ViewModelScope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429125" y="1504345"/>
            <a:ext cx="4257675" cy="2000250"/>
          </a:xfrm>
          <a:prstGeom prst="rect">
            <a:avLst/>
          </a:prstGeom>
          <a:solidFill>
            <a:srgbClr val="101015"/>
          </a:solidFill>
          <a:ln w="9144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5680621" y="1647220"/>
            <a:ext cx="1754656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2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PLACEHOLDER SCREENSHOT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5414963" y="1925827"/>
            <a:ext cx="2286000" cy="208620"/>
          </a:xfrm>
          <a:prstGeom prst="rect">
            <a:avLst/>
          </a:prstGeom>
          <a:solidFill>
            <a:srgbClr val="10101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5414963" y="1925827"/>
            <a:ext cx="2286000" cy="21431"/>
          </a:xfrm>
          <a:prstGeom prst="rect">
            <a:avLst/>
          </a:prstGeom>
          <a:solidFill>
            <a:srgbClr val="2F303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1"/>
          <p:cNvSpPr/>
          <p:nvPr/>
        </p:nvSpPr>
        <p:spPr>
          <a:xfrm>
            <a:off x="5514975" y="1973880"/>
            <a:ext cx="442913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7361634" y="1973880"/>
            <a:ext cx="239316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12:42</a:t>
            </a:r>
            <a:endParaRPr lang="en-US" sz="650" dirty="0"/>
          </a:p>
        </p:txBody>
      </p:sp>
      <p:sp>
        <p:nvSpPr>
          <p:cNvPr id="16" name="Shape 13"/>
          <p:cNvSpPr/>
          <p:nvPr/>
        </p:nvSpPr>
        <p:spPr>
          <a:xfrm>
            <a:off x="5414963" y="2248746"/>
            <a:ext cx="2286000" cy="857250"/>
          </a:xfrm>
          <a:prstGeom prst="rect">
            <a:avLst/>
          </a:prstGeom>
          <a:solidFill>
            <a:srgbClr val="18181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Shape 14"/>
          <p:cNvSpPr/>
          <p:nvPr/>
        </p:nvSpPr>
        <p:spPr>
          <a:xfrm>
            <a:off x="5414963" y="2248746"/>
            <a:ext cx="2286000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/>
          <p:nvPr/>
        </p:nvSpPr>
        <p:spPr>
          <a:xfrm>
            <a:off x="5514975" y="2365000"/>
            <a:ext cx="111978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Percurso a gravar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216973" y="2364107"/>
            <a:ext cx="383977" cy="157163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7"/>
          <p:cNvSpPr/>
          <p:nvPr/>
        </p:nvSpPr>
        <p:spPr>
          <a:xfrm>
            <a:off x="7216973" y="2364107"/>
            <a:ext cx="383977" cy="157163"/>
          </a:xfrm>
          <a:prstGeom prst="rect">
            <a:avLst/>
          </a:prstGeom>
          <a:noFill/>
          <a:ln/>
        </p:spPr>
        <p:txBody>
          <a:bodyPr wrap="none" lIns="68072" tIns="34036" rIns="68072" bIns="0" rtlCol="0" anchor="t">
            <a:spAutoFit/>
          </a:bodyPr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ATIVO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5514975" y="2606994"/>
            <a:ext cx="2085975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Localização em foreground · distância e tempo atualizados continuamente.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5514975" y="2982041"/>
            <a:ext cx="2085975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A1A1A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00:38:12 · 12.4 km · GPS lock</a:t>
            </a:r>
            <a:endParaRPr lang="en-US" sz="650" dirty="0"/>
          </a:p>
        </p:txBody>
      </p:sp>
      <p:sp>
        <p:nvSpPr>
          <p:cNvPr id="23" name="Text 20"/>
          <p:cNvSpPr/>
          <p:nvPr/>
        </p:nvSpPr>
        <p:spPr>
          <a:xfrm>
            <a:off x="5343525" y="3234584"/>
            <a:ext cx="2428875" cy="2700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7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[INSERIR SCREENSHOT: notificação persistente VitalRoute durante gravação]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457200" y="3688240"/>
            <a:ext cx="1993106" cy="857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Shape 22"/>
          <p:cNvSpPr/>
          <p:nvPr/>
        </p:nvSpPr>
        <p:spPr>
          <a:xfrm>
            <a:off x="457200" y="3688240"/>
            <a:ext cx="1993106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Text 23"/>
          <p:cNvSpPr/>
          <p:nvPr/>
        </p:nvSpPr>
        <p:spPr>
          <a:xfrm>
            <a:off x="557213" y="3788252"/>
            <a:ext cx="1807369" cy="1396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8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RecordingService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557213" y="4004686"/>
            <a:ext cx="109478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Serviço declarado com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557213" y="4147617"/>
            <a:ext cx="1714500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9" name="Text 26"/>
          <p:cNvSpPr/>
          <p:nvPr/>
        </p:nvSpPr>
        <p:spPr>
          <a:xfrm>
            <a:off x="557213" y="4147617"/>
            <a:ext cx="1714500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foregroundServiceType="location"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2271713" y="4138687"/>
            <a:ext cx="28575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750" dirty="0"/>
          </a:p>
        </p:txBody>
      </p:sp>
      <p:sp>
        <p:nvSpPr>
          <p:cNvPr id="31" name="Shape 28"/>
          <p:cNvSpPr/>
          <p:nvPr/>
        </p:nvSpPr>
        <p:spPr>
          <a:xfrm>
            <a:off x="2536031" y="3688240"/>
            <a:ext cx="1993106" cy="857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Shape 29"/>
          <p:cNvSpPr/>
          <p:nvPr/>
        </p:nvSpPr>
        <p:spPr>
          <a:xfrm>
            <a:off x="2536031" y="3688240"/>
            <a:ext cx="1993106" cy="21431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3" name="Text 30"/>
          <p:cNvSpPr/>
          <p:nvPr/>
        </p:nvSpPr>
        <p:spPr>
          <a:xfrm>
            <a:off x="2636044" y="3788252"/>
            <a:ext cx="1807369" cy="1396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8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Notificação visível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2636044" y="3999328"/>
            <a:ext cx="1807369" cy="268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 ao utilizador que o tracking continua ativo.</a:t>
            </a:r>
            <a:endParaRPr lang="en-US" sz="750" dirty="0"/>
          </a:p>
        </p:txBody>
      </p:sp>
      <p:sp>
        <p:nvSpPr>
          <p:cNvPr id="35" name="Shape 32"/>
          <p:cNvSpPr/>
          <p:nvPr/>
        </p:nvSpPr>
        <p:spPr>
          <a:xfrm>
            <a:off x="4614863" y="3688240"/>
            <a:ext cx="1993106" cy="857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4614863" y="3688240"/>
            <a:ext cx="1993106" cy="2143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/>
          <p:nvPr/>
        </p:nvSpPr>
        <p:spPr>
          <a:xfrm>
            <a:off x="4714875" y="3788252"/>
            <a:ext cx="1807369" cy="1396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8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Ecrã apagado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4714875" y="3999328"/>
            <a:ext cx="1807369" cy="268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percurso continua sem depender do ecrã aberto.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6693694" y="3688240"/>
            <a:ext cx="1993106" cy="857250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0" name="Shape 37"/>
          <p:cNvSpPr/>
          <p:nvPr/>
        </p:nvSpPr>
        <p:spPr>
          <a:xfrm>
            <a:off x="6693694" y="3688240"/>
            <a:ext cx="1993106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1" name="Text 38"/>
          <p:cNvSpPr/>
          <p:nvPr/>
        </p:nvSpPr>
        <p:spPr>
          <a:xfrm>
            <a:off x="6793706" y="3788252"/>
            <a:ext cx="1807369" cy="1396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8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Permissão dedicada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6793706" y="4013615"/>
            <a:ext cx="1455539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3" name="Text 40"/>
          <p:cNvSpPr/>
          <p:nvPr/>
        </p:nvSpPr>
        <p:spPr>
          <a:xfrm>
            <a:off x="6793706" y="4013615"/>
            <a:ext cx="1455539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FOREGROUND_SERVICE_LOCATION</a:t>
            </a:r>
            <a:endParaRPr lang="en-US" sz="600" dirty="0"/>
          </a:p>
        </p:txBody>
      </p:sp>
      <p:sp>
        <p:nvSpPr>
          <p:cNvPr id="44" name="Text 41"/>
          <p:cNvSpPr/>
          <p:nvPr/>
        </p:nvSpPr>
        <p:spPr>
          <a:xfrm>
            <a:off x="6793706" y="4138687"/>
            <a:ext cx="158948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declarada para Android moderno.</a:t>
            </a:r>
            <a:endParaRPr lang="en-US" sz="750" dirty="0"/>
          </a:p>
        </p:txBody>
      </p:sp>
      <p:sp>
        <p:nvSpPr>
          <p:cNvPr id="45" name="Shape 42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7" name="Text 44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8388548" y="4797028"/>
            <a:ext cx="298252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12</a:t>
            </a:r>
            <a:endParaRPr lang="en-US" sz="750" dirty="0"/>
          </a:p>
        </p:txBody>
      </p:sp>
      <p:pic>
        <p:nvPicPr>
          <p:cNvPr id="50" name="Imagem 49">
            <a:extLst>
              <a:ext uri="{FF2B5EF4-FFF2-40B4-BE49-F238E27FC236}">
                <a16:creationId xmlns:a16="http://schemas.microsoft.com/office/drawing/2014/main" id="{29AC1AD1-F09E-BF0F-0E5B-6946FE1E0C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9125" y="1487480"/>
            <a:ext cx="4381428" cy="20757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143795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Do sensor ao SMS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885751" y="573286"/>
            <a:ext cx="801049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SISTEMA SOS</a:t>
            </a:r>
            <a:endParaRPr lang="en-US" sz="650" dirty="0"/>
          </a:p>
        </p:txBody>
      </p:sp>
      <p:sp>
        <p:nvSpPr>
          <p:cNvPr id="5" name="Text 2"/>
          <p:cNvSpPr/>
          <p:nvPr/>
        </p:nvSpPr>
        <p:spPr>
          <a:xfrm>
            <a:off x="457200" y="914400"/>
            <a:ext cx="6715125" cy="4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24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O SOS transforma deteção de queda numa comunicação automática, cancelável e contextualizada com localização.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457200" y="1485230"/>
            <a:ext cx="1210866" cy="1699403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457200" y="1485230"/>
            <a:ext cx="1210866" cy="28575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Shape 5"/>
          <p:cNvSpPr/>
          <p:nvPr/>
        </p:nvSpPr>
        <p:spPr>
          <a:xfrm>
            <a:off x="542925" y="1570955"/>
            <a:ext cx="257175" cy="257175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6"/>
          <p:cNvSpPr/>
          <p:nvPr/>
        </p:nvSpPr>
        <p:spPr>
          <a:xfrm>
            <a:off x="542925" y="1570955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1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542925" y="1928143"/>
            <a:ext cx="1039416" cy="331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28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Queda detetada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2925" y="2331039"/>
            <a:ext cx="1039416" cy="7178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Sensibilidade configurada identifica impacto provável durante o percurso.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1768078" y="1485230"/>
            <a:ext cx="1210866" cy="167082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Shape 10"/>
          <p:cNvSpPr/>
          <p:nvPr/>
        </p:nvSpPr>
        <p:spPr>
          <a:xfrm>
            <a:off x="1768078" y="1485230"/>
            <a:ext cx="1210866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Shape 11"/>
          <p:cNvSpPr/>
          <p:nvPr/>
        </p:nvSpPr>
        <p:spPr>
          <a:xfrm>
            <a:off x="1853803" y="1570955"/>
            <a:ext cx="257175" cy="2571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1853803" y="1570955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2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1853803" y="1928143"/>
            <a:ext cx="1039416" cy="1657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8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SosSlider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853803" y="2172453"/>
            <a:ext cx="962620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Surge no ecrã com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1853803" y="2324956"/>
            <a:ext cx="223242" cy="123230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6"/>
          <p:cNvSpPr/>
          <p:nvPr/>
        </p:nvSpPr>
        <p:spPr>
          <a:xfrm>
            <a:off x="1853803" y="2324956"/>
            <a:ext cx="223242" cy="123230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5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2077045" y="2316026"/>
            <a:ext cx="728663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cancelar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853803" y="2459599"/>
            <a:ext cx="707231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falso positivo.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3078956" y="1485230"/>
            <a:ext cx="1210866" cy="167082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Shape 20"/>
          <p:cNvSpPr/>
          <p:nvPr/>
        </p:nvSpPr>
        <p:spPr>
          <a:xfrm>
            <a:off x="3078956" y="1485230"/>
            <a:ext cx="1210866" cy="285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Shape 21"/>
          <p:cNvSpPr/>
          <p:nvPr/>
        </p:nvSpPr>
        <p:spPr>
          <a:xfrm>
            <a:off x="3164681" y="1570955"/>
            <a:ext cx="257175" cy="2571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2"/>
          <p:cNvSpPr/>
          <p:nvPr/>
        </p:nvSpPr>
        <p:spPr>
          <a:xfrm>
            <a:off x="3164681" y="1570955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3164681" y="1928143"/>
            <a:ext cx="1039416" cy="16572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8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Envio SMS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164681" y="2181383"/>
            <a:ext cx="610791" cy="123230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8" name="Text 25"/>
          <p:cNvSpPr/>
          <p:nvPr/>
        </p:nvSpPr>
        <p:spPr>
          <a:xfrm>
            <a:off x="3164681" y="2181383"/>
            <a:ext cx="610791" cy="123230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5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SosManager</a:t>
            </a:r>
            <a:endParaRPr lang="en-US" sz="650" dirty="0"/>
          </a:p>
        </p:txBody>
      </p:sp>
      <p:sp>
        <p:nvSpPr>
          <p:cNvPr id="29" name="Text 26"/>
          <p:cNvSpPr/>
          <p:nvPr/>
        </p:nvSpPr>
        <p:spPr>
          <a:xfrm>
            <a:off x="3775472" y="2172453"/>
            <a:ext cx="210741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164681" y="2324956"/>
            <a:ext cx="610791" cy="123230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1" name="Text 28"/>
          <p:cNvSpPr/>
          <p:nvPr/>
        </p:nvSpPr>
        <p:spPr>
          <a:xfrm>
            <a:off x="3164681" y="2324956"/>
            <a:ext cx="610791" cy="123230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5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SmsManager</a:t>
            </a:r>
            <a:endParaRPr lang="en-US" sz="650" dirty="0"/>
          </a:p>
        </p:txBody>
      </p:sp>
      <p:sp>
        <p:nvSpPr>
          <p:cNvPr id="32" name="Text 29"/>
          <p:cNvSpPr/>
          <p:nvPr/>
        </p:nvSpPr>
        <p:spPr>
          <a:xfrm>
            <a:off x="3775472" y="2316026"/>
            <a:ext cx="26074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3164681" y="2459599"/>
            <a:ext cx="482203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contactar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3164681" y="2603171"/>
            <a:ext cx="70365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responsáveis.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389834" y="1485230"/>
            <a:ext cx="1210866" cy="1670828"/>
          </a:xfrm>
          <a:prstGeom prst="rect">
            <a:avLst/>
          </a:prstGeom>
          <a:solidFill>
            <a:srgbClr val="16161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4389834" y="1485230"/>
            <a:ext cx="1210866" cy="28575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7" name="Shape 34"/>
          <p:cNvSpPr/>
          <p:nvPr/>
        </p:nvSpPr>
        <p:spPr>
          <a:xfrm>
            <a:off x="4475559" y="1570955"/>
            <a:ext cx="257175" cy="257175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8" name="Text 35"/>
          <p:cNvSpPr/>
          <p:nvPr/>
        </p:nvSpPr>
        <p:spPr>
          <a:xfrm>
            <a:off x="4475559" y="1570955"/>
            <a:ext cx="257175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4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4475559" y="1928143"/>
            <a:ext cx="1039416" cy="331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2800"/>
              </a:lnSpc>
              <a:buNone/>
            </a:pPr>
            <a:r>
              <a:rPr lang="en-US" sz="10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Localização GPS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475559" y="2331039"/>
            <a:ext cx="1039416" cy="4307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80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mensagem inclui a última posição conhecida do atleta.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5915025" y="1485230"/>
            <a:ext cx="2771775" cy="1321594"/>
          </a:xfrm>
          <a:prstGeom prst="rect">
            <a:avLst/>
          </a:prstGeom>
          <a:solidFill>
            <a:srgbClr val="101015"/>
          </a:solidFill>
          <a:ln w="9144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9"/>
          <p:cNvSpPr/>
          <p:nvPr/>
        </p:nvSpPr>
        <p:spPr>
          <a:xfrm>
            <a:off x="6434565" y="1570955"/>
            <a:ext cx="1732666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0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PLACEHOLDER SCREENSHOT</a:t>
            </a:r>
            <a:endParaRPr lang="en-US" sz="700" dirty="0"/>
          </a:p>
        </p:txBody>
      </p:sp>
      <p:sp>
        <p:nvSpPr>
          <p:cNvPr id="43" name="Shape 40"/>
          <p:cNvSpPr/>
          <p:nvPr/>
        </p:nvSpPr>
        <p:spPr>
          <a:xfrm>
            <a:off x="6522244" y="1749549"/>
            <a:ext cx="1557338" cy="914400"/>
          </a:xfrm>
          <a:prstGeom prst="rect">
            <a:avLst/>
          </a:prstGeom>
          <a:solidFill>
            <a:srgbClr val="111116"/>
          </a:solidFill>
          <a:ln w="18288">
            <a:solidFill>
              <a:srgbClr val="2F303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4" name="Shape 41"/>
          <p:cNvSpPr/>
          <p:nvPr/>
        </p:nvSpPr>
        <p:spPr>
          <a:xfrm>
            <a:off x="6686550" y="1883578"/>
            <a:ext cx="1228725" cy="151721"/>
          </a:xfrm>
          <a:prstGeom prst="rect">
            <a:avLst/>
          </a:prstGeom>
          <a:solidFill>
            <a:srgbClr val="2A111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5" name="Shape 42"/>
          <p:cNvSpPr/>
          <p:nvPr/>
        </p:nvSpPr>
        <p:spPr>
          <a:xfrm>
            <a:off x="6686550" y="1883578"/>
            <a:ext cx="1228725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6" name="Text 43"/>
          <p:cNvSpPr/>
          <p:nvPr/>
        </p:nvSpPr>
        <p:spPr>
          <a:xfrm>
            <a:off x="6686550" y="1883578"/>
            <a:ext cx="1228725" cy="151721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F4444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SOS PENDENTE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7120533" y="2106737"/>
            <a:ext cx="360759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0000"/>
              </a:lnSpc>
              <a:buNone/>
            </a:pPr>
            <a:r>
              <a:rPr lang="en-US" sz="2100" b="1" dirty="0">
                <a:solidFill>
                  <a:srgbClr val="F5F5F7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10</a:t>
            </a:r>
            <a:endParaRPr lang="en-US" sz="2100" dirty="0"/>
          </a:p>
        </p:txBody>
      </p:sp>
      <p:sp>
        <p:nvSpPr>
          <p:cNvPr id="48" name="Shape 45"/>
          <p:cNvSpPr/>
          <p:nvPr/>
        </p:nvSpPr>
        <p:spPr>
          <a:xfrm>
            <a:off x="6686550" y="2463924"/>
            <a:ext cx="1228725" cy="200025"/>
          </a:xfrm>
          <a:prstGeom prst="rect">
            <a:avLst/>
          </a:prstGeom>
          <a:solidFill>
            <a:srgbClr val="24181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9" name="Shape 46"/>
          <p:cNvSpPr/>
          <p:nvPr/>
        </p:nvSpPr>
        <p:spPr>
          <a:xfrm>
            <a:off x="6686550" y="2463924"/>
            <a:ext cx="1228725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0" name="Text 47"/>
          <p:cNvSpPr/>
          <p:nvPr/>
        </p:nvSpPr>
        <p:spPr>
          <a:xfrm>
            <a:off x="6686550" y="2463924"/>
            <a:ext cx="12287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buNone/>
            </a:pPr>
            <a:r>
              <a:rPr lang="en-US" sz="60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DESLIZAR PARA CANCELAR</a:t>
            </a:r>
            <a:endParaRPr lang="en-US" sz="600" dirty="0"/>
          </a:p>
        </p:txBody>
      </p:sp>
      <p:sp>
        <p:nvSpPr>
          <p:cNvPr id="51" name="Text 48"/>
          <p:cNvSpPr/>
          <p:nvPr/>
        </p:nvSpPr>
        <p:spPr>
          <a:xfrm>
            <a:off x="6229350" y="2721099"/>
            <a:ext cx="2143125" cy="10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650" dirty="0">
                <a:solidFill>
                  <a:srgbClr val="A1A1A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57200" y="2971354"/>
            <a:ext cx="2828925" cy="1085850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3" name="Shape 50"/>
          <p:cNvSpPr/>
          <p:nvPr/>
        </p:nvSpPr>
        <p:spPr>
          <a:xfrm>
            <a:off x="457200" y="2971354"/>
            <a:ext cx="2828925" cy="2143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4" name="Text 51"/>
          <p:cNvSpPr/>
          <p:nvPr/>
        </p:nvSpPr>
        <p:spPr>
          <a:xfrm>
            <a:off x="557213" y="3057079"/>
            <a:ext cx="2628900" cy="1478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Contactos</a:t>
            </a:r>
            <a:endParaRPr lang="en-US" sz="900" dirty="0"/>
          </a:p>
        </p:txBody>
      </p:sp>
      <p:sp>
        <p:nvSpPr>
          <p:cNvPr id="55" name="Text 52"/>
          <p:cNvSpPr/>
          <p:nvPr/>
        </p:nvSpPr>
        <p:spPr>
          <a:xfrm>
            <a:off x="557213" y="3281744"/>
            <a:ext cx="1237655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Picker via Intent implícito:</a:t>
            </a:r>
            <a:endParaRPr lang="en-US" sz="750" dirty="0"/>
          </a:p>
        </p:txBody>
      </p:sp>
      <p:sp>
        <p:nvSpPr>
          <p:cNvPr id="56" name="Shape 53"/>
          <p:cNvSpPr/>
          <p:nvPr/>
        </p:nvSpPr>
        <p:spPr>
          <a:xfrm>
            <a:off x="1794867" y="3290674"/>
            <a:ext cx="626864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7" name="Text 54"/>
          <p:cNvSpPr/>
          <p:nvPr/>
        </p:nvSpPr>
        <p:spPr>
          <a:xfrm>
            <a:off x="1794867" y="3290674"/>
            <a:ext cx="626864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ACTION_PICK</a:t>
            </a:r>
            <a:endParaRPr lang="en-US" sz="600" dirty="0"/>
          </a:p>
        </p:txBody>
      </p:sp>
      <p:sp>
        <p:nvSpPr>
          <p:cNvPr id="58" name="Text 55"/>
          <p:cNvSpPr/>
          <p:nvPr/>
        </p:nvSpPr>
        <p:spPr>
          <a:xfrm>
            <a:off x="2421731" y="3281744"/>
            <a:ext cx="175022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557213" y="3424675"/>
            <a:ext cx="1092994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0" name="Text 57"/>
          <p:cNvSpPr/>
          <p:nvPr/>
        </p:nvSpPr>
        <p:spPr>
          <a:xfrm>
            <a:off x="557213" y="3424675"/>
            <a:ext cx="1092994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Contacts.CONTENT_URI</a:t>
            </a:r>
            <a:endParaRPr lang="en-US" sz="600" dirty="0"/>
          </a:p>
        </p:txBody>
      </p:sp>
      <p:sp>
        <p:nvSpPr>
          <p:cNvPr id="61" name="Text 58"/>
          <p:cNvSpPr/>
          <p:nvPr/>
        </p:nvSpPr>
        <p:spPr>
          <a:xfrm>
            <a:off x="1650206" y="3415745"/>
            <a:ext cx="28575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750" dirty="0"/>
          </a:p>
        </p:txBody>
      </p:sp>
      <p:sp>
        <p:nvSpPr>
          <p:cNvPr id="62" name="Shape 59"/>
          <p:cNvSpPr/>
          <p:nvPr/>
        </p:nvSpPr>
        <p:spPr>
          <a:xfrm>
            <a:off x="3414713" y="2971354"/>
            <a:ext cx="2571750" cy="1085850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3" name="Shape 60"/>
          <p:cNvSpPr/>
          <p:nvPr/>
        </p:nvSpPr>
        <p:spPr>
          <a:xfrm>
            <a:off x="3414713" y="2971354"/>
            <a:ext cx="2571750" cy="21431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4" name="Text 61"/>
          <p:cNvSpPr/>
          <p:nvPr/>
        </p:nvSpPr>
        <p:spPr>
          <a:xfrm>
            <a:off x="3514725" y="3057079"/>
            <a:ext cx="2371725" cy="1478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Exportação</a:t>
            </a:r>
            <a:endParaRPr lang="en-US" sz="900" dirty="0"/>
          </a:p>
        </p:txBody>
      </p:sp>
      <p:sp>
        <p:nvSpPr>
          <p:cNvPr id="65" name="Text 62"/>
          <p:cNvSpPr/>
          <p:nvPr/>
        </p:nvSpPr>
        <p:spPr>
          <a:xfrm>
            <a:off x="3514725" y="3281744"/>
            <a:ext cx="141089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Atividades em GPX/CSV com</a:t>
            </a:r>
            <a:endParaRPr lang="en-US" sz="750" dirty="0"/>
          </a:p>
        </p:txBody>
      </p:sp>
      <p:sp>
        <p:nvSpPr>
          <p:cNvPr id="66" name="Shape 63"/>
          <p:cNvSpPr/>
          <p:nvPr/>
        </p:nvSpPr>
        <p:spPr>
          <a:xfrm>
            <a:off x="4925616" y="3290674"/>
            <a:ext cx="678656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7" name="Text 64"/>
          <p:cNvSpPr/>
          <p:nvPr/>
        </p:nvSpPr>
        <p:spPr>
          <a:xfrm>
            <a:off x="4925616" y="3290674"/>
            <a:ext cx="678656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FileProvider</a:t>
            </a:r>
            <a:endParaRPr lang="en-US" sz="600" dirty="0"/>
          </a:p>
        </p:txBody>
      </p:sp>
      <p:sp>
        <p:nvSpPr>
          <p:cNvPr id="68" name="Text 65"/>
          <p:cNvSpPr/>
          <p:nvPr/>
        </p:nvSpPr>
        <p:spPr>
          <a:xfrm>
            <a:off x="5604272" y="3281744"/>
            <a:ext cx="8751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</a:t>
            </a:r>
            <a:endParaRPr lang="en-US" sz="750" dirty="0"/>
          </a:p>
        </p:txBody>
      </p:sp>
      <p:sp>
        <p:nvSpPr>
          <p:cNvPr id="69" name="Text 66"/>
          <p:cNvSpPr/>
          <p:nvPr/>
        </p:nvSpPr>
        <p:spPr>
          <a:xfrm>
            <a:off x="3514725" y="3415745"/>
            <a:ext cx="546497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partilha via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4061222" y="3424675"/>
            <a:ext cx="626864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1" name="Text 68"/>
          <p:cNvSpPr/>
          <p:nvPr/>
        </p:nvSpPr>
        <p:spPr>
          <a:xfrm>
            <a:off x="4061222" y="3424675"/>
            <a:ext cx="626864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ACTION_SEND</a:t>
            </a:r>
            <a:endParaRPr lang="en-US" sz="600" dirty="0"/>
          </a:p>
        </p:txBody>
      </p:sp>
      <p:sp>
        <p:nvSpPr>
          <p:cNvPr id="72" name="Text 69"/>
          <p:cNvSpPr/>
          <p:nvPr/>
        </p:nvSpPr>
        <p:spPr>
          <a:xfrm>
            <a:off x="4688086" y="3415745"/>
            <a:ext cx="28575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750" dirty="0"/>
          </a:p>
        </p:txBody>
      </p:sp>
      <p:sp>
        <p:nvSpPr>
          <p:cNvPr id="73" name="Shape 70"/>
          <p:cNvSpPr/>
          <p:nvPr/>
        </p:nvSpPr>
        <p:spPr>
          <a:xfrm>
            <a:off x="6115050" y="2971354"/>
            <a:ext cx="2571750" cy="1085850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4" name="Shape 71"/>
          <p:cNvSpPr/>
          <p:nvPr/>
        </p:nvSpPr>
        <p:spPr>
          <a:xfrm>
            <a:off x="6115050" y="2971354"/>
            <a:ext cx="2571750" cy="21431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5" name="Text 72"/>
          <p:cNvSpPr/>
          <p:nvPr/>
        </p:nvSpPr>
        <p:spPr>
          <a:xfrm>
            <a:off x="6215063" y="3057079"/>
            <a:ext cx="2371725" cy="14787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Permissões</a:t>
            </a:r>
            <a:endParaRPr lang="en-US" sz="900" dirty="0"/>
          </a:p>
        </p:txBody>
      </p:sp>
      <p:sp>
        <p:nvSpPr>
          <p:cNvPr id="76" name="Shape 73"/>
          <p:cNvSpPr/>
          <p:nvPr/>
        </p:nvSpPr>
        <p:spPr>
          <a:xfrm>
            <a:off x="6215063" y="3290674"/>
            <a:ext cx="471488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7" name="Text 74"/>
          <p:cNvSpPr/>
          <p:nvPr/>
        </p:nvSpPr>
        <p:spPr>
          <a:xfrm>
            <a:off x="6215063" y="3290674"/>
            <a:ext cx="471488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SEND_SMS</a:t>
            </a:r>
            <a:endParaRPr lang="en-US" sz="600" dirty="0"/>
          </a:p>
        </p:txBody>
      </p:sp>
      <p:sp>
        <p:nvSpPr>
          <p:cNvPr id="78" name="Text 75"/>
          <p:cNvSpPr/>
          <p:nvPr/>
        </p:nvSpPr>
        <p:spPr>
          <a:xfrm>
            <a:off x="6686550" y="3281744"/>
            <a:ext cx="116086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</a:t>
            </a:r>
            <a:endParaRPr lang="en-US" sz="750" dirty="0"/>
          </a:p>
        </p:txBody>
      </p:sp>
      <p:sp>
        <p:nvSpPr>
          <p:cNvPr id="79" name="Shape 76"/>
          <p:cNvSpPr/>
          <p:nvPr/>
        </p:nvSpPr>
        <p:spPr>
          <a:xfrm>
            <a:off x="6802636" y="3290674"/>
            <a:ext cx="730448" cy="112514"/>
          </a:xfrm>
          <a:prstGeom prst="rect">
            <a:avLst/>
          </a:prstGeom>
          <a:solidFill>
            <a:srgbClr val="22222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0" name="Text 77"/>
          <p:cNvSpPr/>
          <p:nvPr/>
        </p:nvSpPr>
        <p:spPr>
          <a:xfrm>
            <a:off x="6802636" y="3290674"/>
            <a:ext cx="730448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READ_CONTACTS</a:t>
            </a:r>
            <a:endParaRPr lang="en-US" sz="600" dirty="0"/>
          </a:p>
        </p:txBody>
      </p:sp>
      <p:sp>
        <p:nvSpPr>
          <p:cNvPr id="81" name="Text 78"/>
          <p:cNvSpPr/>
          <p:nvPr/>
        </p:nvSpPr>
        <p:spPr>
          <a:xfrm>
            <a:off x="7533084" y="3281744"/>
            <a:ext cx="942975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são justificadas em</a:t>
            </a:r>
            <a:endParaRPr lang="en-US" sz="750" dirty="0"/>
          </a:p>
        </p:txBody>
      </p:sp>
      <p:sp>
        <p:nvSpPr>
          <p:cNvPr id="82" name="Text 79"/>
          <p:cNvSpPr/>
          <p:nvPr/>
        </p:nvSpPr>
        <p:spPr>
          <a:xfrm>
            <a:off x="6215063" y="3415745"/>
            <a:ext cx="441127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7200"/>
              </a:lnSpc>
              <a:buNone/>
            </a:pPr>
            <a:r>
              <a:rPr lang="en-US" sz="750" dirty="0">
                <a:solidFill>
                  <a:srgbClr val="C7C7C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contexto.</a:t>
            </a:r>
            <a:endParaRPr lang="en-US" sz="750" dirty="0"/>
          </a:p>
        </p:txBody>
      </p:sp>
      <p:sp>
        <p:nvSpPr>
          <p:cNvPr id="83" name="Shape 80"/>
          <p:cNvSpPr/>
          <p:nvPr/>
        </p:nvSpPr>
        <p:spPr>
          <a:xfrm>
            <a:off x="457200" y="4178871"/>
            <a:ext cx="8229600" cy="357188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4" name="Shape 81"/>
          <p:cNvSpPr/>
          <p:nvPr/>
        </p:nvSpPr>
        <p:spPr>
          <a:xfrm>
            <a:off x="457200" y="4178871"/>
            <a:ext cx="8229600" cy="21431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5" name="Text 82"/>
          <p:cNvSpPr/>
          <p:nvPr/>
        </p:nvSpPr>
        <p:spPr>
          <a:xfrm>
            <a:off x="2807494" y="4282455"/>
            <a:ext cx="2918222" cy="1500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DE80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SMS: “Preciso de ajuda. Última localização:</a:t>
            </a:r>
            <a:endParaRPr lang="en-US" sz="800" dirty="0"/>
          </a:p>
        </p:txBody>
      </p:sp>
      <p:sp>
        <p:nvSpPr>
          <p:cNvPr id="86" name="Text 83"/>
          <p:cNvSpPr/>
          <p:nvPr/>
        </p:nvSpPr>
        <p:spPr>
          <a:xfrm>
            <a:off x="5725716" y="4282455"/>
            <a:ext cx="542925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DE80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lat, lon</a:t>
            </a:r>
            <a:endParaRPr lang="en-US" sz="800" dirty="0"/>
          </a:p>
        </p:txBody>
      </p:sp>
      <p:sp>
        <p:nvSpPr>
          <p:cNvPr id="87" name="Text 84"/>
          <p:cNvSpPr/>
          <p:nvPr/>
        </p:nvSpPr>
        <p:spPr>
          <a:xfrm>
            <a:off x="6268641" y="4282455"/>
            <a:ext cx="6786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DE80"/>
                </a:solidFill>
                <a:latin typeface="JetBrains Mono Bold" pitchFamily="34" charset="0"/>
                <a:ea typeface="JetBrains Mono Bold" pitchFamily="34" charset="-122"/>
                <a:cs typeface="JetBrains Mono Bold" pitchFamily="34" charset="-120"/>
              </a:rPr>
              <a:t>”</a:t>
            </a:r>
            <a:endParaRPr lang="en-US" sz="800" dirty="0"/>
          </a:p>
        </p:txBody>
      </p:sp>
      <p:sp>
        <p:nvSpPr>
          <p:cNvPr id="88" name="Shape 85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9" name="Shape 86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0" name="Text 87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91" name="Text 88"/>
          <p:cNvSpPr/>
          <p:nvPr/>
        </p:nvSpPr>
        <p:spPr>
          <a:xfrm>
            <a:off x="8409980" y="4797028"/>
            <a:ext cx="27682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12</a:t>
            </a:r>
            <a:endParaRPr lang="en-US" sz="750" dirty="0"/>
          </a:p>
        </p:txBody>
      </p:sp>
      <p:pic>
        <p:nvPicPr>
          <p:cNvPr id="93" name="Imagem 92">
            <a:extLst>
              <a:ext uri="{FF2B5EF4-FFF2-40B4-BE49-F238E27FC236}">
                <a16:creationId xmlns:a16="http://schemas.microsoft.com/office/drawing/2014/main" id="{F8BE39BA-7266-B03C-C075-941A5F7C63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6450" y="1459467"/>
            <a:ext cx="2840417" cy="137615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73261"/>
            <a:ext cx="2190062" cy="312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8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Qualidade e futuro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7958333" y="573286"/>
            <a:ext cx="728467" cy="1125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b="1" kern="0" spc="2" dirty="0">
                <a:solidFill>
                  <a:srgbClr val="FF6B3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CONCLUSÃO</a:t>
            </a:r>
            <a:endParaRPr lang="en-US" sz="650" dirty="0"/>
          </a:p>
        </p:txBody>
      </p:sp>
      <p:sp>
        <p:nvSpPr>
          <p:cNvPr id="5" name="Shape 2"/>
          <p:cNvSpPr/>
          <p:nvPr/>
        </p:nvSpPr>
        <p:spPr>
          <a:xfrm>
            <a:off x="457200" y="914400"/>
            <a:ext cx="2464594" cy="2650331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457200" y="914400"/>
            <a:ext cx="2464594" cy="28575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614363" y="1071563"/>
            <a:ext cx="2150269" cy="188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Quality checklist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4363" y="1488746"/>
            <a:ext cx="157163" cy="157163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6"/>
          <p:cNvSpPr/>
          <p:nvPr/>
        </p:nvSpPr>
        <p:spPr>
          <a:xfrm>
            <a:off x="614363" y="1488746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✓</a:t>
            </a:r>
            <a:endParaRPr lang="en-US" sz="650" dirty="0"/>
          </a:p>
        </p:txBody>
      </p:sp>
      <p:sp>
        <p:nvSpPr>
          <p:cNvPr id="10" name="Text 7"/>
          <p:cNvSpPr/>
          <p:nvPr/>
        </p:nvSpPr>
        <p:spPr>
          <a:xfrm>
            <a:off x="857250" y="1503034"/>
            <a:ext cx="603647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Min SDK 24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14363" y="1820931"/>
            <a:ext cx="157163" cy="157163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/>
          <p:nvPr/>
        </p:nvSpPr>
        <p:spPr>
          <a:xfrm>
            <a:off x="614363" y="182093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✓</a:t>
            </a:r>
            <a:endParaRPr lang="en-US" sz="650" dirty="0"/>
          </a:p>
        </p:txBody>
      </p:sp>
      <p:sp>
        <p:nvSpPr>
          <p:cNvPr id="13" name="Text 10"/>
          <p:cNvSpPr/>
          <p:nvPr/>
        </p:nvSpPr>
        <p:spPr>
          <a:xfrm>
            <a:off x="857250" y="1835218"/>
            <a:ext cx="171092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Permissões pedidas em contexto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614363" y="2149543"/>
            <a:ext cx="157163" cy="157163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5" name="Text 12"/>
          <p:cNvSpPr/>
          <p:nvPr/>
        </p:nvSpPr>
        <p:spPr>
          <a:xfrm>
            <a:off x="614363" y="2149543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✓</a:t>
            </a:r>
            <a:endParaRPr lang="en-US" sz="650" dirty="0"/>
          </a:p>
        </p:txBody>
      </p:sp>
      <p:sp>
        <p:nvSpPr>
          <p:cNvPr id="16" name="Text 13"/>
          <p:cNvSpPr/>
          <p:nvPr/>
        </p:nvSpPr>
        <p:spPr>
          <a:xfrm>
            <a:off x="857250" y="2163831"/>
            <a:ext cx="131087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Estados de loading e erro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4363" y="2478156"/>
            <a:ext cx="157163" cy="157163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/>
          <p:nvPr/>
        </p:nvSpPr>
        <p:spPr>
          <a:xfrm>
            <a:off x="614363" y="2478156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✓</a:t>
            </a:r>
            <a:endParaRPr lang="en-US" sz="650" dirty="0"/>
          </a:p>
        </p:txBody>
      </p:sp>
      <p:sp>
        <p:nvSpPr>
          <p:cNvPr id="19" name="Text 16"/>
          <p:cNvSpPr/>
          <p:nvPr/>
        </p:nvSpPr>
        <p:spPr>
          <a:xfrm>
            <a:off x="857250" y="2492443"/>
            <a:ext cx="117871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Rotação suportada por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2035969" y="2505308"/>
            <a:ext cx="523280" cy="102859"/>
          </a:xfrm>
          <a:prstGeom prst="rect">
            <a:avLst/>
          </a:prstGeom>
          <a:solidFill>
            <a:srgbClr val="24242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Text 18"/>
          <p:cNvSpPr/>
          <p:nvPr/>
        </p:nvSpPr>
        <p:spPr>
          <a:xfrm>
            <a:off x="2035969" y="2505308"/>
            <a:ext cx="523280" cy="102859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StateFlow</a:t>
            </a:r>
            <a:endParaRPr lang="en-US" sz="600" dirty="0"/>
          </a:p>
        </p:txBody>
      </p:sp>
      <p:sp>
        <p:nvSpPr>
          <p:cNvPr id="22" name="Shape 19"/>
          <p:cNvSpPr/>
          <p:nvPr/>
        </p:nvSpPr>
        <p:spPr>
          <a:xfrm>
            <a:off x="614363" y="2806768"/>
            <a:ext cx="157163" cy="157163"/>
          </a:xfrm>
          <a:prstGeom prst="rect">
            <a:avLst/>
          </a:prstGeom>
          <a:solidFill>
            <a:srgbClr val="4ADE8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Text 20"/>
          <p:cNvSpPr/>
          <p:nvPr/>
        </p:nvSpPr>
        <p:spPr>
          <a:xfrm>
            <a:off x="614363" y="2806768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0E0E12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✓</a:t>
            </a:r>
            <a:endParaRPr lang="en-US" sz="650" dirty="0"/>
          </a:p>
        </p:txBody>
      </p:sp>
      <p:sp>
        <p:nvSpPr>
          <p:cNvPr id="24" name="Text 21"/>
          <p:cNvSpPr/>
          <p:nvPr/>
        </p:nvSpPr>
        <p:spPr>
          <a:xfrm>
            <a:off x="857250" y="2821056"/>
            <a:ext cx="120550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Tema escuro Material 3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093244" y="914400"/>
            <a:ext cx="2464594" cy="2650331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3093244" y="914400"/>
            <a:ext cx="2464594" cy="28575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/>
          <p:nvPr/>
        </p:nvSpPr>
        <p:spPr>
          <a:xfrm>
            <a:off x="3250406" y="1071563"/>
            <a:ext cx="2150269" cy="188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Limitações honestas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3250406" y="1488746"/>
            <a:ext cx="157163" cy="157163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9" name="Text 26"/>
          <p:cNvSpPr/>
          <p:nvPr/>
        </p:nvSpPr>
        <p:spPr>
          <a:xfrm>
            <a:off x="3250406" y="1488746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!</a:t>
            </a:r>
            <a:endParaRPr lang="en-US" sz="650" dirty="0"/>
          </a:p>
        </p:txBody>
      </p:sp>
      <p:sp>
        <p:nvSpPr>
          <p:cNvPr id="30" name="Text 27"/>
          <p:cNvSpPr/>
          <p:nvPr/>
        </p:nvSpPr>
        <p:spPr>
          <a:xfrm>
            <a:off x="3493294" y="1503034"/>
            <a:ext cx="1341239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Sem cache offline custom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3250406" y="1820931"/>
            <a:ext cx="157163" cy="157163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/>
          <p:nvPr/>
        </p:nvSpPr>
        <p:spPr>
          <a:xfrm>
            <a:off x="3250406" y="1820931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!</a:t>
            </a:r>
            <a:endParaRPr lang="en-US" sz="650" dirty="0"/>
          </a:p>
        </p:txBody>
      </p:sp>
      <p:sp>
        <p:nvSpPr>
          <p:cNvPr id="33" name="Text 30"/>
          <p:cNvSpPr/>
          <p:nvPr/>
        </p:nvSpPr>
        <p:spPr>
          <a:xfrm>
            <a:off x="3493294" y="1835218"/>
            <a:ext cx="1582341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Sem Health Connect integrado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3250406" y="2149543"/>
            <a:ext cx="157163" cy="157163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5" name="Text 32"/>
          <p:cNvSpPr/>
          <p:nvPr/>
        </p:nvSpPr>
        <p:spPr>
          <a:xfrm>
            <a:off x="3250406" y="2149543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!</a:t>
            </a:r>
            <a:endParaRPr lang="en-US" sz="650" dirty="0"/>
          </a:p>
        </p:txBody>
      </p:sp>
      <p:sp>
        <p:nvSpPr>
          <p:cNvPr id="36" name="Text 33"/>
          <p:cNvSpPr/>
          <p:nvPr/>
        </p:nvSpPr>
        <p:spPr>
          <a:xfrm>
            <a:off x="3493294" y="2163831"/>
            <a:ext cx="1410891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Sem testes instrumentados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3250406" y="2478156"/>
            <a:ext cx="157163" cy="157163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8" name="Text 35"/>
          <p:cNvSpPr/>
          <p:nvPr/>
        </p:nvSpPr>
        <p:spPr>
          <a:xfrm>
            <a:off x="3250406" y="2478156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!</a:t>
            </a:r>
            <a:endParaRPr lang="en-US" sz="650" dirty="0"/>
          </a:p>
        </p:txBody>
      </p:sp>
      <p:sp>
        <p:nvSpPr>
          <p:cNvPr id="39" name="Text 36"/>
          <p:cNvSpPr/>
          <p:nvPr/>
        </p:nvSpPr>
        <p:spPr>
          <a:xfrm>
            <a:off x="3493294" y="2428149"/>
            <a:ext cx="190738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Deteção por sensibilidade configurada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250406" y="2806768"/>
            <a:ext cx="157163" cy="157163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1" name="Text 38"/>
          <p:cNvSpPr/>
          <p:nvPr/>
        </p:nvSpPr>
        <p:spPr>
          <a:xfrm>
            <a:off x="3250406" y="2806768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650" b="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!</a:t>
            </a:r>
            <a:endParaRPr lang="en-US" sz="650" dirty="0"/>
          </a:p>
        </p:txBody>
      </p:sp>
      <p:sp>
        <p:nvSpPr>
          <p:cNvPr id="42" name="Text 39"/>
          <p:cNvSpPr/>
          <p:nvPr/>
        </p:nvSpPr>
        <p:spPr>
          <a:xfrm>
            <a:off x="3493294" y="2821056"/>
            <a:ext cx="1668066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Validação real de queda limitada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5729288" y="914400"/>
            <a:ext cx="2957513" cy="2650331"/>
          </a:xfrm>
          <a:prstGeom prst="rect">
            <a:avLst/>
          </a:prstGeom>
          <a:solidFill>
            <a:srgbClr val="15151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4" name="Shape 41"/>
          <p:cNvSpPr/>
          <p:nvPr/>
        </p:nvSpPr>
        <p:spPr>
          <a:xfrm>
            <a:off x="5729288" y="914400"/>
            <a:ext cx="2957513" cy="285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5" name="Text 42"/>
          <p:cNvSpPr/>
          <p:nvPr/>
        </p:nvSpPr>
        <p:spPr>
          <a:xfrm>
            <a:off x="5886450" y="1071563"/>
            <a:ext cx="2643188" cy="188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12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5886450" y="1403021"/>
            <a:ext cx="2643188" cy="614363"/>
          </a:xfrm>
          <a:prstGeom prst="rect">
            <a:avLst/>
          </a:prstGeom>
          <a:solidFill>
            <a:srgbClr val="21171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7" name="Shape 44"/>
          <p:cNvSpPr/>
          <p:nvPr/>
        </p:nvSpPr>
        <p:spPr>
          <a:xfrm>
            <a:off x="5886450" y="1403021"/>
            <a:ext cx="2643188" cy="14288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8" name="Text 45"/>
          <p:cNvSpPr/>
          <p:nvPr/>
        </p:nvSpPr>
        <p:spPr>
          <a:xfrm>
            <a:off x="5986463" y="1476245"/>
            <a:ext cx="110728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BLE GATT + wearables</a:t>
            </a:r>
            <a:endParaRPr lang="en-US" sz="700" dirty="0"/>
          </a:p>
        </p:txBody>
      </p:sp>
      <p:sp>
        <p:nvSpPr>
          <p:cNvPr id="49" name="Text 46"/>
          <p:cNvSpPr/>
          <p:nvPr/>
        </p:nvSpPr>
        <p:spPr>
          <a:xfrm>
            <a:off x="5986463" y="1601260"/>
            <a:ext cx="143768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Polar H10, Heart Rate Service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7424142" y="1610190"/>
            <a:ext cx="367903" cy="112514"/>
          </a:xfrm>
          <a:prstGeom prst="rect">
            <a:avLst/>
          </a:prstGeom>
          <a:solidFill>
            <a:srgbClr val="24242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1" name="Text 48"/>
          <p:cNvSpPr/>
          <p:nvPr/>
        </p:nvSpPr>
        <p:spPr>
          <a:xfrm>
            <a:off x="7424142" y="1610190"/>
            <a:ext cx="367903" cy="112514"/>
          </a:xfrm>
          <a:prstGeom prst="rect">
            <a:avLst/>
          </a:prstGeom>
          <a:noFill/>
          <a:ln/>
        </p:spPr>
        <p:txBody>
          <a:bodyPr wrap="none" lIns="34036" tIns="0" rIns="34036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00" dirty="0">
                <a:solidFill>
                  <a:srgbClr val="F5F5F7"/>
                </a:solidFill>
                <a:latin typeface="JetBrains Mono SemiBold" pitchFamily="34" charset="0"/>
                <a:ea typeface="JetBrains Mono SemiBold" pitchFamily="34" charset="-122"/>
                <a:cs typeface="JetBrains Mono SemiBold" pitchFamily="34" charset="-120"/>
              </a:rPr>
              <a:t>0x180D</a:t>
            </a:r>
            <a:endParaRPr lang="en-US" sz="600" dirty="0"/>
          </a:p>
        </p:txBody>
      </p:sp>
      <p:sp>
        <p:nvSpPr>
          <p:cNvPr id="52" name="Text 49"/>
          <p:cNvSpPr/>
          <p:nvPr/>
        </p:nvSpPr>
        <p:spPr>
          <a:xfrm>
            <a:off x="7792045" y="1601260"/>
            <a:ext cx="575072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 VitalBand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5986463" y="1726276"/>
            <a:ext cx="171985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F5F5F7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para queda por hardware dedicado.</a:t>
            </a:r>
            <a:endParaRPr lang="en-US" sz="750" dirty="0"/>
          </a:p>
        </p:txBody>
      </p:sp>
      <p:sp>
        <p:nvSpPr>
          <p:cNvPr id="54" name="Shape 51"/>
          <p:cNvSpPr/>
          <p:nvPr/>
        </p:nvSpPr>
        <p:spPr>
          <a:xfrm>
            <a:off x="5886450" y="2103109"/>
            <a:ext cx="2643188" cy="342900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5" name="Shape 52"/>
          <p:cNvSpPr/>
          <p:nvPr/>
        </p:nvSpPr>
        <p:spPr>
          <a:xfrm>
            <a:off x="5886450" y="2103109"/>
            <a:ext cx="2643188" cy="14288"/>
          </a:xfrm>
          <a:prstGeom prst="rect">
            <a:avLst/>
          </a:prstGeom>
          <a:solidFill>
            <a:srgbClr val="30303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6" name="Text 53"/>
          <p:cNvSpPr/>
          <p:nvPr/>
        </p:nvSpPr>
        <p:spPr>
          <a:xfrm>
            <a:off x="5886450" y="2103109"/>
            <a:ext cx="2643188" cy="342900"/>
          </a:xfrm>
          <a:prstGeom prst="rect">
            <a:avLst/>
          </a:prstGeom>
          <a:noFill/>
          <a:ln/>
        </p:spPr>
        <p:txBody>
          <a:bodyPr wrap="square" lIns="119126" tIns="85090" rIns="102108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Kotlin Multiplatform</a:t>
            </a:r>
            <a:r>
              <a:rPr lang="en-US" sz="75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 para versão iOS.</a:t>
            </a:r>
            <a:endParaRPr lang="en-US" sz="700" dirty="0"/>
          </a:p>
        </p:txBody>
      </p:sp>
      <p:sp>
        <p:nvSpPr>
          <p:cNvPr id="57" name="Shape 54"/>
          <p:cNvSpPr/>
          <p:nvPr/>
        </p:nvSpPr>
        <p:spPr>
          <a:xfrm>
            <a:off x="5886450" y="2531734"/>
            <a:ext cx="2643188" cy="342900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8" name="Shape 55"/>
          <p:cNvSpPr/>
          <p:nvPr/>
        </p:nvSpPr>
        <p:spPr>
          <a:xfrm>
            <a:off x="5886450" y="2531734"/>
            <a:ext cx="2643188" cy="14288"/>
          </a:xfrm>
          <a:prstGeom prst="rect">
            <a:avLst/>
          </a:prstGeom>
          <a:solidFill>
            <a:srgbClr val="30303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9" name="Text 56"/>
          <p:cNvSpPr/>
          <p:nvPr/>
        </p:nvSpPr>
        <p:spPr>
          <a:xfrm>
            <a:off x="5886450" y="2531734"/>
            <a:ext cx="2643188" cy="342900"/>
          </a:xfrm>
          <a:prstGeom prst="rect">
            <a:avLst/>
          </a:prstGeom>
          <a:noFill/>
          <a:ln/>
        </p:spPr>
        <p:txBody>
          <a:bodyPr wrap="square" lIns="119126" tIns="85090" rIns="102108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Health Connect</a:t>
            </a:r>
            <a:r>
              <a:rPr lang="en-US" sz="75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 como fonte unificada de saúde.</a:t>
            </a:r>
            <a:endParaRPr lang="en-US" sz="700" dirty="0"/>
          </a:p>
        </p:txBody>
      </p:sp>
      <p:sp>
        <p:nvSpPr>
          <p:cNvPr id="60" name="Shape 57"/>
          <p:cNvSpPr/>
          <p:nvPr/>
        </p:nvSpPr>
        <p:spPr>
          <a:xfrm>
            <a:off x="5886450" y="2960359"/>
            <a:ext cx="2643188" cy="342900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1" name="Shape 58"/>
          <p:cNvSpPr/>
          <p:nvPr/>
        </p:nvSpPr>
        <p:spPr>
          <a:xfrm>
            <a:off x="5886450" y="2960359"/>
            <a:ext cx="2643188" cy="14288"/>
          </a:xfrm>
          <a:prstGeom prst="rect">
            <a:avLst/>
          </a:prstGeom>
          <a:solidFill>
            <a:srgbClr val="30303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2" name="Text 59"/>
          <p:cNvSpPr/>
          <p:nvPr/>
        </p:nvSpPr>
        <p:spPr>
          <a:xfrm>
            <a:off x="5886450" y="2960359"/>
            <a:ext cx="2643188" cy="342900"/>
          </a:xfrm>
          <a:prstGeom prst="rect">
            <a:avLst/>
          </a:prstGeom>
          <a:noFill/>
          <a:ln/>
        </p:spPr>
        <p:txBody>
          <a:bodyPr wrap="square" lIns="119126" tIns="85090" rIns="102108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Gemini Nano</a:t>
            </a:r>
            <a:r>
              <a:rPr lang="en-US" sz="75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 para classificar atividade.</a:t>
            </a:r>
            <a:endParaRPr lang="en-US" sz="700" dirty="0"/>
          </a:p>
        </p:txBody>
      </p:sp>
      <p:sp>
        <p:nvSpPr>
          <p:cNvPr id="63" name="Shape 60"/>
          <p:cNvSpPr/>
          <p:nvPr/>
        </p:nvSpPr>
        <p:spPr>
          <a:xfrm>
            <a:off x="5886450" y="3388984"/>
            <a:ext cx="2643188" cy="342900"/>
          </a:xfrm>
          <a:prstGeom prst="rect">
            <a:avLst/>
          </a:prstGeom>
          <a:solidFill>
            <a:srgbClr val="1A1A22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4" name="Shape 61"/>
          <p:cNvSpPr/>
          <p:nvPr/>
        </p:nvSpPr>
        <p:spPr>
          <a:xfrm>
            <a:off x="5886450" y="3388984"/>
            <a:ext cx="2643188" cy="14288"/>
          </a:xfrm>
          <a:prstGeom prst="rect">
            <a:avLst/>
          </a:prstGeom>
          <a:solidFill>
            <a:srgbClr val="303039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5" name="Text 62"/>
          <p:cNvSpPr/>
          <p:nvPr/>
        </p:nvSpPr>
        <p:spPr>
          <a:xfrm>
            <a:off x="5886450" y="3388984"/>
            <a:ext cx="2643188" cy="342900"/>
          </a:xfrm>
          <a:prstGeom prst="rect">
            <a:avLst/>
          </a:prstGeom>
          <a:noFill/>
          <a:ln/>
        </p:spPr>
        <p:txBody>
          <a:bodyPr wrap="square" lIns="119126" tIns="85090" rIns="102108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3B82F6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WorkManager</a:t>
            </a:r>
            <a:r>
              <a:rPr lang="en-US" sz="750" dirty="0">
                <a:solidFill>
                  <a:srgbClr val="D4D4D8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 para sync diferido.</a:t>
            </a:r>
            <a:endParaRPr lang="en-US" sz="700" dirty="0"/>
          </a:p>
        </p:txBody>
      </p:sp>
      <p:sp>
        <p:nvSpPr>
          <p:cNvPr id="66" name="Shape 63"/>
          <p:cNvSpPr/>
          <p:nvPr/>
        </p:nvSpPr>
        <p:spPr>
          <a:xfrm>
            <a:off x="457200" y="3768328"/>
            <a:ext cx="8229600" cy="800100"/>
          </a:xfrm>
          <a:prstGeom prst="rect">
            <a:avLst/>
          </a:prstGeom>
          <a:solidFill>
            <a:srgbClr val="111116"/>
          </a:solidFill>
          <a:ln/>
        </p:spPr>
        <p:txBody>
          <a:bodyPr/>
          <a:lstStyle/>
          <a:p>
            <a:endParaRPr lang="es-ES" u="sng" dirty="0"/>
          </a:p>
        </p:txBody>
      </p:sp>
      <p:sp>
        <p:nvSpPr>
          <p:cNvPr id="67" name="Shape 64"/>
          <p:cNvSpPr/>
          <p:nvPr/>
        </p:nvSpPr>
        <p:spPr>
          <a:xfrm>
            <a:off x="457200" y="3768328"/>
            <a:ext cx="8229600" cy="28575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8" name="Text 65"/>
          <p:cNvSpPr/>
          <p:nvPr/>
        </p:nvSpPr>
        <p:spPr>
          <a:xfrm>
            <a:off x="657225" y="4029968"/>
            <a:ext cx="5029200" cy="276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600" b="1" kern="0" spc="-1" dirty="0">
                <a:solidFill>
                  <a:srgbClr val="F5F5F7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Obrigado · Perguntas?</a:t>
            </a:r>
            <a:endParaRPr lang="en-US" sz="1600" dirty="0"/>
          </a:p>
        </p:txBody>
      </p:sp>
      <p:sp>
        <p:nvSpPr>
          <p:cNvPr id="69" name="Text 66"/>
          <p:cNvSpPr/>
          <p:nvPr/>
        </p:nvSpPr>
        <p:spPr>
          <a:xfrm>
            <a:off x="5686425" y="3991235"/>
            <a:ext cx="3000375" cy="11999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60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REPOSITÓRIO</a:t>
            </a:r>
            <a:endParaRPr lang="en-US" sz="600" dirty="0"/>
          </a:p>
        </p:txBody>
      </p:sp>
      <p:sp>
        <p:nvSpPr>
          <p:cNvPr id="70" name="Text 67"/>
          <p:cNvSpPr/>
          <p:nvPr/>
        </p:nvSpPr>
        <p:spPr>
          <a:xfrm>
            <a:off x="5686425" y="4168378"/>
            <a:ext cx="3000375" cy="97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12000"/>
              </a:lnSpc>
            </a:pPr>
            <a:r>
              <a:rPr lang="en-US" sz="600" b="1" kern="0" spc="1" dirty="0">
                <a:solidFill>
                  <a:srgbClr val="FF6B35"/>
                </a:solidFill>
                <a:latin typeface="Inter ExtraBold" pitchFamily="34" charset="0"/>
                <a:ea typeface="Inter ExtraBold" pitchFamily="34" charset="-122"/>
                <a:cs typeface="Inter ExtraBold" pitchFamily="34" charset="-120"/>
              </a:rPr>
              <a:t>https://github.com/Duarte-Lourenco/ICM_2025-2026</a:t>
            </a:r>
            <a:endParaRPr lang="en-US" sz="600" dirty="0"/>
          </a:p>
        </p:txBody>
      </p:sp>
      <p:sp>
        <p:nvSpPr>
          <p:cNvPr id="71" name="Shape 68"/>
          <p:cNvSpPr/>
          <p:nvPr/>
        </p:nvSpPr>
        <p:spPr>
          <a:xfrm>
            <a:off x="457200" y="45720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2" name="Shape 69"/>
          <p:cNvSpPr/>
          <p:nvPr/>
        </p:nvSpPr>
        <p:spPr>
          <a:xfrm>
            <a:off x="457200" y="4572000"/>
            <a:ext cx="8229600" cy="71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3" name="Text 70"/>
          <p:cNvSpPr/>
          <p:nvPr/>
        </p:nvSpPr>
        <p:spPr>
          <a:xfrm>
            <a:off x="457200" y="4797028"/>
            <a:ext cx="16805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VitalRoute · ICM 2025/26 · UA-DETI</a:t>
            </a:r>
            <a:endParaRPr lang="en-US" sz="750" dirty="0"/>
          </a:p>
        </p:txBody>
      </p:sp>
      <p:sp>
        <p:nvSpPr>
          <p:cNvPr id="74" name="Text 71"/>
          <p:cNvSpPr/>
          <p:nvPr/>
        </p:nvSpPr>
        <p:spPr>
          <a:xfrm>
            <a:off x="8390334" y="4797028"/>
            <a:ext cx="296466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7779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12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938</TotalTime>
  <Words>1278</Words>
  <Application>Microsoft Office PowerPoint</Application>
  <PresentationFormat>Apresentação no Ecrã (16:9)</PresentationFormat>
  <Paragraphs>326</Paragraphs>
  <Slides>12</Slides>
  <Notes>12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12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12</vt:i4>
      </vt:variant>
    </vt:vector>
  </HeadingPairs>
  <TitlesOfParts>
    <vt:vector size="25" baseType="lpstr">
      <vt:lpstr>Arial</vt:lpstr>
      <vt:lpstr>Courier New</vt:lpstr>
      <vt:lpstr>Inter</vt:lpstr>
      <vt:lpstr>Inter Bold</vt:lpstr>
      <vt:lpstr>Inter ExtraBold</vt:lpstr>
      <vt:lpstr>Inter Medium</vt:lpstr>
      <vt:lpstr>Inter SemiBold</vt:lpstr>
      <vt:lpstr>JetBrains Mono</vt:lpstr>
      <vt:lpstr>JetBrains Mono Bold</vt:lpstr>
      <vt:lpstr>JetBrains Mono SemiBold</vt:lpstr>
      <vt:lpstr>monospace</vt:lpstr>
      <vt:lpstr>SFMono-Regular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Duarte Lourenço</cp:lastModifiedBy>
  <cp:revision>6</cp:revision>
  <dcterms:created xsi:type="dcterms:W3CDTF">2026-05-18T22:26:57Z</dcterms:created>
  <dcterms:modified xsi:type="dcterms:W3CDTF">2026-05-19T14:10:31Z</dcterms:modified>
</cp:coreProperties>
</file>