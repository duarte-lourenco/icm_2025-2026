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706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458918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7144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14350" y="621506"/>
            <a:ext cx="4080504" cy="1375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800" b="1" kern="0" spc="2" dirty="0">
                <a:solidFill>
                  <a:srgbClr val="FF6B3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INTRODUÇÃO À COMPUTAÇÃO MÓVEL · 2025/26</a:t>
            </a:r>
            <a:endParaRPr lang="en-US" sz="800" dirty="0"/>
          </a:p>
        </p:txBody>
      </p:sp>
      <p:sp>
        <p:nvSpPr>
          <p:cNvPr id="4" name="Text 1"/>
          <p:cNvSpPr/>
          <p:nvPr/>
        </p:nvSpPr>
        <p:spPr>
          <a:xfrm>
            <a:off x="514350" y="1316236"/>
            <a:ext cx="4080504" cy="53890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73600"/>
              </a:lnSpc>
              <a:buNone/>
            </a:pPr>
            <a:r>
              <a:rPr lang="en-US" sz="4250" b="1" kern="0" spc="-4" dirty="0">
                <a:solidFill>
                  <a:srgbClr val="F5F5F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VitalRoute</a:t>
            </a:r>
            <a:endParaRPr lang="en-US" sz="4250" dirty="0"/>
          </a:p>
        </p:txBody>
      </p:sp>
      <p:sp>
        <p:nvSpPr>
          <p:cNvPr id="5" name="Text 2"/>
          <p:cNvSpPr/>
          <p:nvPr/>
        </p:nvSpPr>
        <p:spPr>
          <a:xfrm>
            <a:off x="514350" y="2569936"/>
            <a:ext cx="4071938" cy="5314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992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Fitness + segurança ativa para atletas ao ar livre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514350" y="3515757"/>
            <a:ext cx="2138406" cy="1825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37600"/>
              </a:lnSpc>
              <a:buNone/>
            </a:pPr>
            <a:r>
              <a:rPr lang="en-US" sz="900" dirty="0" err="1">
                <a:solidFill>
                  <a:srgbClr val="F5F5F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Autores</a:t>
            </a:r>
            <a:r>
              <a:rPr lang="en-US" sz="900" dirty="0">
                <a:solidFill>
                  <a:srgbClr val="F5F5F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:</a:t>
            </a:r>
            <a:r>
              <a:rPr lang="en-US" sz="950" dirty="0">
                <a:solidFill>
                  <a:srgbClr val="A1A1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Duarte Lourenço,  João Silva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14350" y="3736907"/>
            <a:ext cx="4080504" cy="22114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37600"/>
              </a:lnSpc>
              <a:buNone/>
            </a:pPr>
            <a:r>
              <a:rPr lang="en-US" sz="900" dirty="0">
                <a:solidFill>
                  <a:srgbClr val="F5F5F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Universidade:</a:t>
            </a:r>
            <a:r>
              <a:rPr lang="en-US" sz="950" dirty="0">
                <a:solidFill>
                  <a:srgbClr val="A1A1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Universidade de Aveiro · DETI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514350" y="3958056"/>
            <a:ext cx="4080504" cy="22114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37600"/>
              </a:lnSpc>
              <a:buNone/>
            </a:pPr>
            <a:r>
              <a:rPr lang="en-US" sz="900" dirty="0">
                <a:solidFill>
                  <a:srgbClr val="F5F5F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Data:</a:t>
            </a:r>
            <a:r>
              <a:rPr lang="en-US" sz="950" dirty="0">
                <a:solidFill>
                  <a:srgbClr val="A1A1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19 de maio de 2026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4937754" y="750094"/>
            <a:ext cx="3691868" cy="3643313"/>
          </a:xfrm>
          <a:prstGeom prst="rect">
            <a:avLst/>
          </a:prstGeom>
          <a:solidFill>
            <a:srgbClr val="FFFFFF">
              <a:alpha val="4000"/>
            </a:srgbClr>
          </a:solidFill>
          <a:ln w="9144">
            <a:solidFill>
              <a:srgbClr val="FF6B35">
                <a:alpha val="28000"/>
              </a:srgbClr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0" name="Shape 7"/>
          <p:cNvSpPr/>
          <p:nvPr/>
        </p:nvSpPr>
        <p:spPr>
          <a:xfrm>
            <a:off x="5890720" y="1035844"/>
            <a:ext cx="1785938" cy="3071813"/>
          </a:xfrm>
          <a:prstGeom prst="rect">
            <a:avLst/>
          </a:prstGeom>
          <a:solidFill>
            <a:srgbClr val="131318"/>
          </a:solidFill>
          <a:ln w="18288">
            <a:solidFill>
              <a:srgbClr val="2A2A33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1" name="Shape 8"/>
          <p:cNvSpPr/>
          <p:nvPr/>
        </p:nvSpPr>
        <p:spPr>
          <a:xfrm>
            <a:off x="6047882" y="1421606"/>
            <a:ext cx="1471613" cy="1943100"/>
          </a:xfrm>
          <a:prstGeom prst="rect">
            <a:avLst/>
          </a:prstGeom>
          <a:solidFill>
            <a:srgbClr val="101015"/>
          </a:solidFill>
          <a:ln w="9144">
            <a:solidFill>
              <a:srgbClr val="2F303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3" name="Text 10"/>
          <p:cNvSpPr/>
          <p:nvPr/>
        </p:nvSpPr>
        <p:spPr>
          <a:xfrm>
            <a:off x="6097888" y="3631763"/>
            <a:ext cx="1371600" cy="12311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 algn="ctr">
              <a:buNone/>
            </a:pPr>
            <a:endParaRPr lang="en-US" sz="800" dirty="0"/>
          </a:p>
        </p:txBody>
      </p:sp>
      <p:sp>
        <p:nvSpPr>
          <p:cNvPr id="14" name="Shape 11"/>
          <p:cNvSpPr/>
          <p:nvPr/>
        </p:nvSpPr>
        <p:spPr>
          <a:xfrm>
            <a:off x="514350" y="4564856"/>
            <a:ext cx="8115300" cy="571500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5" name="Shape 12"/>
          <p:cNvSpPr/>
          <p:nvPr/>
        </p:nvSpPr>
        <p:spPr>
          <a:xfrm>
            <a:off x="514350" y="4564856"/>
            <a:ext cx="8115300" cy="714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6" name="Text 13"/>
          <p:cNvSpPr/>
          <p:nvPr/>
        </p:nvSpPr>
        <p:spPr>
          <a:xfrm>
            <a:off x="514350" y="4789884"/>
            <a:ext cx="1680567" cy="121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7779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VitalRoute · ICM 2025/26 · UA-DETI</a:t>
            </a:r>
            <a:endParaRPr lang="en-US" sz="750" dirty="0"/>
          </a:p>
        </p:txBody>
      </p:sp>
      <p:sp>
        <p:nvSpPr>
          <p:cNvPr id="17" name="Text 14"/>
          <p:cNvSpPr/>
          <p:nvPr/>
        </p:nvSpPr>
        <p:spPr>
          <a:xfrm>
            <a:off x="8331398" y="4789884"/>
            <a:ext cx="298252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7779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/ 12</a:t>
            </a:r>
            <a:endParaRPr lang="en-US" sz="750" dirty="0"/>
          </a:p>
        </p:txBody>
      </p:sp>
      <p:pic>
        <p:nvPicPr>
          <p:cNvPr id="19" name="Imagem 18">
            <a:extLst>
              <a:ext uri="{FF2B5EF4-FFF2-40B4-BE49-F238E27FC236}">
                <a16:creationId xmlns:a16="http://schemas.microsoft.com/office/drawing/2014/main" id="{D1B59539-4954-194F-69D9-97814400184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14001" y="1406808"/>
            <a:ext cx="1539373" cy="2007071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373261"/>
            <a:ext cx="3323658" cy="3125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800" b="1" kern="0" spc="-1" dirty="0">
                <a:solidFill>
                  <a:srgbClr val="F5F5F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O problema que resolvemos</a:t>
            </a:r>
            <a:endParaRPr lang="en-US" sz="1800" dirty="0"/>
          </a:p>
        </p:txBody>
      </p:sp>
      <p:sp>
        <p:nvSpPr>
          <p:cNvPr id="4" name="Text 1"/>
          <p:cNvSpPr/>
          <p:nvPr/>
        </p:nvSpPr>
        <p:spPr>
          <a:xfrm>
            <a:off x="7288244" y="573286"/>
            <a:ext cx="1398556" cy="112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650" b="1" kern="0" spc="2" dirty="0">
                <a:solidFill>
                  <a:srgbClr val="FF6B3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PROBLEMA &amp; CONCEITO</a:t>
            </a:r>
            <a:endParaRPr lang="en-US" sz="650" dirty="0"/>
          </a:p>
        </p:txBody>
      </p:sp>
      <p:sp>
        <p:nvSpPr>
          <p:cNvPr id="5" name="Text 2"/>
          <p:cNvSpPr/>
          <p:nvPr/>
        </p:nvSpPr>
        <p:spPr>
          <a:xfrm>
            <a:off x="457200" y="1000125"/>
            <a:ext cx="4000500" cy="4457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Atletas ao ar livre precisam de métricas de treino e de segurança ativa no mesmo fluxo.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57200" y="1688771"/>
            <a:ext cx="2164556" cy="585788"/>
          </a:xfrm>
          <a:prstGeom prst="rect">
            <a:avLst/>
          </a:prstGeom>
          <a:solidFill>
            <a:srgbClr val="16161D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7" name="Shape 4"/>
          <p:cNvSpPr/>
          <p:nvPr/>
        </p:nvSpPr>
        <p:spPr>
          <a:xfrm>
            <a:off x="457200" y="1688771"/>
            <a:ext cx="2164556" cy="21431"/>
          </a:xfrm>
          <a:prstGeom prst="rect">
            <a:avLst/>
          </a:prstGeom>
          <a:solidFill>
            <a:srgbClr val="2F3038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8" name="Text 5"/>
          <p:cNvSpPr/>
          <p:nvPr/>
        </p:nvSpPr>
        <p:spPr>
          <a:xfrm>
            <a:off x="457200" y="1688771"/>
            <a:ext cx="2164556" cy="585788"/>
          </a:xfrm>
          <a:prstGeom prst="rect">
            <a:avLst/>
          </a:prstGeom>
          <a:noFill/>
          <a:ln/>
        </p:spPr>
        <p:txBody>
          <a:bodyPr wrap="square" lIns="153035" tIns="0" rIns="153035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00" dirty="0">
                <a:solidFill>
                  <a:srgbClr val="F5F5F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Ciclistas e corredores treinam sozinhos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2750344" y="1688771"/>
            <a:ext cx="2164556" cy="585788"/>
          </a:xfrm>
          <a:prstGeom prst="rect">
            <a:avLst/>
          </a:prstGeom>
          <a:solidFill>
            <a:srgbClr val="16161D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0" name="Shape 7"/>
          <p:cNvSpPr/>
          <p:nvPr/>
        </p:nvSpPr>
        <p:spPr>
          <a:xfrm>
            <a:off x="2750344" y="1688771"/>
            <a:ext cx="2164556" cy="21431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1" name="Text 8"/>
          <p:cNvSpPr/>
          <p:nvPr/>
        </p:nvSpPr>
        <p:spPr>
          <a:xfrm>
            <a:off x="2750344" y="1688771"/>
            <a:ext cx="2164556" cy="585788"/>
          </a:xfrm>
          <a:prstGeom prst="rect">
            <a:avLst/>
          </a:prstGeom>
          <a:noFill/>
          <a:ln/>
        </p:spPr>
        <p:txBody>
          <a:bodyPr wrap="square" lIns="153035" tIns="0" rIns="153035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00" dirty="0">
                <a:solidFill>
                  <a:srgbClr val="F5F5F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Acidentes sem testemunhas são críticos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457200" y="2403146"/>
            <a:ext cx="2164556" cy="585788"/>
          </a:xfrm>
          <a:prstGeom prst="rect">
            <a:avLst/>
          </a:prstGeom>
          <a:solidFill>
            <a:srgbClr val="16161D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3" name="Shape 10"/>
          <p:cNvSpPr/>
          <p:nvPr/>
        </p:nvSpPr>
        <p:spPr>
          <a:xfrm>
            <a:off x="457200" y="2403146"/>
            <a:ext cx="2164556" cy="21431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4" name="Text 11"/>
          <p:cNvSpPr/>
          <p:nvPr/>
        </p:nvSpPr>
        <p:spPr>
          <a:xfrm>
            <a:off x="457200" y="2403146"/>
            <a:ext cx="2164556" cy="585788"/>
          </a:xfrm>
          <a:prstGeom prst="rect">
            <a:avLst/>
          </a:prstGeom>
          <a:noFill/>
          <a:ln/>
        </p:spPr>
        <p:txBody>
          <a:bodyPr wrap="square" lIns="153035" tIns="0" rIns="153035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00" dirty="0">
                <a:solidFill>
                  <a:srgbClr val="F5F5F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Apps de fitness ignoram emergência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2750344" y="2403146"/>
            <a:ext cx="2164556" cy="585788"/>
          </a:xfrm>
          <a:prstGeom prst="rect">
            <a:avLst/>
          </a:prstGeom>
          <a:solidFill>
            <a:srgbClr val="16161D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6" name="Shape 13"/>
          <p:cNvSpPr/>
          <p:nvPr/>
        </p:nvSpPr>
        <p:spPr>
          <a:xfrm>
            <a:off x="2750344" y="2403146"/>
            <a:ext cx="2164556" cy="21431"/>
          </a:xfrm>
          <a:prstGeom prst="rect">
            <a:avLst/>
          </a:prstGeom>
          <a:solidFill>
            <a:srgbClr val="2F3038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7" name="Text 14"/>
          <p:cNvSpPr/>
          <p:nvPr/>
        </p:nvSpPr>
        <p:spPr>
          <a:xfrm>
            <a:off x="2750344" y="2403146"/>
            <a:ext cx="2164556" cy="585788"/>
          </a:xfrm>
          <a:prstGeom prst="rect">
            <a:avLst/>
          </a:prstGeom>
          <a:noFill/>
          <a:ln/>
        </p:spPr>
        <p:txBody>
          <a:bodyPr wrap="square" lIns="153035" tIns="0" rIns="153035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00" dirty="0">
                <a:solidFill>
                  <a:srgbClr val="F5F5F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Botões SOS ignoram contexto desportivo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457200" y="3260396"/>
            <a:ext cx="4457700" cy="614363"/>
          </a:xfrm>
          <a:prstGeom prst="rect">
            <a:avLst/>
          </a:prstGeom>
          <a:solidFill>
            <a:srgbClr val="251712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9" name="Shape 16"/>
          <p:cNvSpPr/>
          <p:nvPr/>
        </p:nvSpPr>
        <p:spPr>
          <a:xfrm>
            <a:off x="457200" y="3260396"/>
            <a:ext cx="4457700" cy="28575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0" name="Text 17"/>
          <p:cNvSpPr/>
          <p:nvPr/>
        </p:nvSpPr>
        <p:spPr>
          <a:xfrm>
            <a:off x="457200" y="3260396"/>
            <a:ext cx="4457700" cy="614363"/>
          </a:xfrm>
          <a:prstGeom prst="rect">
            <a:avLst/>
          </a:prstGeom>
          <a:noFill/>
          <a:ln/>
        </p:spPr>
        <p:txBody>
          <a:bodyPr wrap="square" lIns="204089" tIns="0" rIns="204089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5F5F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VitalRoute = fitness tracker + sistema automático de emergência numa única app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5329238" y="1028700"/>
            <a:ext cx="3357563" cy="3000375"/>
          </a:xfrm>
          <a:prstGeom prst="rect">
            <a:avLst/>
          </a:prstGeom>
          <a:solidFill>
            <a:srgbClr val="101015"/>
          </a:solidFill>
          <a:ln w="9144">
            <a:solidFill>
              <a:srgbClr val="6B7280"/>
            </a:solidFill>
            <a:prstDash val="dash"/>
          </a:ln>
        </p:spPr>
        <p:txBody>
          <a:bodyPr/>
          <a:lstStyle/>
          <a:p>
            <a:endParaRPr lang="es-ES"/>
          </a:p>
        </p:txBody>
      </p:sp>
      <p:sp>
        <p:nvSpPr>
          <p:cNvPr id="22" name="Text 19"/>
          <p:cNvSpPr/>
          <p:nvPr/>
        </p:nvSpPr>
        <p:spPr>
          <a:xfrm>
            <a:off x="6283263" y="1369479"/>
            <a:ext cx="1449484" cy="1285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750" b="1" kern="0" spc="1" dirty="0">
                <a:solidFill>
                  <a:srgbClr val="FF6B35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PLACEHOLDER VISUAL</a:t>
            </a:r>
            <a:endParaRPr lang="en-US" sz="750" dirty="0"/>
          </a:p>
        </p:txBody>
      </p:sp>
      <p:sp>
        <p:nvSpPr>
          <p:cNvPr id="23" name="Text 20"/>
          <p:cNvSpPr/>
          <p:nvPr/>
        </p:nvSpPr>
        <p:spPr>
          <a:xfrm>
            <a:off x="5865019" y="3341154"/>
            <a:ext cx="2286000" cy="3471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ct val="108000"/>
              </a:lnSpc>
              <a:buNone/>
            </a:pPr>
            <a:r>
              <a:rPr lang="en-US" sz="950" dirty="0">
                <a:solidFill>
                  <a:srgbClr val="A1A1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[INSERIR IMAGEM: ciclista sozinho, acidente ou split conceptual]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457200" y="4572000"/>
            <a:ext cx="8229600" cy="571500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5" name="Shape 22"/>
          <p:cNvSpPr/>
          <p:nvPr/>
        </p:nvSpPr>
        <p:spPr>
          <a:xfrm>
            <a:off x="457200" y="4572000"/>
            <a:ext cx="8229600" cy="714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6" name="Text 23"/>
          <p:cNvSpPr/>
          <p:nvPr/>
        </p:nvSpPr>
        <p:spPr>
          <a:xfrm>
            <a:off x="457200" y="4797028"/>
            <a:ext cx="1680567" cy="121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7779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VitalRoute · ICM 2025/26 · UA-DETI</a:t>
            </a:r>
            <a:endParaRPr lang="en-US" sz="750" dirty="0"/>
          </a:p>
        </p:txBody>
      </p:sp>
      <p:sp>
        <p:nvSpPr>
          <p:cNvPr id="27" name="Text 24"/>
          <p:cNvSpPr/>
          <p:nvPr/>
        </p:nvSpPr>
        <p:spPr>
          <a:xfrm>
            <a:off x="8368903" y="4797028"/>
            <a:ext cx="317897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7779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/ 12</a:t>
            </a:r>
            <a:endParaRPr lang="en-US" sz="750" dirty="0"/>
          </a:p>
        </p:txBody>
      </p:sp>
      <p:pic>
        <p:nvPicPr>
          <p:cNvPr id="31" name="Imagem 30">
            <a:extLst>
              <a:ext uri="{FF2B5EF4-FFF2-40B4-BE49-F238E27FC236}">
                <a16:creationId xmlns:a16="http://schemas.microsoft.com/office/drawing/2014/main" id="{25A2E379-E56B-6A32-C337-99FB9B706E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29238" y="1028700"/>
            <a:ext cx="3427900" cy="300637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373261"/>
            <a:ext cx="2149153" cy="3125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800" b="1" kern="0" spc="-1" dirty="0">
                <a:solidFill>
                  <a:srgbClr val="F5F5F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Como a Marta usa</a:t>
            </a:r>
            <a:endParaRPr lang="en-US" sz="1800" dirty="0"/>
          </a:p>
        </p:txBody>
      </p:sp>
      <p:sp>
        <p:nvSpPr>
          <p:cNvPr id="4" name="Text 1"/>
          <p:cNvSpPr/>
          <p:nvPr/>
        </p:nvSpPr>
        <p:spPr>
          <a:xfrm>
            <a:off x="7835745" y="573286"/>
            <a:ext cx="851055" cy="11251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650" b="1" kern="0" spc="2" dirty="0">
                <a:solidFill>
                  <a:srgbClr val="FF6B3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JOURNEY MAP</a:t>
            </a:r>
            <a:endParaRPr lang="en-US" sz="650" dirty="0"/>
          </a:p>
        </p:txBody>
      </p:sp>
      <p:sp>
        <p:nvSpPr>
          <p:cNvPr id="5" name="Shape 2"/>
          <p:cNvSpPr/>
          <p:nvPr/>
        </p:nvSpPr>
        <p:spPr>
          <a:xfrm>
            <a:off x="457200" y="957263"/>
            <a:ext cx="2357438" cy="3043238"/>
          </a:xfrm>
          <a:prstGeom prst="rect">
            <a:avLst/>
          </a:prstGeom>
          <a:solidFill>
            <a:srgbClr val="15151B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6" name="Shape 3"/>
          <p:cNvSpPr/>
          <p:nvPr/>
        </p:nvSpPr>
        <p:spPr>
          <a:xfrm>
            <a:off x="457200" y="957263"/>
            <a:ext cx="2357438" cy="28575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7" name="Shape 4"/>
          <p:cNvSpPr/>
          <p:nvPr/>
        </p:nvSpPr>
        <p:spPr>
          <a:xfrm>
            <a:off x="642938" y="1171575"/>
            <a:ext cx="685800" cy="685800"/>
          </a:xfrm>
          <a:prstGeom prst="rect">
            <a:avLst/>
          </a:prstGeom>
          <a:solidFill>
            <a:srgbClr val="241A15"/>
          </a:solidFill>
          <a:ln w="18288">
            <a:solidFill>
              <a:srgbClr val="FF6B35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8" name="Text 5"/>
          <p:cNvSpPr/>
          <p:nvPr/>
        </p:nvSpPr>
        <p:spPr>
          <a:xfrm>
            <a:off x="642938" y="1171575"/>
            <a:ext cx="685800" cy="68580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6B35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M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642938" y="2028825"/>
            <a:ext cx="1985963" cy="2589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500" b="1" kern="0" spc="-1" dirty="0">
                <a:solidFill>
                  <a:srgbClr val="F5F5F7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Marta, 34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42938" y="2359223"/>
            <a:ext cx="1985963" cy="7457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950" dirty="0">
                <a:solidFill>
                  <a:srgbClr val="D4D4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Ciclista de fim-de-semana. Sai sozinha duas vezes por semana e quer segurança sem interromper o treino.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642938" y="3319276"/>
            <a:ext cx="1985963" cy="31075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800" dirty="0">
                <a:solidFill>
                  <a:srgbClr val="A1A1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Touchpoints: app, SMS, contactos do telemóvel, mapas OSM.</a:t>
            </a:r>
            <a:endParaRPr lang="en-US" sz="800" dirty="0"/>
          </a:p>
        </p:txBody>
      </p:sp>
      <p:sp>
        <p:nvSpPr>
          <p:cNvPr id="12" name="Shape 9"/>
          <p:cNvSpPr/>
          <p:nvPr/>
        </p:nvSpPr>
        <p:spPr>
          <a:xfrm>
            <a:off x="3114675" y="957263"/>
            <a:ext cx="1771650" cy="1357313"/>
          </a:xfrm>
          <a:prstGeom prst="rect">
            <a:avLst/>
          </a:prstGeom>
          <a:solidFill>
            <a:srgbClr val="16161D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3" name="Shape 10"/>
          <p:cNvSpPr/>
          <p:nvPr/>
        </p:nvSpPr>
        <p:spPr>
          <a:xfrm>
            <a:off x="3114675" y="957263"/>
            <a:ext cx="1771650" cy="21431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4" name="Shape 11"/>
          <p:cNvSpPr/>
          <p:nvPr/>
        </p:nvSpPr>
        <p:spPr>
          <a:xfrm>
            <a:off x="3257550" y="1114425"/>
            <a:ext cx="242888" cy="242888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5" name="Text 12"/>
          <p:cNvSpPr/>
          <p:nvPr/>
        </p:nvSpPr>
        <p:spPr>
          <a:xfrm>
            <a:off x="3257550" y="1114425"/>
            <a:ext cx="242888" cy="242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 algn="ctr">
              <a:lnSpc>
                <a:spcPct val="94400"/>
              </a:lnSpc>
              <a:buNone/>
            </a:pPr>
            <a:r>
              <a:rPr lang="en-US" sz="800" b="1" dirty="0">
                <a:solidFill>
                  <a:srgbClr val="0E0E12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1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3571875" y="1151567"/>
            <a:ext cx="632222" cy="16857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94400"/>
              </a:lnSpc>
              <a:buNone/>
            </a:pPr>
            <a:r>
              <a:rPr lang="en-US" sz="1000" b="1" dirty="0">
                <a:solidFill>
                  <a:srgbClr val="F5F5F7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Abre app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3257550" y="1485900"/>
            <a:ext cx="1500188" cy="46286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850" dirty="0">
                <a:solidFill>
                  <a:srgbClr val="C7C7C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Consulta meteorologia e camada de mapa para ciclismo.</a:t>
            </a:r>
            <a:endParaRPr lang="en-US" sz="850" dirty="0"/>
          </a:p>
        </p:txBody>
      </p:sp>
      <p:sp>
        <p:nvSpPr>
          <p:cNvPr id="18" name="Shape 15"/>
          <p:cNvSpPr/>
          <p:nvPr/>
        </p:nvSpPr>
        <p:spPr>
          <a:xfrm>
            <a:off x="5014913" y="957263"/>
            <a:ext cx="1771650" cy="1357313"/>
          </a:xfrm>
          <a:prstGeom prst="rect">
            <a:avLst/>
          </a:prstGeom>
          <a:solidFill>
            <a:srgbClr val="16161D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9" name="Shape 16"/>
          <p:cNvSpPr/>
          <p:nvPr/>
        </p:nvSpPr>
        <p:spPr>
          <a:xfrm>
            <a:off x="5014913" y="957263"/>
            <a:ext cx="1771650" cy="21431"/>
          </a:xfrm>
          <a:prstGeom prst="rect">
            <a:avLst/>
          </a:prstGeom>
          <a:solidFill>
            <a:srgbClr val="2F3038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0" name="Shape 17"/>
          <p:cNvSpPr/>
          <p:nvPr/>
        </p:nvSpPr>
        <p:spPr>
          <a:xfrm>
            <a:off x="5157788" y="1161557"/>
            <a:ext cx="207364" cy="242888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1" name="Text 18"/>
          <p:cNvSpPr/>
          <p:nvPr/>
        </p:nvSpPr>
        <p:spPr>
          <a:xfrm>
            <a:off x="5157788" y="1161557"/>
            <a:ext cx="207364" cy="242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 algn="ctr">
              <a:lnSpc>
                <a:spcPct val="94400"/>
              </a:lnSpc>
              <a:buNone/>
            </a:pPr>
            <a:r>
              <a:rPr lang="en-US" sz="800" b="1" dirty="0">
                <a:solidFill>
                  <a:srgbClr val="0E0E12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2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5436589" y="1114425"/>
            <a:ext cx="1221386" cy="3371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94400"/>
              </a:lnSpc>
              <a:buNone/>
            </a:pPr>
            <a:r>
              <a:rPr lang="en-US" sz="1000" b="1" dirty="0">
                <a:solidFill>
                  <a:srgbClr val="F5F5F7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Confirma segurança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5157788" y="1580164"/>
            <a:ext cx="1500188" cy="3085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850" dirty="0">
                <a:solidFill>
                  <a:srgbClr val="C7C7C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Revê contactos de confiança antes de sair.</a:t>
            </a:r>
            <a:endParaRPr lang="en-US" sz="850" dirty="0"/>
          </a:p>
        </p:txBody>
      </p:sp>
      <p:sp>
        <p:nvSpPr>
          <p:cNvPr id="24" name="Shape 21"/>
          <p:cNvSpPr/>
          <p:nvPr/>
        </p:nvSpPr>
        <p:spPr>
          <a:xfrm>
            <a:off x="6915150" y="957263"/>
            <a:ext cx="1771650" cy="1357313"/>
          </a:xfrm>
          <a:prstGeom prst="rect">
            <a:avLst/>
          </a:prstGeom>
          <a:solidFill>
            <a:srgbClr val="16161D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5" name="Shape 22"/>
          <p:cNvSpPr/>
          <p:nvPr/>
        </p:nvSpPr>
        <p:spPr>
          <a:xfrm>
            <a:off x="6915150" y="957263"/>
            <a:ext cx="1771650" cy="21431"/>
          </a:xfrm>
          <a:prstGeom prst="rect">
            <a:avLst/>
          </a:prstGeom>
          <a:solidFill>
            <a:srgbClr val="4ADE80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6" name="Shape 23"/>
          <p:cNvSpPr/>
          <p:nvPr/>
        </p:nvSpPr>
        <p:spPr>
          <a:xfrm>
            <a:off x="7058025" y="1114425"/>
            <a:ext cx="242888" cy="242888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7" name="Text 24"/>
          <p:cNvSpPr/>
          <p:nvPr/>
        </p:nvSpPr>
        <p:spPr>
          <a:xfrm>
            <a:off x="7058025" y="1114425"/>
            <a:ext cx="242888" cy="242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 algn="ctr">
              <a:lnSpc>
                <a:spcPct val="94400"/>
              </a:lnSpc>
              <a:buNone/>
            </a:pPr>
            <a:r>
              <a:rPr lang="en-US" sz="800" b="1" dirty="0">
                <a:solidFill>
                  <a:srgbClr val="0E0E12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3</a:t>
            </a:r>
            <a:endParaRPr lang="en-US" sz="800" dirty="0"/>
          </a:p>
        </p:txBody>
      </p:sp>
      <p:sp>
        <p:nvSpPr>
          <p:cNvPr id="28" name="Text 25"/>
          <p:cNvSpPr/>
          <p:nvPr/>
        </p:nvSpPr>
        <p:spPr>
          <a:xfrm>
            <a:off x="7372350" y="1151567"/>
            <a:ext cx="1057275" cy="16857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94400"/>
              </a:lnSpc>
              <a:buNone/>
            </a:pPr>
            <a:r>
              <a:rPr lang="en-US" sz="1000" b="1" dirty="0">
                <a:solidFill>
                  <a:srgbClr val="F5F5F7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Inicia gravação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7058025" y="1485900"/>
            <a:ext cx="1500188" cy="46286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850" dirty="0">
                <a:solidFill>
                  <a:srgbClr val="C7C7C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Começa percurso, cronómetro e métricas em tempo real.</a:t>
            </a:r>
            <a:endParaRPr lang="en-US" sz="850" dirty="0"/>
          </a:p>
        </p:txBody>
      </p:sp>
      <p:sp>
        <p:nvSpPr>
          <p:cNvPr id="30" name="Shape 27"/>
          <p:cNvSpPr/>
          <p:nvPr/>
        </p:nvSpPr>
        <p:spPr>
          <a:xfrm>
            <a:off x="3114675" y="2443163"/>
            <a:ext cx="1771650" cy="1357313"/>
          </a:xfrm>
          <a:prstGeom prst="rect">
            <a:avLst/>
          </a:prstGeom>
          <a:solidFill>
            <a:srgbClr val="16161D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1" name="Shape 28"/>
          <p:cNvSpPr/>
          <p:nvPr/>
        </p:nvSpPr>
        <p:spPr>
          <a:xfrm>
            <a:off x="3114675" y="2443163"/>
            <a:ext cx="1771650" cy="21431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2" name="Shape 29"/>
          <p:cNvSpPr/>
          <p:nvPr/>
        </p:nvSpPr>
        <p:spPr>
          <a:xfrm>
            <a:off x="3257550" y="2600325"/>
            <a:ext cx="242888" cy="242888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3" name="Text 30"/>
          <p:cNvSpPr/>
          <p:nvPr/>
        </p:nvSpPr>
        <p:spPr>
          <a:xfrm>
            <a:off x="3257550" y="2600325"/>
            <a:ext cx="242888" cy="242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 algn="ctr">
              <a:lnSpc>
                <a:spcPct val="94400"/>
              </a:lnSpc>
              <a:buNone/>
            </a:pPr>
            <a:r>
              <a:rPr lang="en-US" sz="800" b="1" dirty="0">
                <a:solidFill>
                  <a:srgbClr val="0E0E12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4</a:t>
            </a:r>
            <a:endParaRPr lang="en-US" sz="800" dirty="0"/>
          </a:p>
        </p:txBody>
      </p:sp>
      <p:sp>
        <p:nvSpPr>
          <p:cNvPr id="34" name="Text 31"/>
          <p:cNvSpPr/>
          <p:nvPr/>
        </p:nvSpPr>
        <p:spPr>
          <a:xfrm>
            <a:off x="3571875" y="2637467"/>
            <a:ext cx="1107281" cy="16857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94400"/>
              </a:lnSpc>
              <a:buNone/>
            </a:pPr>
            <a:r>
              <a:rPr lang="en-US" sz="1000" b="1" dirty="0">
                <a:solidFill>
                  <a:srgbClr val="F5F5F7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Queda detetada</a:t>
            </a:r>
            <a:endParaRPr lang="en-US" sz="1000" dirty="0"/>
          </a:p>
        </p:txBody>
      </p:sp>
      <p:sp>
        <p:nvSpPr>
          <p:cNvPr id="35" name="Text 32"/>
          <p:cNvSpPr/>
          <p:nvPr/>
        </p:nvSpPr>
        <p:spPr>
          <a:xfrm>
            <a:off x="3257550" y="2971800"/>
            <a:ext cx="1500188" cy="46286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850" dirty="0">
                <a:solidFill>
                  <a:srgbClr val="C7C7C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sensibilidade configurada identifica impacto provável.</a:t>
            </a:r>
            <a:endParaRPr lang="en-US" sz="850" dirty="0"/>
          </a:p>
        </p:txBody>
      </p:sp>
      <p:sp>
        <p:nvSpPr>
          <p:cNvPr id="36" name="Shape 33"/>
          <p:cNvSpPr/>
          <p:nvPr/>
        </p:nvSpPr>
        <p:spPr>
          <a:xfrm>
            <a:off x="5014913" y="2443163"/>
            <a:ext cx="1771650" cy="1357313"/>
          </a:xfrm>
          <a:prstGeom prst="rect">
            <a:avLst/>
          </a:prstGeom>
          <a:solidFill>
            <a:srgbClr val="16161D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7" name="Shape 34"/>
          <p:cNvSpPr/>
          <p:nvPr/>
        </p:nvSpPr>
        <p:spPr>
          <a:xfrm>
            <a:off x="5014913" y="2443163"/>
            <a:ext cx="1771650" cy="21431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8" name="Shape 35"/>
          <p:cNvSpPr/>
          <p:nvPr/>
        </p:nvSpPr>
        <p:spPr>
          <a:xfrm>
            <a:off x="5157788" y="2600325"/>
            <a:ext cx="242888" cy="242888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9" name="Text 36"/>
          <p:cNvSpPr/>
          <p:nvPr/>
        </p:nvSpPr>
        <p:spPr>
          <a:xfrm>
            <a:off x="5157788" y="2600325"/>
            <a:ext cx="242888" cy="242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 algn="ctr">
              <a:lnSpc>
                <a:spcPct val="94400"/>
              </a:lnSpc>
              <a:buNone/>
            </a:pPr>
            <a:r>
              <a:rPr lang="en-US" sz="800" b="1" dirty="0">
                <a:solidFill>
                  <a:srgbClr val="0E0E12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5</a:t>
            </a:r>
            <a:endParaRPr lang="en-US" sz="800" dirty="0"/>
          </a:p>
        </p:txBody>
      </p:sp>
      <p:sp>
        <p:nvSpPr>
          <p:cNvPr id="40" name="Text 37"/>
          <p:cNvSpPr/>
          <p:nvPr/>
        </p:nvSpPr>
        <p:spPr>
          <a:xfrm>
            <a:off x="5472113" y="2637467"/>
            <a:ext cx="896541" cy="16857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94400"/>
              </a:lnSpc>
              <a:buNone/>
            </a:pPr>
            <a:r>
              <a:rPr lang="en-US" sz="1000" b="1" dirty="0">
                <a:solidFill>
                  <a:srgbClr val="F5F5F7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SOS aparece</a:t>
            </a:r>
            <a:endParaRPr lang="en-US" sz="1000" dirty="0"/>
          </a:p>
        </p:txBody>
      </p:sp>
      <p:sp>
        <p:nvSpPr>
          <p:cNvPr id="41" name="Text 38"/>
          <p:cNvSpPr/>
          <p:nvPr/>
        </p:nvSpPr>
        <p:spPr>
          <a:xfrm>
            <a:off x="5157788" y="2971800"/>
            <a:ext cx="1500188" cy="3085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850" dirty="0">
                <a:solidFill>
                  <a:srgbClr val="C7C7C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Slider dá 10 segundos para cancelar falso positivo.</a:t>
            </a:r>
            <a:endParaRPr lang="en-US" sz="850" dirty="0"/>
          </a:p>
        </p:txBody>
      </p:sp>
      <p:sp>
        <p:nvSpPr>
          <p:cNvPr id="42" name="Shape 39"/>
          <p:cNvSpPr/>
          <p:nvPr/>
        </p:nvSpPr>
        <p:spPr>
          <a:xfrm>
            <a:off x="6915150" y="2443163"/>
            <a:ext cx="1771650" cy="1357313"/>
          </a:xfrm>
          <a:prstGeom prst="rect">
            <a:avLst/>
          </a:prstGeom>
          <a:solidFill>
            <a:srgbClr val="16161D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43" name="Shape 40"/>
          <p:cNvSpPr/>
          <p:nvPr/>
        </p:nvSpPr>
        <p:spPr>
          <a:xfrm>
            <a:off x="6915150" y="2443163"/>
            <a:ext cx="1771650" cy="21431"/>
          </a:xfrm>
          <a:prstGeom prst="rect">
            <a:avLst/>
          </a:prstGeom>
          <a:solidFill>
            <a:srgbClr val="4ADE80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44" name="Shape 41"/>
          <p:cNvSpPr/>
          <p:nvPr/>
        </p:nvSpPr>
        <p:spPr>
          <a:xfrm>
            <a:off x="7058025" y="2600325"/>
            <a:ext cx="242888" cy="242888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45" name="Text 42"/>
          <p:cNvSpPr/>
          <p:nvPr/>
        </p:nvSpPr>
        <p:spPr>
          <a:xfrm>
            <a:off x="7058025" y="2600325"/>
            <a:ext cx="242888" cy="242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 algn="ctr">
              <a:lnSpc>
                <a:spcPct val="94400"/>
              </a:lnSpc>
              <a:buNone/>
            </a:pPr>
            <a:r>
              <a:rPr lang="en-US" sz="800" b="1" dirty="0">
                <a:solidFill>
                  <a:srgbClr val="0E0E12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6</a:t>
            </a:r>
            <a:endParaRPr lang="en-US" sz="800" dirty="0"/>
          </a:p>
        </p:txBody>
      </p:sp>
      <p:sp>
        <p:nvSpPr>
          <p:cNvPr id="46" name="Text 43"/>
          <p:cNvSpPr/>
          <p:nvPr/>
        </p:nvSpPr>
        <p:spPr>
          <a:xfrm>
            <a:off x="7372350" y="2637467"/>
            <a:ext cx="1137642" cy="16857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94400"/>
              </a:lnSpc>
              <a:buNone/>
            </a:pPr>
            <a:r>
              <a:rPr lang="en-US" sz="1000" b="1" dirty="0">
                <a:solidFill>
                  <a:srgbClr val="F5F5F7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SMS automático</a:t>
            </a:r>
            <a:endParaRPr lang="en-US" sz="1000" dirty="0"/>
          </a:p>
        </p:txBody>
      </p:sp>
      <p:sp>
        <p:nvSpPr>
          <p:cNvPr id="47" name="Text 44"/>
          <p:cNvSpPr/>
          <p:nvPr/>
        </p:nvSpPr>
        <p:spPr>
          <a:xfrm>
            <a:off x="7058025" y="2971800"/>
            <a:ext cx="1500188" cy="3085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850" dirty="0">
                <a:solidFill>
                  <a:srgbClr val="C7C7C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Contactos recebem alerta com localização GPS.</a:t>
            </a:r>
            <a:endParaRPr lang="en-US" sz="850" dirty="0"/>
          </a:p>
        </p:txBody>
      </p:sp>
      <p:sp>
        <p:nvSpPr>
          <p:cNvPr id="48" name="Shape 45"/>
          <p:cNvSpPr/>
          <p:nvPr/>
        </p:nvSpPr>
        <p:spPr>
          <a:xfrm>
            <a:off x="457200" y="4572000"/>
            <a:ext cx="8229600" cy="571500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49" name="Shape 46"/>
          <p:cNvSpPr/>
          <p:nvPr/>
        </p:nvSpPr>
        <p:spPr>
          <a:xfrm>
            <a:off x="457200" y="4572000"/>
            <a:ext cx="8229600" cy="714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50" name="Text 47"/>
          <p:cNvSpPr/>
          <p:nvPr/>
        </p:nvSpPr>
        <p:spPr>
          <a:xfrm>
            <a:off x="457200" y="4797028"/>
            <a:ext cx="1680567" cy="121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7779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VitalRoute · ICM 2025/26 · UA-DETI</a:t>
            </a:r>
            <a:endParaRPr lang="en-US" sz="750" dirty="0"/>
          </a:p>
        </p:txBody>
      </p:sp>
      <p:sp>
        <p:nvSpPr>
          <p:cNvPr id="51" name="Text 48"/>
          <p:cNvSpPr/>
          <p:nvPr/>
        </p:nvSpPr>
        <p:spPr>
          <a:xfrm>
            <a:off x="8367117" y="4797028"/>
            <a:ext cx="319683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7779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 / 12</a:t>
            </a:r>
            <a:endParaRPr lang="en-US" sz="750" dirty="0"/>
          </a:p>
        </p:txBody>
      </p:sp>
      <p:pic>
        <p:nvPicPr>
          <p:cNvPr id="53" name="Imagem 52">
            <a:extLst>
              <a:ext uri="{FF2B5EF4-FFF2-40B4-BE49-F238E27FC236}">
                <a16:creationId xmlns:a16="http://schemas.microsoft.com/office/drawing/2014/main" id="{1F595C2F-208F-5491-05E6-D9734F6741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237" y="1197248"/>
            <a:ext cx="655201" cy="66012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373261"/>
            <a:ext cx="3009388" cy="3125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800" b="1" kern="0" spc="-1" dirty="0">
                <a:solidFill>
                  <a:srgbClr val="F5F5F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Cinco ecrãs, uma jornada</a:t>
            </a:r>
            <a:endParaRPr lang="en-US" sz="1800" dirty="0"/>
          </a:p>
        </p:txBody>
      </p:sp>
      <p:sp>
        <p:nvSpPr>
          <p:cNvPr id="4" name="Text 1"/>
          <p:cNvSpPr/>
          <p:nvPr/>
        </p:nvSpPr>
        <p:spPr>
          <a:xfrm>
            <a:off x="7896467" y="573286"/>
            <a:ext cx="790333" cy="11251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650" b="1" kern="0" spc="2" dirty="0">
                <a:solidFill>
                  <a:srgbClr val="FF6B3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TOUR DA APP</a:t>
            </a:r>
            <a:endParaRPr lang="en-US" sz="650" dirty="0"/>
          </a:p>
        </p:txBody>
      </p:sp>
      <p:sp>
        <p:nvSpPr>
          <p:cNvPr id="5" name="Text 2"/>
          <p:cNvSpPr/>
          <p:nvPr/>
        </p:nvSpPr>
        <p:spPr>
          <a:xfrm>
            <a:off x="457200" y="928688"/>
            <a:ext cx="6215063" cy="39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05600"/>
              </a:lnSpc>
              <a:buNone/>
            </a:pPr>
            <a:r>
              <a:rPr lang="en-US" sz="1100" dirty="0">
                <a:solidFill>
                  <a:srgbClr val="D4D4D8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A aplicação organiza o fluxo de utilização em cinco áreas principais, mantendo navegação inferior consistente e ações críticas sempre acessíveis.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594354" y="1510457"/>
            <a:ext cx="1257300" cy="2357438"/>
          </a:xfrm>
          <a:prstGeom prst="rect">
            <a:avLst/>
          </a:prstGeom>
          <a:solidFill>
            <a:srgbClr val="131318"/>
          </a:solidFill>
          <a:ln w="18288">
            <a:solidFill>
              <a:srgbClr val="2A2A33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7" name="Shape 4"/>
          <p:cNvSpPr/>
          <p:nvPr/>
        </p:nvSpPr>
        <p:spPr>
          <a:xfrm>
            <a:off x="708654" y="1767632"/>
            <a:ext cx="1028700" cy="1678781"/>
          </a:xfrm>
          <a:prstGeom prst="rect">
            <a:avLst/>
          </a:prstGeom>
          <a:solidFill>
            <a:srgbClr val="101015"/>
          </a:solidFill>
          <a:ln w="9144">
            <a:solidFill>
              <a:srgbClr val="5B5E68"/>
            </a:solidFill>
            <a:prstDash val="dash"/>
          </a:ln>
        </p:spPr>
        <p:txBody>
          <a:bodyPr/>
          <a:lstStyle/>
          <a:p>
            <a:endParaRPr lang="es-ES"/>
          </a:p>
        </p:txBody>
      </p:sp>
      <p:sp>
        <p:nvSpPr>
          <p:cNvPr id="8" name="Text 5"/>
          <p:cNvSpPr/>
          <p:nvPr/>
        </p:nvSpPr>
        <p:spPr>
          <a:xfrm>
            <a:off x="1054261" y="2357884"/>
            <a:ext cx="337486" cy="11251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650" b="1" kern="0" spc="1" dirty="0">
                <a:solidFill>
                  <a:srgbClr val="FF6B35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INÍCIO</a:t>
            </a:r>
            <a:endParaRPr lang="en-US" sz="650" dirty="0"/>
          </a:p>
        </p:txBody>
      </p:sp>
      <p:sp>
        <p:nvSpPr>
          <p:cNvPr id="9" name="Shape 6"/>
          <p:cNvSpPr/>
          <p:nvPr/>
        </p:nvSpPr>
        <p:spPr>
          <a:xfrm>
            <a:off x="708654" y="3539282"/>
            <a:ext cx="1028700" cy="214313"/>
          </a:xfrm>
          <a:prstGeom prst="rect">
            <a:avLst/>
          </a:prstGeom>
          <a:solidFill>
            <a:srgbClr val="201611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0" name="Shape 7"/>
          <p:cNvSpPr/>
          <p:nvPr/>
        </p:nvSpPr>
        <p:spPr>
          <a:xfrm>
            <a:off x="708654" y="3539282"/>
            <a:ext cx="1028700" cy="14288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1" name="Text 8"/>
          <p:cNvSpPr/>
          <p:nvPr/>
        </p:nvSpPr>
        <p:spPr>
          <a:xfrm>
            <a:off x="487198" y="3982194"/>
            <a:ext cx="1471613" cy="14142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88000"/>
              </a:lnSpc>
              <a:buNone/>
            </a:pPr>
            <a:r>
              <a:rPr lang="en-US" sz="900" b="1" dirty="0">
                <a:solidFill>
                  <a:srgbClr val="F5F5F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Início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487198" y="4180768"/>
            <a:ext cx="1471613" cy="23769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ct val="102400"/>
              </a:lnSpc>
              <a:buNone/>
            </a:pPr>
            <a:r>
              <a:rPr lang="en-US" sz="650" dirty="0">
                <a:solidFill>
                  <a:srgbClr val="A1A1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Dashboard semanal e estado dos sensores</a:t>
            </a:r>
            <a:endParaRPr lang="en-US" sz="650" dirty="0"/>
          </a:p>
        </p:txBody>
      </p:sp>
      <p:sp>
        <p:nvSpPr>
          <p:cNvPr id="13" name="Shape 10"/>
          <p:cNvSpPr/>
          <p:nvPr/>
        </p:nvSpPr>
        <p:spPr>
          <a:xfrm>
            <a:off x="2268838" y="1510457"/>
            <a:ext cx="1257300" cy="2357438"/>
          </a:xfrm>
          <a:prstGeom prst="rect">
            <a:avLst/>
          </a:prstGeom>
          <a:solidFill>
            <a:srgbClr val="131318"/>
          </a:solidFill>
          <a:ln w="18288">
            <a:solidFill>
              <a:srgbClr val="2A2A33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4" name="Shape 11"/>
          <p:cNvSpPr/>
          <p:nvPr/>
        </p:nvSpPr>
        <p:spPr>
          <a:xfrm>
            <a:off x="2383138" y="1767632"/>
            <a:ext cx="1028700" cy="1678781"/>
          </a:xfrm>
          <a:prstGeom prst="rect">
            <a:avLst/>
          </a:prstGeom>
          <a:solidFill>
            <a:srgbClr val="101015"/>
          </a:solidFill>
          <a:ln w="9144">
            <a:solidFill>
              <a:srgbClr val="5B5E68"/>
            </a:solidFill>
            <a:prstDash val="dash"/>
          </a:ln>
        </p:spPr>
        <p:txBody>
          <a:bodyPr/>
          <a:lstStyle/>
          <a:p>
            <a:endParaRPr lang="es-ES"/>
          </a:p>
        </p:txBody>
      </p:sp>
      <p:sp>
        <p:nvSpPr>
          <p:cNvPr id="15" name="Text 12"/>
          <p:cNvSpPr/>
          <p:nvPr/>
        </p:nvSpPr>
        <p:spPr>
          <a:xfrm>
            <a:off x="2708346" y="2357884"/>
            <a:ext cx="378284" cy="11251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650" b="1" kern="0" spc="1" dirty="0">
                <a:solidFill>
                  <a:srgbClr val="FF6B35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MAPAS</a:t>
            </a:r>
            <a:endParaRPr lang="en-US" sz="650" dirty="0"/>
          </a:p>
        </p:txBody>
      </p:sp>
      <p:sp>
        <p:nvSpPr>
          <p:cNvPr id="16" name="Shape 13"/>
          <p:cNvSpPr/>
          <p:nvPr/>
        </p:nvSpPr>
        <p:spPr>
          <a:xfrm>
            <a:off x="2383138" y="3539282"/>
            <a:ext cx="1028700" cy="214313"/>
          </a:xfrm>
          <a:prstGeom prst="rect">
            <a:avLst/>
          </a:prstGeom>
          <a:solidFill>
            <a:srgbClr val="201611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7" name="Shape 14"/>
          <p:cNvSpPr/>
          <p:nvPr/>
        </p:nvSpPr>
        <p:spPr>
          <a:xfrm>
            <a:off x="2383138" y="3539282"/>
            <a:ext cx="1028700" cy="14288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8" name="Text 15"/>
          <p:cNvSpPr/>
          <p:nvPr/>
        </p:nvSpPr>
        <p:spPr>
          <a:xfrm>
            <a:off x="2161682" y="3982194"/>
            <a:ext cx="1471613" cy="14142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88000"/>
              </a:lnSpc>
              <a:buNone/>
            </a:pPr>
            <a:r>
              <a:rPr lang="en-US" sz="900" b="1" dirty="0">
                <a:solidFill>
                  <a:srgbClr val="F5F5F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Mapas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2161682" y="4180768"/>
            <a:ext cx="1471613" cy="23769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ct val="102400"/>
              </a:lnSpc>
              <a:buNone/>
            </a:pPr>
            <a:r>
              <a:rPr lang="en-US" sz="650" dirty="0">
                <a:solidFill>
                  <a:srgbClr val="A1A1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OSM, CyclOSM e meteorologia em tempo real</a:t>
            </a:r>
            <a:endParaRPr lang="en-US" sz="650" dirty="0"/>
          </a:p>
        </p:txBody>
      </p:sp>
      <p:sp>
        <p:nvSpPr>
          <p:cNvPr id="20" name="Shape 17"/>
          <p:cNvSpPr/>
          <p:nvPr/>
        </p:nvSpPr>
        <p:spPr>
          <a:xfrm>
            <a:off x="3943322" y="1510457"/>
            <a:ext cx="1257300" cy="2357438"/>
          </a:xfrm>
          <a:prstGeom prst="rect">
            <a:avLst/>
          </a:prstGeom>
          <a:solidFill>
            <a:srgbClr val="131318"/>
          </a:solidFill>
          <a:ln w="18288">
            <a:solidFill>
              <a:srgbClr val="2A2A33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1" name="Shape 18"/>
          <p:cNvSpPr/>
          <p:nvPr/>
        </p:nvSpPr>
        <p:spPr>
          <a:xfrm>
            <a:off x="4057622" y="1767632"/>
            <a:ext cx="1028700" cy="1678781"/>
          </a:xfrm>
          <a:prstGeom prst="rect">
            <a:avLst/>
          </a:prstGeom>
          <a:solidFill>
            <a:srgbClr val="101015"/>
          </a:solidFill>
          <a:ln w="9144">
            <a:solidFill>
              <a:srgbClr val="5B5E68"/>
            </a:solidFill>
            <a:prstDash val="dash"/>
          </a:ln>
        </p:spPr>
        <p:txBody>
          <a:bodyPr/>
          <a:lstStyle/>
          <a:p>
            <a:endParaRPr lang="es-ES"/>
          </a:p>
        </p:txBody>
      </p:sp>
      <p:sp>
        <p:nvSpPr>
          <p:cNvPr id="22" name="Text 19"/>
          <p:cNvSpPr/>
          <p:nvPr/>
        </p:nvSpPr>
        <p:spPr>
          <a:xfrm>
            <a:off x="4369157" y="2357884"/>
            <a:ext cx="405631" cy="11251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650" b="1" kern="0" spc="1" dirty="0">
                <a:solidFill>
                  <a:srgbClr val="FF6B35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INICIAR</a:t>
            </a:r>
            <a:endParaRPr lang="en-US" sz="650" dirty="0"/>
          </a:p>
        </p:txBody>
      </p:sp>
      <p:sp>
        <p:nvSpPr>
          <p:cNvPr id="23" name="Shape 20"/>
          <p:cNvSpPr/>
          <p:nvPr/>
        </p:nvSpPr>
        <p:spPr>
          <a:xfrm>
            <a:off x="4057622" y="3539282"/>
            <a:ext cx="1028700" cy="214313"/>
          </a:xfrm>
          <a:prstGeom prst="rect">
            <a:avLst/>
          </a:prstGeom>
          <a:solidFill>
            <a:srgbClr val="201611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4" name="Shape 21"/>
          <p:cNvSpPr/>
          <p:nvPr/>
        </p:nvSpPr>
        <p:spPr>
          <a:xfrm>
            <a:off x="4057622" y="3539282"/>
            <a:ext cx="1028700" cy="14288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5" name="Text 22"/>
          <p:cNvSpPr/>
          <p:nvPr/>
        </p:nvSpPr>
        <p:spPr>
          <a:xfrm>
            <a:off x="3836166" y="3982194"/>
            <a:ext cx="1471613" cy="14142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88000"/>
              </a:lnSpc>
              <a:buNone/>
            </a:pPr>
            <a:r>
              <a:rPr lang="en-US" sz="900" b="1" dirty="0">
                <a:solidFill>
                  <a:srgbClr val="F5F5F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Iniciar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3836166" y="4180768"/>
            <a:ext cx="1471613" cy="23769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ct val="102400"/>
              </a:lnSpc>
              <a:buNone/>
            </a:pPr>
            <a:r>
              <a:rPr lang="en-US" sz="650" dirty="0">
                <a:solidFill>
                  <a:srgbClr val="A1A1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Cronómetro, métricas e slider SOS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5617834" y="1510457"/>
            <a:ext cx="1257300" cy="2357438"/>
          </a:xfrm>
          <a:prstGeom prst="rect">
            <a:avLst/>
          </a:prstGeom>
          <a:solidFill>
            <a:srgbClr val="131318"/>
          </a:solidFill>
          <a:ln w="18288">
            <a:solidFill>
              <a:srgbClr val="2A2A33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8" name="Shape 25"/>
          <p:cNvSpPr/>
          <p:nvPr/>
        </p:nvSpPr>
        <p:spPr>
          <a:xfrm>
            <a:off x="5732134" y="1767632"/>
            <a:ext cx="1028700" cy="1678781"/>
          </a:xfrm>
          <a:prstGeom prst="rect">
            <a:avLst/>
          </a:prstGeom>
          <a:solidFill>
            <a:srgbClr val="101015"/>
          </a:solidFill>
          <a:ln w="9144">
            <a:solidFill>
              <a:srgbClr val="5B5E68"/>
            </a:solidFill>
            <a:prstDash val="dash"/>
          </a:ln>
        </p:spPr>
        <p:txBody>
          <a:bodyPr/>
          <a:lstStyle/>
          <a:p>
            <a:endParaRPr lang="es-ES"/>
          </a:p>
        </p:txBody>
      </p:sp>
      <p:sp>
        <p:nvSpPr>
          <p:cNvPr id="29" name="Text 26"/>
          <p:cNvSpPr/>
          <p:nvPr/>
        </p:nvSpPr>
        <p:spPr>
          <a:xfrm>
            <a:off x="5914774" y="2357884"/>
            <a:ext cx="663392" cy="11251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650" b="1" kern="0" spc="1" dirty="0">
                <a:solidFill>
                  <a:srgbClr val="FF6B35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SEGURANÇA</a:t>
            </a:r>
            <a:endParaRPr lang="en-US" sz="650" dirty="0"/>
          </a:p>
        </p:txBody>
      </p:sp>
      <p:sp>
        <p:nvSpPr>
          <p:cNvPr id="30" name="Shape 27"/>
          <p:cNvSpPr/>
          <p:nvPr/>
        </p:nvSpPr>
        <p:spPr>
          <a:xfrm>
            <a:off x="5732134" y="3539282"/>
            <a:ext cx="1028700" cy="214313"/>
          </a:xfrm>
          <a:prstGeom prst="rect">
            <a:avLst/>
          </a:prstGeom>
          <a:solidFill>
            <a:srgbClr val="201611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1" name="Shape 28"/>
          <p:cNvSpPr/>
          <p:nvPr/>
        </p:nvSpPr>
        <p:spPr>
          <a:xfrm>
            <a:off x="5732134" y="3539282"/>
            <a:ext cx="1028700" cy="14288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2" name="Text 29"/>
          <p:cNvSpPr/>
          <p:nvPr/>
        </p:nvSpPr>
        <p:spPr>
          <a:xfrm>
            <a:off x="5510678" y="3982194"/>
            <a:ext cx="1471613" cy="14142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88000"/>
              </a:lnSpc>
              <a:buNone/>
            </a:pPr>
            <a:r>
              <a:rPr lang="en-US" sz="900" b="1" dirty="0">
                <a:solidFill>
                  <a:srgbClr val="F5F5F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Segurança</a:t>
            </a:r>
            <a:endParaRPr lang="en-US" sz="900" dirty="0"/>
          </a:p>
        </p:txBody>
      </p:sp>
      <p:sp>
        <p:nvSpPr>
          <p:cNvPr id="33" name="Text 30"/>
          <p:cNvSpPr/>
          <p:nvPr/>
        </p:nvSpPr>
        <p:spPr>
          <a:xfrm>
            <a:off x="5510678" y="4180768"/>
            <a:ext cx="1471613" cy="23769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ct val="102400"/>
              </a:lnSpc>
              <a:buNone/>
            </a:pPr>
            <a:r>
              <a:rPr lang="en-US" sz="650" dirty="0">
                <a:solidFill>
                  <a:srgbClr val="A1A1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Contactos, sensibilidade e zonas seguras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7292318" y="1510457"/>
            <a:ext cx="1257300" cy="2357438"/>
          </a:xfrm>
          <a:prstGeom prst="rect">
            <a:avLst/>
          </a:prstGeom>
          <a:solidFill>
            <a:srgbClr val="131318"/>
          </a:solidFill>
          <a:ln w="18288">
            <a:solidFill>
              <a:srgbClr val="2A2A33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5" name="Shape 32"/>
          <p:cNvSpPr/>
          <p:nvPr/>
        </p:nvSpPr>
        <p:spPr>
          <a:xfrm>
            <a:off x="7406618" y="1767632"/>
            <a:ext cx="1028700" cy="1678781"/>
          </a:xfrm>
          <a:prstGeom prst="rect">
            <a:avLst/>
          </a:prstGeom>
          <a:solidFill>
            <a:srgbClr val="101015"/>
          </a:solidFill>
          <a:ln w="9144">
            <a:solidFill>
              <a:srgbClr val="5B5E68"/>
            </a:solidFill>
            <a:prstDash val="dash"/>
          </a:ln>
        </p:spPr>
        <p:txBody>
          <a:bodyPr/>
          <a:lstStyle/>
          <a:p>
            <a:endParaRPr lang="es-ES"/>
          </a:p>
        </p:txBody>
      </p:sp>
      <p:sp>
        <p:nvSpPr>
          <p:cNvPr id="36" name="Text 33"/>
          <p:cNvSpPr/>
          <p:nvPr/>
        </p:nvSpPr>
        <p:spPr>
          <a:xfrm>
            <a:off x="7736151" y="2357884"/>
            <a:ext cx="369633" cy="11251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650" b="1" kern="0" spc="1" dirty="0">
                <a:solidFill>
                  <a:srgbClr val="FF6B35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DIÁRIO</a:t>
            </a:r>
            <a:endParaRPr lang="en-US" sz="650" dirty="0"/>
          </a:p>
        </p:txBody>
      </p:sp>
      <p:sp>
        <p:nvSpPr>
          <p:cNvPr id="37" name="Shape 34"/>
          <p:cNvSpPr/>
          <p:nvPr/>
        </p:nvSpPr>
        <p:spPr>
          <a:xfrm>
            <a:off x="7406618" y="3539282"/>
            <a:ext cx="1028700" cy="214313"/>
          </a:xfrm>
          <a:prstGeom prst="rect">
            <a:avLst/>
          </a:prstGeom>
          <a:solidFill>
            <a:srgbClr val="201611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8" name="Shape 35"/>
          <p:cNvSpPr/>
          <p:nvPr/>
        </p:nvSpPr>
        <p:spPr>
          <a:xfrm>
            <a:off x="7406618" y="3539282"/>
            <a:ext cx="1028700" cy="14288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9" name="Text 36"/>
          <p:cNvSpPr/>
          <p:nvPr/>
        </p:nvSpPr>
        <p:spPr>
          <a:xfrm>
            <a:off x="7185161" y="3982194"/>
            <a:ext cx="1471613" cy="14142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88000"/>
              </a:lnSpc>
              <a:buNone/>
            </a:pPr>
            <a:r>
              <a:rPr lang="en-US" sz="900" b="1" dirty="0">
                <a:solidFill>
                  <a:srgbClr val="F5F5F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Diário</a:t>
            </a:r>
            <a:endParaRPr lang="en-US" sz="900" dirty="0"/>
          </a:p>
        </p:txBody>
      </p:sp>
      <p:sp>
        <p:nvSpPr>
          <p:cNvPr id="40" name="Text 37"/>
          <p:cNvSpPr/>
          <p:nvPr/>
        </p:nvSpPr>
        <p:spPr>
          <a:xfrm>
            <a:off x="7185161" y="4180768"/>
            <a:ext cx="1471613" cy="23769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ct val="102400"/>
              </a:lnSpc>
              <a:buNone/>
            </a:pPr>
            <a:r>
              <a:rPr lang="en-US" sz="650" dirty="0">
                <a:solidFill>
                  <a:srgbClr val="A1A1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Histórico, recordes e resumo mensal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572000"/>
            <a:ext cx="8229600" cy="571500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42" name="Shape 39"/>
          <p:cNvSpPr/>
          <p:nvPr/>
        </p:nvSpPr>
        <p:spPr>
          <a:xfrm>
            <a:off x="457200" y="4572000"/>
            <a:ext cx="8229600" cy="714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43" name="Text 40"/>
          <p:cNvSpPr/>
          <p:nvPr/>
        </p:nvSpPr>
        <p:spPr>
          <a:xfrm>
            <a:off x="457200" y="4797028"/>
            <a:ext cx="1680567" cy="121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7779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VitalRoute · ICM 2025/26 · UA-DETI</a:t>
            </a:r>
            <a:endParaRPr lang="en-US" sz="750" dirty="0"/>
          </a:p>
        </p:txBody>
      </p:sp>
      <p:sp>
        <p:nvSpPr>
          <p:cNvPr id="44" name="Text 41"/>
          <p:cNvSpPr/>
          <p:nvPr/>
        </p:nvSpPr>
        <p:spPr>
          <a:xfrm>
            <a:off x="8365331" y="4797028"/>
            <a:ext cx="321469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7779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 / 12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373261"/>
            <a:ext cx="1610218" cy="3125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800" b="1" kern="0" spc="-1" dirty="0">
                <a:solidFill>
                  <a:srgbClr val="F5F5F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MVVM + UDF</a:t>
            </a:r>
            <a:endParaRPr lang="en-US" sz="1800" dirty="0"/>
          </a:p>
        </p:txBody>
      </p:sp>
      <p:sp>
        <p:nvSpPr>
          <p:cNvPr id="4" name="Text 1"/>
          <p:cNvSpPr/>
          <p:nvPr/>
        </p:nvSpPr>
        <p:spPr>
          <a:xfrm>
            <a:off x="7426905" y="573286"/>
            <a:ext cx="1259895" cy="11251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650" b="1" kern="0" spc="2" dirty="0">
                <a:solidFill>
                  <a:srgbClr val="FF6B3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ARQUITETURA GERAL</a:t>
            </a:r>
            <a:endParaRPr lang="en-US" sz="650" dirty="0"/>
          </a:p>
        </p:txBody>
      </p:sp>
      <p:sp>
        <p:nvSpPr>
          <p:cNvPr id="5" name="Text 2"/>
          <p:cNvSpPr/>
          <p:nvPr/>
        </p:nvSpPr>
        <p:spPr>
          <a:xfrm>
            <a:off x="457200" y="885825"/>
            <a:ext cx="6072188" cy="414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05600"/>
              </a:lnSpc>
              <a:buNone/>
            </a:pPr>
            <a:r>
              <a:rPr lang="en-US" sz="1100" dirty="0">
                <a:solidFill>
                  <a:srgbClr val="E5E7EB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A arquitetura separa interface, estado e dados para reduzir acoplamento e tornar o comportamento da app previsível.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457200" y="1515033"/>
            <a:ext cx="2400300" cy="2000250"/>
          </a:xfrm>
          <a:prstGeom prst="rect">
            <a:avLst/>
          </a:prstGeom>
          <a:solidFill>
            <a:srgbClr val="16161D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7" name="Shape 4"/>
          <p:cNvSpPr/>
          <p:nvPr/>
        </p:nvSpPr>
        <p:spPr>
          <a:xfrm>
            <a:off x="457200" y="1515033"/>
            <a:ext cx="2400300" cy="28575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8" name="Text 5"/>
          <p:cNvSpPr/>
          <p:nvPr/>
        </p:nvSpPr>
        <p:spPr>
          <a:xfrm>
            <a:off x="571500" y="1629333"/>
            <a:ext cx="2171700" cy="112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650" b="1" kern="0" spc="1" dirty="0">
                <a:solidFill>
                  <a:srgbClr val="A1A1AA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CAMADA 1</a:t>
            </a:r>
            <a:endParaRPr lang="en-US" sz="650" dirty="0"/>
          </a:p>
        </p:txBody>
      </p:sp>
      <p:sp>
        <p:nvSpPr>
          <p:cNvPr id="9" name="Text 6"/>
          <p:cNvSpPr/>
          <p:nvPr/>
        </p:nvSpPr>
        <p:spPr>
          <a:xfrm>
            <a:off x="571500" y="1813285"/>
            <a:ext cx="2171700" cy="21216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88000"/>
              </a:lnSpc>
              <a:buNone/>
            </a:pPr>
            <a:r>
              <a:rPr lang="en-US" sz="1350" b="1" kern="0" spc="-1" dirty="0">
                <a:solidFill>
                  <a:srgbClr val="F5F5F7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UI Layer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571500" y="2111173"/>
            <a:ext cx="2171700" cy="1542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850" dirty="0">
                <a:solidFill>
                  <a:srgbClr val="D4D4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Compose Screens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571500" y="2322612"/>
            <a:ext cx="2171700" cy="1542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850" dirty="0">
                <a:solidFill>
                  <a:srgbClr val="D4D4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Home, Maps, Recording</a:t>
            </a:r>
            <a:endParaRPr lang="en-US" sz="850" dirty="0"/>
          </a:p>
        </p:txBody>
      </p:sp>
      <p:sp>
        <p:nvSpPr>
          <p:cNvPr id="12" name="Text 9"/>
          <p:cNvSpPr/>
          <p:nvPr/>
        </p:nvSpPr>
        <p:spPr>
          <a:xfrm>
            <a:off x="571500" y="2534050"/>
            <a:ext cx="2171700" cy="1542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850" dirty="0">
                <a:solidFill>
                  <a:srgbClr val="D4D4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Security, Diary, Auth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571500" y="2745488"/>
            <a:ext cx="2171700" cy="1542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850" dirty="0">
                <a:solidFill>
                  <a:srgbClr val="D4D4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Renderiza estado observado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2857500" y="1515033"/>
            <a:ext cx="514350" cy="200025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6B35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→</a:t>
            </a:r>
            <a:endParaRPr lang="en-US" sz="1700" dirty="0"/>
          </a:p>
        </p:txBody>
      </p:sp>
      <p:sp>
        <p:nvSpPr>
          <p:cNvPr id="15" name="Shape 12"/>
          <p:cNvSpPr/>
          <p:nvPr/>
        </p:nvSpPr>
        <p:spPr>
          <a:xfrm>
            <a:off x="3371850" y="1515033"/>
            <a:ext cx="2400300" cy="2000250"/>
          </a:xfrm>
          <a:prstGeom prst="rect">
            <a:avLst/>
          </a:prstGeom>
          <a:solidFill>
            <a:srgbClr val="16161D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6" name="Shape 13"/>
          <p:cNvSpPr/>
          <p:nvPr/>
        </p:nvSpPr>
        <p:spPr>
          <a:xfrm>
            <a:off x="3371850" y="1515033"/>
            <a:ext cx="2400300" cy="28575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7" name="Text 14"/>
          <p:cNvSpPr/>
          <p:nvPr/>
        </p:nvSpPr>
        <p:spPr>
          <a:xfrm>
            <a:off x="3486150" y="1629333"/>
            <a:ext cx="2171700" cy="112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650" b="1" kern="0" spc="1" dirty="0">
                <a:solidFill>
                  <a:srgbClr val="A1A1AA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CAMADA 2</a:t>
            </a:r>
            <a:endParaRPr lang="en-US" sz="650" dirty="0"/>
          </a:p>
        </p:txBody>
      </p:sp>
      <p:sp>
        <p:nvSpPr>
          <p:cNvPr id="18" name="Text 15"/>
          <p:cNvSpPr/>
          <p:nvPr/>
        </p:nvSpPr>
        <p:spPr>
          <a:xfrm>
            <a:off x="3486150" y="1813285"/>
            <a:ext cx="2171700" cy="21216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88000"/>
              </a:lnSpc>
              <a:buNone/>
            </a:pPr>
            <a:r>
              <a:rPr lang="en-US" sz="1350" b="1" kern="0" spc="-1" dirty="0">
                <a:solidFill>
                  <a:srgbClr val="F5F5F7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State Holders</a:t>
            </a:r>
            <a:endParaRPr lang="en-US" sz="1350" dirty="0"/>
          </a:p>
        </p:txBody>
      </p:sp>
      <p:sp>
        <p:nvSpPr>
          <p:cNvPr id="19" name="Text 16"/>
          <p:cNvSpPr/>
          <p:nvPr/>
        </p:nvSpPr>
        <p:spPr>
          <a:xfrm>
            <a:off x="3486150" y="2111173"/>
            <a:ext cx="2171700" cy="1542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850" dirty="0">
                <a:solidFill>
                  <a:srgbClr val="D4D4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ViewModels por funcionalidade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3486150" y="2329755"/>
            <a:ext cx="466130" cy="13751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850" dirty="0">
                <a:solidFill>
                  <a:srgbClr val="D4D4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Expõem</a:t>
            </a:r>
            <a:endParaRPr lang="en-US" sz="850" dirty="0"/>
          </a:p>
        </p:txBody>
      </p:sp>
      <p:sp>
        <p:nvSpPr>
          <p:cNvPr id="21" name="Shape 18"/>
          <p:cNvSpPr/>
          <p:nvPr/>
        </p:nvSpPr>
        <p:spPr>
          <a:xfrm>
            <a:off x="3952280" y="2342257"/>
            <a:ext cx="1151762" cy="142875"/>
          </a:xfrm>
          <a:prstGeom prst="rect">
            <a:avLst/>
          </a:prstGeom>
          <a:solidFill>
            <a:srgbClr val="22222B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2" name="Text 19"/>
          <p:cNvSpPr/>
          <p:nvPr/>
        </p:nvSpPr>
        <p:spPr>
          <a:xfrm>
            <a:off x="3952280" y="2342257"/>
            <a:ext cx="1151762" cy="142875"/>
          </a:xfrm>
          <a:prstGeom prst="rect">
            <a:avLst/>
          </a:prstGeom>
          <a:noFill/>
          <a:ln/>
        </p:spPr>
        <p:txBody>
          <a:bodyPr wrap="none" lIns="42545" tIns="17018" rIns="42545" bIns="17018" rtlCol="0" anchor="t">
            <a:sp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750" dirty="0">
                <a:solidFill>
                  <a:srgbClr val="F5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StateFlow&lt;UiState&gt;</a:t>
            </a:r>
            <a:endParaRPr lang="en-US" sz="750" dirty="0"/>
          </a:p>
        </p:txBody>
      </p:sp>
      <p:sp>
        <p:nvSpPr>
          <p:cNvPr id="23" name="Text 20"/>
          <p:cNvSpPr/>
          <p:nvPr/>
        </p:nvSpPr>
        <p:spPr>
          <a:xfrm>
            <a:off x="3486150" y="2546914"/>
            <a:ext cx="373261" cy="13751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850" dirty="0">
                <a:solidFill>
                  <a:srgbClr val="D4D4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UI usa</a:t>
            </a:r>
            <a:endParaRPr lang="en-US" sz="850" dirty="0"/>
          </a:p>
        </p:txBody>
      </p:sp>
      <p:sp>
        <p:nvSpPr>
          <p:cNvPr id="24" name="Shape 21"/>
          <p:cNvSpPr/>
          <p:nvPr/>
        </p:nvSpPr>
        <p:spPr>
          <a:xfrm>
            <a:off x="3859411" y="2559416"/>
            <a:ext cx="1691925" cy="142875"/>
          </a:xfrm>
          <a:prstGeom prst="rect">
            <a:avLst/>
          </a:prstGeom>
          <a:solidFill>
            <a:srgbClr val="22222B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5" name="Text 22"/>
          <p:cNvSpPr/>
          <p:nvPr/>
        </p:nvSpPr>
        <p:spPr>
          <a:xfrm>
            <a:off x="3859411" y="2559416"/>
            <a:ext cx="1691925" cy="142875"/>
          </a:xfrm>
          <a:prstGeom prst="rect">
            <a:avLst/>
          </a:prstGeom>
          <a:noFill/>
          <a:ln/>
        </p:spPr>
        <p:txBody>
          <a:bodyPr wrap="none" lIns="42545" tIns="17018" rIns="42545" bIns="17018" rtlCol="0" anchor="t">
            <a:sp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750" dirty="0">
                <a:solidFill>
                  <a:srgbClr val="F5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collectAsStateWithLifecycle</a:t>
            </a:r>
            <a:endParaRPr lang="en-US" sz="750" dirty="0"/>
          </a:p>
        </p:txBody>
      </p:sp>
      <p:sp>
        <p:nvSpPr>
          <p:cNvPr id="26" name="Text 23"/>
          <p:cNvSpPr/>
          <p:nvPr/>
        </p:nvSpPr>
        <p:spPr>
          <a:xfrm>
            <a:off x="3486150" y="2756929"/>
            <a:ext cx="2171700" cy="1542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850" dirty="0">
                <a:solidFill>
                  <a:srgbClr val="D4D4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Processam eventos da interface</a:t>
            </a:r>
            <a:endParaRPr lang="en-US" sz="850" dirty="0"/>
          </a:p>
        </p:txBody>
      </p:sp>
      <p:sp>
        <p:nvSpPr>
          <p:cNvPr id="27" name="Text 24"/>
          <p:cNvSpPr/>
          <p:nvPr/>
        </p:nvSpPr>
        <p:spPr>
          <a:xfrm>
            <a:off x="5772150" y="1515033"/>
            <a:ext cx="514350" cy="200025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6B35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→</a:t>
            </a:r>
            <a:endParaRPr lang="en-US" sz="1700" dirty="0"/>
          </a:p>
        </p:txBody>
      </p:sp>
      <p:sp>
        <p:nvSpPr>
          <p:cNvPr id="28" name="Shape 25"/>
          <p:cNvSpPr/>
          <p:nvPr/>
        </p:nvSpPr>
        <p:spPr>
          <a:xfrm>
            <a:off x="6286500" y="1515033"/>
            <a:ext cx="2400300" cy="2000250"/>
          </a:xfrm>
          <a:prstGeom prst="rect">
            <a:avLst/>
          </a:prstGeom>
          <a:solidFill>
            <a:srgbClr val="16161D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9" name="Shape 26"/>
          <p:cNvSpPr/>
          <p:nvPr/>
        </p:nvSpPr>
        <p:spPr>
          <a:xfrm>
            <a:off x="6286500" y="1515033"/>
            <a:ext cx="2400300" cy="28575"/>
          </a:xfrm>
          <a:prstGeom prst="rect">
            <a:avLst/>
          </a:prstGeom>
          <a:solidFill>
            <a:srgbClr val="4ADE80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0" name="Text 27"/>
          <p:cNvSpPr/>
          <p:nvPr/>
        </p:nvSpPr>
        <p:spPr>
          <a:xfrm>
            <a:off x="6400800" y="1629333"/>
            <a:ext cx="2171700" cy="112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650" b="1" kern="0" spc="1" dirty="0">
                <a:solidFill>
                  <a:srgbClr val="A1A1AA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CAMADA 3</a:t>
            </a:r>
            <a:endParaRPr lang="en-US" sz="650" dirty="0"/>
          </a:p>
        </p:txBody>
      </p:sp>
      <p:sp>
        <p:nvSpPr>
          <p:cNvPr id="31" name="Text 28"/>
          <p:cNvSpPr/>
          <p:nvPr/>
        </p:nvSpPr>
        <p:spPr>
          <a:xfrm>
            <a:off x="6400800" y="1813285"/>
            <a:ext cx="2171700" cy="21216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88000"/>
              </a:lnSpc>
              <a:buNone/>
            </a:pPr>
            <a:r>
              <a:rPr lang="en-US" sz="1350" b="1" kern="0" spc="-1" dirty="0">
                <a:solidFill>
                  <a:srgbClr val="F5F5F7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Data Layer</a:t>
            </a:r>
            <a:endParaRPr lang="en-US" sz="1350" dirty="0"/>
          </a:p>
        </p:txBody>
      </p:sp>
      <p:sp>
        <p:nvSpPr>
          <p:cNvPr id="32" name="Text 29"/>
          <p:cNvSpPr/>
          <p:nvPr/>
        </p:nvSpPr>
        <p:spPr>
          <a:xfrm>
            <a:off x="6400800" y="2111173"/>
            <a:ext cx="2171700" cy="1542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850" dirty="0">
                <a:solidFill>
                  <a:srgbClr val="D4D4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FirestoreRepository</a:t>
            </a:r>
            <a:endParaRPr lang="en-US" sz="850" dirty="0"/>
          </a:p>
        </p:txBody>
      </p:sp>
      <p:sp>
        <p:nvSpPr>
          <p:cNvPr id="33" name="Text 30"/>
          <p:cNvSpPr/>
          <p:nvPr/>
        </p:nvSpPr>
        <p:spPr>
          <a:xfrm>
            <a:off x="6400800" y="2322612"/>
            <a:ext cx="2171700" cy="1542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850" dirty="0">
                <a:solidFill>
                  <a:srgbClr val="D4D4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WeatherRepository</a:t>
            </a:r>
            <a:endParaRPr lang="en-US" sz="850" dirty="0"/>
          </a:p>
        </p:txBody>
      </p:sp>
      <p:sp>
        <p:nvSpPr>
          <p:cNvPr id="34" name="Text 31"/>
          <p:cNvSpPr/>
          <p:nvPr/>
        </p:nvSpPr>
        <p:spPr>
          <a:xfrm>
            <a:off x="6400800" y="2534050"/>
            <a:ext cx="2171700" cy="1542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850" dirty="0">
                <a:solidFill>
                  <a:srgbClr val="D4D4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NominatimRepository</a:t>
            </a:r>
            <a:endParaRPr lang="en-US" sz="850" dirty="0"/>
          </a:p>
        </p:txBody>
      </p:sp>
      <p:sp>
        <p:nvSpPr>
          <p:cNvPr id="35" name="Text 32"/>
          <p:cNvSpPr/>
          <p:nvPr/>
        </p:nvSpPr>
        <p:spPr>
          <a:xfrm>
            <a:off x="6400800" y="2745488"/>
            <a:ext cx="2171700" cy="1542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850" dirty="0">
                <a:solidFill>
                  <a:srgbClr val="D4D4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SosManager</a:t>
            </a:r>
            <a:endParaRPr lang="en-US" sz="850" dirty="0"/>
          </a:p>
        </p:txBody>
      </p:sp>
      <p:sp>
        <p:nvSpPr>
          <p:cNvPr id="36" name="Shape 33"/>
          <p:cNvSpPr/>
          <p:nvPr/>
        </p:nvSpPr>
        <p:spPr>
          <a:xfrm>
            <a:off x="457200" y="3658158"/>
            <a:ext cx="8229600" cy="571500"/>
          </a:xfrm>
          <a:prstGeom prst="rect">
            <a:avLst/>
          </a:prstGeom>
          <a:solidFill>
            <a:srgbClr val="15151B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7" name="Shape 34"/>
          <p:cNvSpPr/>
          <p:nvPr/>
        </p:nvSpPr>
        <p:spPr>
          <a:xfrm>
            <a:off x="457200" y="3658158"/>
            <a:ext cx="8229600" cy="21431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8" name="Text 35"/>
          <p:cNvSpPr/>
          <p:nvPr/>
        </p:nvSpPr>
        <p:spPr>
          <a:xfrm>
            <a:off x="600075" y="3799247"/>
            <a:ext cx="3900488" cy="14466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800" dirty="0">
                <a:solidFill>
                  <a:srgbClr val="A1A1AA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State flows down ↓</a:t>
            </a:r>
            <a:endParaRPr lang="en-US" sz="800" dirty="0"/>
          </a:p>
        </p:txBody>
      </p:sp>
      <p:sp>
        <p:nvSpPr>
          <p:cNvPr id="39" name="Text 36"/>
          <p:cNvSpPr/>
          <p:nvPr/>
        </p:nvSpPr>
        <p:spPr>
          <a:xfrm>
            <a:off x="600075" y="3986771"/>
            <a:ext cx="3900488" cy="14466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800" dirty="0">
                <a:solidFill>
                  <a:srgbClr val="A1A1AA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Os ViewModels publicam estado imutável para os composables.</a:t>
            </a:r>
            <a:endParaRPr lang="en-US" sz="800" dirty="0"/>
          </a:p>
        </p:txBody>
      </p:sp>
      <p:sp>
        <p:nvSpPr>
          <p:cNvPr id="40" name="Text 37"/>
          <p:cNvSpPr/>
          <p:nvPr/>
        </p:nvSpPr>
        <p:spPr>
          <a:xfrm>
            <a:off x="4643438" y="3799247"/>
            <a:ext cx="3900488" cy="14466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800" dirty="0">
                <a:solidFill>
                  <a:srgbClr val="A1A1AA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Events flow up ↑</a:t>
            </a:r>
            <a:endParaRPr lang="en-US" sz="800" dirty="0"/>
          </a:p>
        </p:txBody>
      </p:sp>
      <p:sp>
        <p:nvSpPr>
          <p:cNvPr id="41" name="Text 38"/>
          <p:cNvSpPr/>
          <p:nvPr/>
        </p:nvSpPr>
        <p:spPr>
          <a:xfrm>
            <a:off x="4643438" y="3986771"/>
            <a:ext cx="3900488" cy="14466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800" dirty="0">
                <a:solidFill>
                  <a:srgbClr val="A1A1AA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A UI comunica intenções; a lógica permanece fora dos ecrãs.</a:t>
            </a:r>
            <a:endParaRPr lang="en-US" sz="800" dirty="0"/>
          </a:p>
        </p:txBody>
      </p:sp>
      <p:sp>
        <p:nvSpPr>
          <p:cNvPr id="42" name="Text 39"/>
          <p:cNvSpPr/>
          <p:nvPr/>
        </p:nvSpPr>
        <p:spPr>
          <a:xfrm>
            <a:off x="457200" y="4315383"/>
            <a:ext cx="8229600" cy="121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7779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Padrão alinhado com a Android Architecture Guide: separação de responsabilidades, estado observável e ciclo de vida explícito.</a:t>
            </a:r>
            <a:endParaRPr lang="en-US" sz="750" dirty="0"/>
          </a:p>
        </p:txBody>
      </p:sp>
      <p:sp>
        <p:nvSpPr>
          <p:cNvPr id="43" name="Shape 40"/>
          <p:cNvSpPr/>
          <p:nvPr/>
        </p:nvSpPr>
        <p:spPr>
          <a:xfrm>
            <a:off x="457200" y="4436827"/>
            <a:ext cx="8229600" cy="571500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44" name="Shape 41"/>
          <p:cNvSpPr/>
          <p:nvPr/>
        </p:nvSpPr>
        <p:spPr>
          <a:xfrm>
            <a:off x="457200" y="4436827"/>
            <a:ext cx="8229600" cy="714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45" name="Text 42"/>
          <p:cNvSpPr/>
          <p:nvPr/>
        </p:nvSpPr>
        <p:spPr>
          <a:xfrm>
            <a:off x="457200" y="4661855"/>
            <a:ext cx="1680567" cy="121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7779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VitalRoute · ICM 2025/26 · UA-DETI</a:t>
            </a:r>
            <a:endParaRPr lang="en-US" sz="750" dirty="0"/>
          </a:p>
        </p:txBody>
      </p:sp>
      <p:sp>
        <p:nvSpPr>
          <p:cNvPr id="46" name="Text 43"/>
          <p:cNvSpPr/>
          <p:nvPr/>
        </p:nvSpPr>
        <p:spPr>
          <a:xfrm>
            <a:off x="8370689" y="4661855"/>
            <a:ext cx="316111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7779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 / 12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373261"/>
            <a:ext cx="2215232" cy="3125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800" b="1" kern="0" spc="-1" dirty="0">
                <a:solidFill>
                  <a:srgbClr val="F5F5F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Compose e estado</a:t>
            </a:r>
            <a:endParaRPr lang="en-US" sz="1800" dirty="0"/>
          </a:p>
        </p:txBody>
      </p:sp>
      <p:sp>
        <p:nvSpPr>
          <p:cNvPr id="4" name="Text 1"/>
          <p:cNvSpPr/>
          <p:nvPr/>
        </p:nvSpPr>
        <p:spPr>
          <a:xfrm>
            <a:off x="7705455" y="573286"/>
            <a:ext cx="981345" cy="11251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650" b="1" kern="0" spc="2" dirty="0">
                <a:solidFill>
                  <a:srgbClr val="FF6B3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UI DECLARATIVA</a:t>
            </a:r>
            <a:endParaRPr lang="en-US" sz="650" dirty="0"/>
          </a:p>
        </p:txBody>
      </p:sp>
      <p:sp>
        <p:nvSpPr>
          <p:cNvPr id="5" name="Text 2"/>
          <p:cNvSpPr/>
          <p:nvPr/>
        </p:nvSpPr>
        <p:spPr>
          <a:xfrm>
            <a:off x="457200" y="828675"/>
            <a:ext cx="4643438" cy="4205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02400"/>
              </a:lnSpc>
              <a:buNone/>
            </a:pPr>
            <a:r>
              <a:rPr lang="en-US" sz="1150" dirty="0">
                <a:solidFill>
                  <a:srgbClr val="E5E7E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A interface é construída como função do estado, reduzindo acoplamento entre ecrãs, eventos e dados.</a:t>
            </a:r>
            <a:endParaRPr lang="en-US" sz="1150" dirty="0"/>
          </a:p>
        </p:txBody>
      </p:sp>
      <p:sp>
        <p:nvSpPr>
          <p:cNvPr id="6" name="Shape 3"/>
          <p:cNvSpPr/>
          <p:nvPr/>
        </p:nvSpPr>
        <p:spPr>
          <a:xfrm>
            <a:off x="457200" y="1377851"/>
            <a:ext cx="2428875" cy="571500"/>
          </a:xfrm>
          <a:prstGeom prst="rect">
            <a:avLst/>
          </a:prstGeom>
          <a:solidFill>
            <a:srgbClr val="16161D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7" name="Shape 4"/>
          <p:cNvSpPr/>
          <p:nvPr/>
        </p:nvSpPr>
        <p:spPr>
          <a:xfrm>
            <a:off x="457200" y="1377851"/>
            <a:ext cx="2428875" cy="21431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8" name="Text 5"/>
          <p:cNvSpPr/>
          <p:nvPr/>
        </p:nvSpPr>
        <p:spPr>
          <a:xfrm>
            <a:off x="585788" y="1477863"/>
            <a:ext cx="2171700" cy="112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650" b="1" kern="0" spc="1" dirty="0">
                <a:solidFill>
                  <a:srgbClr val="A1A1AA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UI TOOLKIT</a:t>
            </a:r>
            <a:endParaRPr lang="en-US" sz="650" dirty="0"/>
          </a:p>
        </p:txBody>
      </p:sp>
      <p:sp>
        <p:nvSpPr>
          <p:cNvPr id="9" name="Text 6"/>
          <p:cNvSpPr/>
          <p:nvPr/>
        </p:nvSpPr>
        <p:spPr>
          <a:xfrm>
            <a:off x="585788" y="1647527"/>
            <a:ext cx="2171700" cy="1542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900" b="1" dirty="0">
                <a:solidFill>
                  <a:srgbClr val="F5F5F7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Jetpack Compose + Material 3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2957513" y="1377851"/>
            <a:ext cx="2428875" cy="571500"/>
          </a:xfrm>
          <a:prstGeom prst="rect">
            <a:avLst/>
          </a:prstGeom>
          <a:solidFill>
            <a:srgbClr val="16161D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1" name="Shape 8"/>
          <p:cNvSpPr/>
          <p:nvPr/>
        </p:nvSpPr>
        <p:spPr>
          <a:xfrm>
            <a:off x="2957513" y="1377851"/>
            <a:ext cx="2428875" cy="21431"/>
          </a:xfrm>
          <a:prstGeom prst="rect">
            <a:avLst/>
          </a:prstGeom>
          <a:solidFill>
            <a:srgbClr val="4ADE80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2" name="Text 9"/>
          <p:cNvSpPr/>
          <p:nvPr/>
        </p:nvSpPr>
        <p:spPr>
          <a:xfrm>
            <a:off x="3086100" y="1477863"/>
            <a:ext cx="2171700" cy="112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650" b="1" kern="0" spc="1" dirty="0">
                <a:solidFill>
                  <a:srgbClr val="A1A1AA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COMPOSIÇÃO</a:t>
            </a:r>
            <a:endParaRPr lang="en-US" sz="650" dirty="0"/>
          </a:p>
        </p:txBody>
      </p:sp>
      <p:sp>
        <p:nvSpPr>
          <p:cNvPr id="13" name="Text 10"/>
          <p:cNvSpPr/>
          <p:nvPr/>
        </p:nvSpPr>
        <p:spPr>
          <a:xfrm>
            <a:off x="3086100" y="1647527"/>
            <a:ext cx="2171700" cy="1542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900" b="1" dirty="0">
                <a:solidFill>
                  <a:srgbClr val="F5F5F7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Stateless + state hoisting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457200" y="2020788"/>
            <a:ext cx="2428875" cy="571500"/>
          </a:xfrm>
          <a:prstGeom prst="rect">
            <a:avLst/>
          </a:prstGeom>
          <a:solidFill>
            <a:srgbClr val="16161D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5" name="Shape 12"/>
          <p:cNvSpPr/>
          <p:nvPr/>
        </p:nvSpPr>
        <p:spPr>
          <a:xfrm>
            <a:off x="457200" y="2020788"/>
            <a:ext cx="2428875" cy="21431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6" name="Text 13"/>
          <p:cNvSpPr/>
          <p:nvPr/>
        </p:nvSpPr>
        <p:spPr>
          <a:xfrm>
            <a:off x="585788" y="2120801"/>
            <a:ext cx="2171700" cy="112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650" b="1" kern="0" spc="1" dirty="0">
                <a:solidFill>
                  <a:srgbClr val="A1A1AA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ESTADO</a:t>
            </a:r>
            <a:endParaRPr lang="en-US" sz="650" dirty="0"/>
          </a:p>
        </p:txBody>
      </p:sp>
      <p:sp>
        <p:nvSpPr>
          <p:cNvPr id="17" name="Text 14"/>
          <p:cNvSpPr/>
          <p:nvPr/>
        </p:nvSpPr>
        <p:spPr>
          <a:xfrm>
            <a:off x="585788" y="2290465"/>
            <a:ext cx="2171700" cy="1542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900" b="1" dirty="0">
                <a:solidFill>
                  <a:srgbClr val="F5F5F7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ViewModel expõe StateFlow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2957513" y="2020788"/>
            <a:ext cx="2428875" cy="571500"/>
          </a:xfrm>
          <a:prstGeom prst="rect">
            <a:avLst/>
          </a:prstGeom>
          <a:solidFill>
            <a:srgbClr val="16161D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9" name="Shape 16"/>
          <p:cNvSpPr/>
          <p:nvPr/>
        </p:nvSpPr>
        <p:spPr>
          <a:xfrm>
            <a:off x="2957513" y="2020788"/>
            <a:ext cx="2428875" cy="21431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0" name="Text 17"/>
          <p:cNvSpPr/>
          <p:nvPr/>
        </p:nvSpPr>
        <p:spPr>
          <a:xfrm>
            <a:off x="3086100" y="2120801"/>
            <a:ext cx="2171700" cy="112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650" b="1" kern="0" spc="1" dirty="0">
                <a:solidFill>
                  <a:srgbClr val="A1A1AA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TEMA</a:t>
            </a:r>
            <a:endParaRPr lang="en-US" sz="650" dirty="0"/>
          </a:p>
        </p:txBody>
      </p:sp>
      <p:sp>
        <p:nvSpPr>
          <p:cNvPr id="21" name="Text 18"/>
          <p:cNvSpPr/>
          <p:nvPr/>
        </p:nvSpPr>
        <p:spPr>
          <a:xfrm>
            <a:off x="3086100" y="2290465"/>
            <a:ext cx="2171700" cy="1542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900" b="1" dirty="0">
                <a:solidFill>
                  <a:srgbClr val="F5F5F7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Dark theme em Theme.kt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457200" y="2735163"/>
            <a:ext cx="4929188" cy="112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650" b="1" kern="0" spc="1" dirty="0">
                <a:solidFill>
                  <a:srgbClr val="FF6B35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SNIPPET KOTLIN</a:t>
            </a:r>
            <a:endParaRPr lang="en-US" sz="650" dirty="0"/>
          </a:p>
        </p:txBody>
      </p:sp>
      <p:sp>
        <p:nvSpPr>
          <p:cNvPr id="23" name="Shape 20"/>
          <p:cNvSpPr/>
          <p:nvPr/>
        </p:nvSpPr>
        <p:spPr>
          <a:xfrm>
            <a:off x="457200" y="2904827"/>
            <a:ext cx="4643438" cy="714375"/>
          </a:xfrm>
          <a:prstGeom prst="rect">
            <a:avLst/>
          </a:prstGeom>
          <a:solidFill>
            <a:srgbClr val="121217"/>
          </a:solidFill>
          <a:ln w="9144">
            <a:solidFill>
              <a:srgbClr val="30303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4" name="Text 21"/>
          <p:cNvSpPr/>
          <p:nvPr/>
        </p:nvSpPr>
        <p:spPr>
          <a:xfrm>
            <a:off x="457200" y="2904827"/>
            <a:ext cx="4643438" cy="714375"/>
          </a:xfrm>
          <a:prstGeom prst="rect">
            <a:avLst/>
          </a:prstGeom>
          <a:noFill/>
          <a:ln/>
        </p:spPr>
        <p:txBody>
          <a:bodyPr wrap="square" lIns="153035" tIns="102108" rIns="119126" bIns="0" rtlCol="0" anchor="t">
            <a:sp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800" b="1" dirty="0">
                <a:solidFill>
                  <a:srgbClr val="FF6B35"/>
                </a:solidFill>
                <a:latin typeface="SFMono-Regular" pitchFamily="34" charset="0"/>
                <a:ea typeface="SFMono-Regular" pitchFamily="34" charset="-122"/>
                <a:cs typeface="SFMono-Regular" pitchFamily="34" charset="-120"/>
              </a:rPr>
              <a:t>@Composable</a:t>
            </a:r>
            <a:r>
              <a:rPr lang="en-US" sz="850" dirty="0">
                <a:solidFill>
                  <a:srgbClr val="E5E7EB"/>
                </a:solidFill>
                <a:latin typeface="SFMono-Regular" pitchFamily="34" charset="0"/>
                <a:ea typeface="SFMono-Regular" pitchFamily="34" charset="-122"/>
                <a:cs typeface="SFMono-Regular" pitchFamily="34" charset="-120"/>
              </a:rPr>
              <a:t>
</a:t>
            </a:r>
            <a:r>
              <a:rPr lang="en-US" sz="800" b="1" dirty="0">
                <a:solidFill>
                  <a:srgbClr val="FF6B35"/>
                </a:solidFill>
                <a:latin typeface="SFMono-Regular" pitchFamily="34" charset="0"/>
                <a:ea typeface="SFMono-Regular" pitchFamily="34" charset="-122"/>
                <a:cs typeface="SFMono-Regular" pitchFamily="34" charset="-120"/>
              </a:rPr>
              <a:t>fun</a:t>
            </a:r>
            <a:r>
              <a:rPr lang="en-US" sz="850" dirty="0">
                <a:solidFill>
                  <a:srgbClr val="E5E7EB"/>
                </a:solidFill>
                <a:latin typeface="SFMono-Regular" pitchFamily="34" charset="0"/>
                <a:ea typeface="SFMono-Regular" pitchFamily="34" charset="-122"/>
                <a:cs typeface="SFMono-Regular" pitchFamily="34" charset="-120"/>
              </a:rPr>
              <a:t> </a:t>
            </a:r>
            <a:r>
              <a:rPr lang="en-US" sz="800" b="1" dirty="0">
                <a:solidFill>
                  <a:srgbClr val="4ADE80"/>
                </a:solidFill>
                <a:latin typeface="SFMono-Regular" pitchFamily="34" charset="0"/>
                <a:ea typeface="SFMono-Regular" pitchFamily="34" charset="-122"/>
                <a:cs typeface="SFMono-Regular" pitchFamily="34" charset="-120"/>
              </a:rPr>
              <a:t>HomeScreen</a:t>
            </a:r>
            <a:r>
              <a:rPr lang="en-US" sz="850" dirty="0">
                <a:solidFill>
                  <a:srgbClr val="E5E7EB"/>
                </a:solidFill>
                <a:latin typeface="SFMono-Regular" pitchFamily="34" charset="0"/>
                <a:ea typeface="SFMono-Regular" pitchFamily="34" charset="-122"/>
                <a:cs typeface="SFMono-Regular" pitchFamily="34" charset="-120"/>
              </a:rPr>
              <a:t>(vm: </a:t>
            </a:r>
            <a:r>
              <a:rPr lang="en-US" sz="800" b="1" dirty="0">
                <a:solidFill>
                  <a:srgbClr val="3B82F6"/>
                </a:solidFill>
                <a:latin typeface="SFMono-Regular" pitchFamily="34" charset="0"/>
                <a:ea typeface="SFMono-Regular" pitchFamily="34" charset="-122"/>
                <a:cs typeface="SFMono-Regular" pitchFamily="34" charset="-120"/>
              </a:rPr>
              <a:t>HomeViewModel</a:t>
            </a:r>
            <a:r>
              <a:rPr lang="en-US" sz="850" dirty="0">
                <a:solidFill>
                  <a:srgbClr val="E5E7EB"/>
                </a:solidFill>
                <a:latin typeface="SFMono-Regular" pitchFamily="34" charset="0"/>
                <a:ea typeface="SFMono-Regular" pitchFamily="34" charset="-122"/>
                <a:cs typeface="SFMono-Regular" pitchFamily="34" charset="-120"/>
              </a:rPr>
              <a:t> = viewModel()) {
    val state by vm.uiState.collectAsStateWithLifecycle()
    HomeContent(state, onSosClick = vm::triggerSos)
}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5800725" y="828675"/>
            <a:ext cx="3000375" cy="2714625"/>
          </a:xfrm>
          <a:prstGeom prst="rect">
            <a:avLst/>
          </a:prstGeom>
          <a:solidFill>
            <a:srgbClr val="101015"/>
          </a:solidFill>
          <a:ln w="9144">
            <a:solidFill>
              <a:srgbClr val="6B7280"/>
            </a:solidFill>
            <a:prstDash val="dash"/>
          </a:ln>
        </p:spPr>
        <p:txBody>
          <a:bodyPr/>
          <a:lstStyle/>
          <a:p>
            <a:endParaRPr lang="es-ES"/>
          </a:p>
        </p:txBody>
      </p:sp>
      <p:sp>
        <p:nvSpPr>
          <p:cNvPr id="26" name="Text 23"/>
          <p:cNvSpPr/>
          <p:nvPr/>
        </p:nvSpPr>
        <p:spPr>
          <a:xfrm>
            <a:off x="6445588" y="971550"/>
            <a:ext cx="1710649" cy="121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700" b="1" kern="0" spc="1" dirty="0">
                <a:solidFill>
                  <a:srgbClr val="FF6B35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PLACEHOLDER SCREENSHOT</a:t>
            </a:r>
            <a:endParaRPr lang="en-US" sz="700" dirty="0"/>
          </a:p>
        </p:txBody>
      </p:sp>
      <p:sp>
        <p:nvSpPr>
          <p:cNvPr id="27" name="Shape 24"/>
          <p:cNvSpPr/>
          <p:nvPr/>
        </p:nvSpPr>
        <p:spPr>
          <a:xfrm>
            <a:off x="6522244" y="1207294"/>
            <a:ext cx="1557338" cy="1960959"/>
          </a:xfrm>
          <a:prstGeom prst="rect">
            <a:avLst/>
          </a:prstGeom>
          <a:solidFill>
            <a:srgbClr val="111116"/>
          </a:solidFill>
          <a:ln w="18288">
            <a:solidFill>
              <a:srgbClr val="2F303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8" name="Shape 25"/>
          <p:cNvSpPr/>
          <p:nvPr/>
        </p:nvSpPr>
        <p:spPr>
          <a:xfrm>
            <a:off x="6679406" y="1464469"/>
            <a:ext cx="1243013" cy="271463"/>
          </a:xfrm>
          <a:prstGeom prst="rect">
            <a:avLst/>
          </a:prstGeom>
          <a:solidFill>
            <a:srgbClr val="1D1D2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9" name="Shape 26"/>
          <p:cNvSpPr/>
          <p:nvPr/>
        </p:nvSpPr>
        <p:spPr>
          <a:xfrm>
            <a:off x="6679406" y="1464469"/>
            <a:ext cx="1243013" cy="21431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0" name="Text 27"/>
          <p:cNvSpPr/>
          <p:nvPr/>
        </p:nvSpPr>
        <p:spPr>
          <a:xfrm>
            <a:off x="6679406" y="1464469"/>
            <a:ext cx="1243013" cy="271463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5F5F7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HomeScreen</a:t>
            </a:r>
            <a:endParaRPr lang="en-US" sz="700" dirty="0"/>
          </a:p>
        </p:txBody>
      </p:sp>
      <p:sp>
        <p:nvSpPr>
          <p:cNvPr id="31" name="Shape 28"/>
          <p:cNvSpPr/>
          <p:nvPr/>
        </p:nvSpPr>
        <p:spPr>
          <a:xfrm>
            <a:off x="6679406" y="2764631"/>
            <a:ext cx="1243013" cy="228600"/>
          </a:xfrm>
          <a:prstGeom prst="rect">
            <a:avLst/>
          </a:prstGeom>
          <a:solidFill>
            <a:srgbClr val="241812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2" name="Text 29"/>
          <p:cNvSpPr/>
          <p:nvPr/>
        </p:nvSpPr>
        <p:spPr>
          <a:xfrm>
            <a:off x="6679406" y="2764631"/>
            <a:ext cx="1243013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FF6B35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BOTTOM NAV</a:t>
            </a:r>
            <a:endParaRPr lang="en-US" sz="650" dirty="0"/>
          </a:p>
        </p:txBody>
      </p:sp>
      <p:sp>
        <p:nvSpPr>
          <p:cNvPr id="33" name="Text 30"/>
          <p:cNvSpPr/>
          <p:nvPr/>
        </p:nvSpPr>
        <p:spPr>
          <a:xfrm>
            <a:off x="6157913" y="3253978"/>
            <a:ext cx="2286000" cy="2893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ct val="108000"/>
              </a:lnSpc>
              <a:buNone/>
            </a:pPr>
            <a:r>
              <a:rPr lang="en-US" sz="800" dirty="0">
                <a:solidFill>
                  <a:srgbClr val="A1A1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[INSERIR SCREENSHOT: HomeScreen com dashboard semanal e estado dos sensores]</a:t>
            </a:r>
            <a:endParaRPr lang="en-US" sz="800" dirty="0"/>
          </a:p>
        </p:txBody>
      </p:sp>
      <p:sp>
        <p:nvSpPr>
          <p:cNvPr id="34" name="Shape 31"/>
          <p:cNvSpPr/>
          <p:nvPr/>
        </p:nvSpPr>
        <p:spPr>
          <a:xfrm>
            <a:off x="457200" y="4257675"/>
            <a:ext cx="8229600" cy="514350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5" name="Shape 32"/>
          <p:cNvSpPr/>
          <p:nvPr/>
        </p:nvSpPr>
        <p:spPr>
          <a:xfrm>
            <a:off x="457200" y="4257675"/>
            <a:ext cx="8229600" cy="714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6" name="Text 33"/>
          <p:cNvSpPr/>
          <p:nvPr/>
        </p:nvSpPr>
        <p:spPr>
          <a:xfrm>
            <a:off x="457200" y="4454128"/>
            <a:ext cx="1680567" cy="121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7779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VitalRoute · ICM 2025/26 · UA-DETI</a:t>
            </a:r>
            <a:endParaRPr lang="en-US" sz="750" dirty="0"/>
          </a:p>
        </p:txBody>
      </p:sp>
      <p:sp>
        <p:nvSpPr>
          <p:cNvPr id="37" name="Text 34"/>
          <p:cNvSpPr/>
          <p:nvPr/>
        </p:nvSpPr>
        <p:spPr>
          <a:xfrm>
            <a:off x="8367117" y="4454128"/>
            <a:ext cx="319683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7779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 / 12</a:t>
            </a:r>
            <a:endParaRPr lang="en-US" sz="7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373261"/>
            <a:ext cx="2495401" cy="3125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800" b="1" kern="0" spc="-1" dirty="0">
                <a:solidFill>
                  <a:srgbClr val="F5F5F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Dados em tempo real</a:t>
            </a:r>
            <a:endParaRPr lang="en-US" sz="1800" dirty="0"/>
          </a:p>
        </p:txBody>
      </p:sp>
      <p:sp>
        <p:nvSpPr>
          <p:cNvPr id="4" name="Text 1"/>
          <p:cNvSpPr/>
          <p:nvPr/>
        </p:nvSpPr>
        <p:spPr>
          <a:xfrm>
            <a:off x="7498342" y="573286"/>
            <a:ext cx="1188458" cy="11251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650" b="1" kern="0" spc="2" dirty="0">
                <a:solidFill>
                  <a:srgbClr val="FF6B3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FIRESTORE REATIVO</a:t>
            </a:r>
            <a:endParaRPr lang="en-US" sz="650" dirty="0"/>
          </a:p>
        </p:txBody>
      </p:sp>
      <p:sp>
        <p:nvSpPr>
          <p:cNvPr id="5" name="Shape 2"/>
          <p:cNvSpPr/>
          <p:nvPr/>
        </p:nvSpPr>
        <p:spPr>
          <a:xfrm>
            <a:off x="457200" y="942975"/>
            <a:ext cx="3643313" cy="2986088"/>
          </a:xfrm>
          <a:prstGeom prst="rect">
            <a:avLst/>
          </a:prstGeom>
          <a:solidFill>
            <a:srgbClr val="14141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6" name="Shape 3"/>
          <p:cNvSpPr/>
          <p:nvPr/>
        </p:nvSpPr>
        <p:spPr>
          <a:xfrm>
            <a:off x="457200" y="942975"/>
            <a:ext cx="3643313" cy="28575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7" name="Text 4"/>
          <p:cNvSpPr/>
          <p:nvPr/>
        </p:nvSpPr>
        <p:spPr>
          <a:xfrm>
            <a:off x="657225" y="1143000"/>
            <a:ext cx="3271838" cy="1285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750" b="1" kern="0" spc="2" dirty="0">
                <a:solidFill>
                  <a:srgbClr val="FF6B35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MODELO POR UTILIZADOR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657225" y="1428750"/>
            <a:ext cx="3271838" cy="18515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9600"/>
              </a:lnSpc>
              <a:buNone/>
            </a:pPr>
            <a:r>
              <a:rPr lang="en-US" sz="1050" dirty="0">
                <a:solidFill>
                  <a:srgbClr val="FF6B3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users/{uid}/</a:t>
            </a:r>
            <a:r>
              <a:rPr lang="en-US" sz="1050" dirty="0">
                <a:solidFill>
                  <a:srgbClr val="E5E7E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
├─ </a:t>
            </a:r>
            <a:r>
              <a:rPr lang="en-US" sz="1050" dirty="0">
                <a:solidFill>
                  <a:srgbClr val="3B82F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raiz</a:t>
            </a:r>
            <a:r>
              <a:rPr lang="en-US" sz="1050" dirty="0">
                <a:solidFill>
                  <a:srgbClr val="E5E7E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      </a:t>
            </a:r>
            <a:r>
              <a:rPr lang="en-US" sz="1050" dirty="0">
                <a:solidFill>
                  <a:srgbClr val="A1A1A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→ name, email</a:t>
            </a:r>
            <a:r>
              <a:rPr lang="en-US" sz="1050" dirty="0">
                <a:solidFill>
                  <a:srgbClr val="E5E7E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
├─ </a:t>
            </a:r>
            <a:r>
              <a:rPr lang="en-US" sz="1050" dirty="0">
                <a:solidFill>
                  <a:srgbClr val="4ADE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activities/</a:t>
            </a:r>
            <a:r>
              <a:rPr lang="en-US" sz="1050" dirty="0">
                <a:solidFill>
                  <a:srgbClr val="E5E7E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</a:t>
            </a:r>
            <a:r>
              <a:rPr lang="en-US" sz="1050" dirty="0">
                <a:solidFill>
                  <a:srgbClr val="A1A1A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→ distância, duração, velocidade</a:t>
            </a:r>
            <a:r>
              <a:rPr lang="en-US" sz="1050" dirty="0">
                <a:solidFill>
                  <a:srgbClr val="E5E7E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
├─ </a:t>
            </a:r>
            <a:r>
              <a:rPr lang="en-US" sz="1050" dirty="0">
                <a:solidFill>
                  <a:srgbClr val="4ADE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contacts/</a:t>
            </a:r>
            <a:r>
              <a:rPr lang="en-US" sz="1050" dirty="0">
                <a:solidFill>
                  <a:srgbClr val="E5E7E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 </a:t>
            </a:r>
            <a:r>
              <a:rPr lang="en-US" sz="1050" dirty="0">
                <a:solidFill>
                  <a:srgbClr val="A1A1A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→ nome, telefone, sosEnabled</a:t>
            </a:r>
            <a:r>
              <a:rPr lang="en-US" sz="1050" dirty="0">
                <a:solidFill>
                  <a:srgbClr val="E5E7E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
└─ </a:t>
            </a:r>
            <a:r>
              <a:rPr lang="en-US" sz="1050" dirty="0">
                <a:solidFill>
                  <a:srgbClr val="4ADE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settings/main</a:t>
            </a:r>
            <a:r>
              <a:rPr lang="en-US" sz="1050" dirty="0">
                <a:solidFill>
                  <a:srgbClr val="E5E7E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</a:t>
            </a:r>
            <a:r>
              <a:rPr lang="en-US" sz="1050" dirty="0">
                <a:solidFill>
                  <a:srgbClr val="A1A1A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→ fallSensitivity, alertas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4429125" y="942975"/>
            <a:ext cx="4071938" cy="4205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02400"/>
              </a:lnSpc>
              <a:buNone/>
            </a:pPr>
            <a:r>
              <a:rPr lang="en-US" sz="1150" dirty="0">
                <a:solidFill>
                  <a:srgbClr val="E5E7E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O Firestore mantém os dados sincronizados e expõe alterações como fluxos consumidos pela UI.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429125" y="2143125"/>
            <a:ext cx="2064544" cy="828675"/>
          </a:xfrm>
          <a:prstGeom prst="rect">
            <a:avLst/>
          </a:prstGeom>
          <a:solidFill>
            <a:srgbClr val="16161D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1" name="Shape 8"/>
          <p:cNvSpPr/>
          <p:nvPr/>
        </p:nvSpPr>
        <p:spPr>
          <a:xfrm>
            <a:off x="4429125" y="2143125"/>
            <a:ext cx="2064544" cy="21431"/>
          </a:xfrm>
          <a:prstGeom prst="rect">
            <a:avLst/>
          </a:prstGeom>
          <a:solidFill>
            <a:srgbClr val="4ADE80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2" name="Text 9"/>
          <p:cNvSpPr/>
          <p:nvPr/>
        </p:nvSpPr>
        <p:spPr>
          <a:xfrm>
            <a:off x="4572000" y="2271713"/>
            <a:ext cx="1807369" cy="1542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900" b="1" dirty="0">
                <a:solidFill>
                  <a:srgbClr val="F5F5F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Listeners → Flow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572000" y="2509940"/>
            <a:ext cx="771525" cy="14644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800" dirty="0">
                <a:solidFill>
                  <a:srgbClr val="C7C7CE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callbackFlow</a:t>
            </a:r>
            <a:endParaRPr lang="en-US" sz="800" dirty="0"/>
          </a:p>
        </p:txBody>
      </p:sp>
      <p:sp>
        <p:nvSpPr>
          <p:cNvPr id="14" name="Text 11"/>
          <p:cNvSpPr/>
          <p:nvPr/>
        </p:nvSpPr>
        <p:spPr>
          <a:xfrm>
            <a:off x="5343525" y="2520655"/>
            <a:ext cx="937617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800" dirty="0">
                <a:solidFill>
                  <a:srgbClr val="C7C7C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converte listeners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4572000" y="2667102"/>
            <a:ext cx="666155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800" dirty="0">
                <a:solidFill>
                  <a:srgbClr val="C7C7C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Firestore em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5238155" y="2656387"/>
            <a:ext cx="450056" cy="14644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800" dirty="0">
                <a:solidFill>
                  <a:srgbClr val="C7C7CE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Flow&lt;T&gt;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5688211" y="2667102"/>
            <a:ext cx="344686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800" dirty="0">
                <a:solidFill>
                  <a:srgbClr val="C7C7C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Kotlin.</a:t>
            </a:r>
            <a:endParaRPr lang="en-US" sz="800" dirty="0"/>
          </a:p>
        </p:txBody>
      </p:sp>
      <p:sp>
        <p:nvSpPr>
          <p:cNvPr id="18" name="Shape 15"/>
          <p:cNvSpPr/>
          <p:nvPr/>
        </p:nvSpPr>
        <p:spPr>
          <a:xfrm>
            <a:off x="6622256" y="2143125"/>
            <a:ext cx="2064544" cy="828675"/>
          </a:xfrm>
          <a:prstGeom prst="rect">
            <a:avLst/>
          </a:prstGeom>
          <a:solidFill>
            <a:srgbClr val="16161D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9" name="Shape 16"/>
          <p:cNvSpPr/>
          <p:nvPr/>
        </p:nvSpPr>
        <p:spPr>
          <a:xfrm>
            <a:off x="6622256" y="2143125"/>
            <a:ext cx="2064544" cy="21431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0" name="Text 17"/>
          <p:cNvSpPr/>
          <p:nvPr/>
        </p:nvSpPr>
        <p:spPr>
          <a:xfrm>
            <a:off x="6765131" y="2271713"/>
            <a:ext cx="1807369" cy="1542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900" b="1" dirty="0">
                <a:solidFill>
                  <a:srgbClr val="F5F5F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UI reativa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6765131" y="2511726"/>
            <a:ext cx="1807369" cy="2893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800" dirty="0">
                <a:solidFill>
                  <a:srgbClr val="C7C7C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Os ecrãs atualizam quando outro dispositivo escreve dados.</a:t>
            </a:r>
            <a:endParaRPr lang="en-US" sz="800" dirty="0"/>
          </a:p>
        </p:txBody>
      </p:sp>
      <p:sp>
        <p:nvSpPr>
          <p:cNvPr id="22" name="Shape 19"/>
          <p:cNvSpPr/>
          <p:nvPr/>
        </p:nvSpPr>
        <p:spPr>
          <a:xfrm>
            <a:off x="4429125" y="3100388"/>
            <a:ext cx="2064544" cy="828675"/>
          </a:xfrm>
          <a:prstGeom prst="rect">
            <a:avLst/>
          </a:prstGeom>
          <a:solidFill>
            <a:srgbClr val="16161D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3" name="Shape 20"/>
          <p:cNvSpPr/>
          <p:nvPr/>
        </p:nvSpPr>
        <p:spPr>
          <a:xfrm>
            <a:off x="4429125" y="3100388"/>
            <a:ext cx="2064544" cy="21431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4" name="Text 21"/>
          <p:cNvSpPr/>
          <p:nvPr/>
        </p:nvSpPr>
        <p:spPr>
          <a:xfrm>
            <a:off x="4572000" y="3228975"/>
            <a:ext cx="1807369" cy="1542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900" b="1" dirty="0">
                <a:solidFill>
                  <a:srgbClr val="F5F5F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Segurança por UID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4572000" y="3468988"/>
            <a:ext cx="1807369" cy="2893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800" dirty="0">
                <a:solidFill>
                  <a:srgbClr val="C7C7C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Cada utilizador lê e escreve apenas os seus documentos.</a:t>
            </a:r>
            <a:endParaRPr lang="en-US" sz="800" dirty="0"/>
          </a:p>
        </p:txBody>
      </p:sp>
      <p:sp>
        <p:nvSpPr>
          <p:cNvPr id="26" name="Shape 23"/>
          <p:cNvSpPr/>
          <p:nvPr/>
        </p:nvSpPr>
        <p:spPr>
          <a:xfrm>
            <a:off x="6622256" y="3100388"/>
            <a:ext cx="2064544" cy="828675"/>
          </a:xfrm>
          <a:prstGeom prst="rect">
            <a:avLst/>
          </a:prstGeom>
          <a:solidFill>
            <a:srgbClr val="16161D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7" name="Shape 24"/>
          <p:cNvSpPr/>
          <p:nvPr/>
        </p:nvSpPr>
        <p:spPr>
          <a:xfrm>
            <a:off x="6622256" y="3100388"/>
            <a:ext cx="2064544" cy="21431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8" name="Text 25"/>
          <p:cNvSpPr/>
          <p:nvPr/>
        </p:nvSpPr>
        <p:spPr>
          <a:xfrm>
            <a:off x="6765131" y="3228975"/>
            <a:ext cx="1807369" cy="1542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900" b="1" dirty="0">
                <a:solidFill>
                  <a:srgbClr val="F5F5F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Firebase Auth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6765131" y="3476132"/>
            <a:ext cx="1060847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800" dirty="0">
                <a:solidFill>
                  <a:srgbClr val="C7C7C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Email/password com</a:t>
            </a:r>
            <a:endParaRPr lang="en-US" sz="800" dirty="0"/>
          </a:p>
        </p:txBody>
      </p:sp>
      <p:sp>
        <p:nvSpPr>
          <p:cNvPr id="30" name="Text 27"/>
          <p:cNvSpPr/>
          <p:nvPr/>
        </p:nvSpPr>
        <p:spPr>
          <a:xfrm>
            <a:off x="6765131" y="3611863"/>
            <a:ext cx="1092994" cy="14644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800" dirty="0">
                <a:solidFill>
                  <a:srgbClr val="C7C7CE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AuthStateListener</a:t>
            </a:r>
            <a:endParaRPr lang="en-US" sz="800" dirty="0"/>
          </a:p>
        </p:txBody>
      </p:sp>
      <p:sp>
        <p:nvSpPr>
          <p:cNvPr id="31" name="Text 28"/>
          <p:cNvSpPr/>
          <p:nvPr/>
        </p:nvSpPr>
        <p:spPr>
          <a:xfrm>
            <a:off x="7858125" y="3622579"/>
            <a:ext cx="650081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800" dirty="0">
                <a:solidFill>
                  <a:srgbClr val="C7C7C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para sessão</a:t>
            </a:r>
            <a:endParaRPr lang="en-US" sz="800" dirty="0"/>
          </a:p>
        </p:txBody>
      </p:sp>
      <p:sp>
        <p:nvSpPr>
          <p:cNvPr id="32" name="Text 29"/>
          <p:cNvSpPr/>
          <p:nvPr/>
        </p:nvSpPr>
        <p:spPr>
          <a:xfrm>
            <a:off x="6765131" y="3767240"/>
            <a:ext cx="275034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800" dirty="0">
                <a:solidFill>
                  <a:srgbClr val="C7C7C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ativa.</a:t>
            </a:r>
            <a:endParaRPr lang="en-US" sz="800" dirty="0"/>
          </a:p>
        </p:txBody>
      </p:sp>
      <p:sp>
        <p:nvSpPr>
          <p:cNvPr id="33" name="Shape 30"/>
          <p:cNvSpPr/>
          <p:nvPr/>
        </p:nvSpPr>
        <p:spPr>
          <a:xfrm>
            <a:off x="457200" y="3943350"/>
            <a:ext cx="8229600" cy="585788"/>
          </a:xfrm>
          <a:prstGeom prst="rect">
            <a:avLst/>
          </a:prstGeom>
          <a:solidFill>
            <a:srgbClr val="11111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4" name="Shape 31"/>
          <p:cNvSpPr/>
          <p:nvPr/>
        </p:nvSpPr>
        <p:spPr>
          <a:xfrm>
            <a:off x="457200" y="3943350"/>
            <a:ext cx="8229600" cy="21431"/>
          </a:xfrm>
          <a:prstGeom prst="rect">
            <a:avLst/>
          </a:prstGeom>
          <a:solidFill>
            <a:srgbClr val="FF9068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5" name="Text 32"/>
          <p:cNvSpPr/>
          <p:nvPr/>
        </p:nvSpPr>
        <p:spPr>
          <a:xfrm>
            <a:off x="1185863" y="4141589"/>
            <a:ext cx="1543050" cy="1893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FF6B35"/>
                </a:solidFill>
                <a:latin typeface="JetBrains Mono SemiBold" pitchFamily="34" charset="0"/>
                <a:ea typeface="JetBrains Mono SemiBold" pitchFamily="34" charset="-122"/>
                <a:cs typeface="JetBrains Mono SemiBold" pitchFamily="34" charset="-120"/>
              </a:rPr>
              <a:t>Firestore Listener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2986088" y="4138910"/>
            <a:ext cx="85725" cy="19466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FF6B35"/>
                </a:solidFill>
                <a:latin typeface="JetBrains Mono SemiBold" pitchFamily="34" charset="0"/>
                <a:ea typeface="JetBrains Mono SemiBold" pitchFamily="34" charset="-122"/>
                <a:cs typeface="JetBrains Mono SemiBold" pitchFamily="34" charset="-120"/>
              </a:rPr>
              <a:t>→</a:t>
            </a:r>
            <a:endParaRPr lang="en-US" sz="1000" dirty="0"/>
          </a:p>
        </p:txBody>
      </p:sp>
      <p:sp>
        <p:nvSpPr>
          <p:cNvPr id="37" name="Text 34"/>
          <p:cNvSpPr/>
          <p:nvPr/>
        </p:nvSpPr>
        <p:spPr>
          <a:xfrm>
            <a:off x="3328988" y="4141589"/>
            <a:ext cx="1028700" cy="18930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FF6B35"/>
                </a:solidFill>
                <a:latin typeface="JetBrains Mono SemiBold" pitchFamily="34" charset="0"/>
                <a:ea typeface="JetBrains Mono SemiBold" pitchFamily="34" charset="-122"/>
                <a:cs typeface="JetBrains Mono SemiBold" pitchFamily="34" charset="-120"/>
              </a:rPr>
              <a:t>callbackFlow</a:t>
            </a:r>
            <a:endParaRPr lang="en-US" sz="1000" dirty="0"/>
          </a:p>
        </p:txBody>
      </p:sp>
      <p:sp>
        <p:nvSpPr>
          <p:cNvPr id="38" name="Text 35"/>
          <p:cNvSpPr/>
          <p:nvPr/>
        </p:nvSpPr>
        <p:spPr>
          <a:xfrm>
            <a:off x="4614863" y="4138910"/>
            <a:ext cx="85725" cy="19466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FF6B35"/>
                </a:solidFill>
                <a:latin typeface="JetBrains Mono SemiBold" pitchFamily="34" charset="0"/>
                <a:ea typeface="JetBrains Mono SemiBold" pitchFamily="34" charset="-122"/>
                <a:cs typeface="JetBrains Mono SemiBold" pitchFamily="34" charset="-120"/>
              </a:rPr>
              <a:t>→</a:t>
            </a:r>
            <a:endParaRPr lang="en-US" sz="1000" dirty="0"/>
          </a:p>
        </p:txBody>
      </p:sp>
      <p:sp>
        <p:nvSpPr>
          <p:cNvPr id="39" name="Text 36"/>
          <p:cNvSpPr/>
          <p:nvPr/>
        </p:nvSpPr>
        <p:spPr>
          <a:xfrm>
            <a:off x="4957763" y="4141589"/>
            <a:ext cx="1543050" cy="1893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FF6B35"/>
                </a:solidFill>
                <a:latin typeface="JetBrains Mono SemiBold" pitchFamily="34" charset="0"/>
                <a:ea typeface="JetBrains Mono SemiBold" pitchFamily="34" charset="-122"/>
                <a:cs typeface="JetBrains Mono SemiBold" pitchFamily="34" charset="-120"/>
              </a:rPr>
              <a:t>StateFlow&lt;UiState&gt;</a:t>
            </a:r>
            <a:endParaRPr lang="en-US" sz="1000" dirty="0"/>
          </a:p>
        </p:txBody>
      </p:sp>
      <p:sp>
        <p:nvSpPr>
          <p:cNvPr id="40" name="Text 37"/>
          <p:cNvSpPr/>
          <p:nvPr/>
        </p:nvSpPr>
        <p:spPr>
          <a:xfrm>
            <a:off x="6757988" y="4138910"/>
            <a:ext cx="85725" cy="19466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FF6B35"/>
                </a:solidFill>
                <a:latin typeface="JetBrains Mono SemiBold" pitchFamily="34" charset="0"/>
                <a:ea typeface="JetBrains Mono SemiBold" pitchFamily="34" charset="-122"/>
                <a:cs typeface="JetBrains Mono SemiBold" pitchFamily="34" charset="-120"/>
              </a:rPr>
              <a:t>→</a:t>
            </a:r>
            <a:endParaRPr lang="en-US" sz="1000" dirty="0"/>
          </a:p>
        </p:txBody>
      </p:sp>
      <p:sp>
        <p:nvSpPr>
          <p:cNvPr id="41" name="Text 38"/>
          <p:cNvSpPr/>
          <p:nvPr/>
        </p:nvSpPr>
        <p:spPr>
          <a:xfrm>
            <a:off x="7100888" y="4141589"/>
            <a:ext cx="857250" cy="18930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FF6B35"/>
                </a:solidFill>
                <a:latin typeface="JetBrains Mono SemiBold" pitchFamily="34" charset="0"/>
                <a:ea typeface="JetBrains Mono SemiBold" pitchFamily="34" charset="-122"/>
                <a:cs typeface="JetBrains Mono SemiBold" pitchFamily="34" charset="-120"/>
              </a:rPr>
              <a:t>Compose UI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457200" y="4529138"/>
            <a:ext cx="8229600" cy="571500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43" name="Shape 40"/>
          <p:cNvSpPr/>
          <p:nvPr/>
        </p:nvSpPr>
        <p:spPr>
          <a:xfrm>
            <a:off x="457200" y="4529138"/>
            <a:ext cx="8229600" cy="714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44" name="Text 41"/>
          <p:cNvSpPr/>
          <p:nvPr/>
        </p:nvSpPr>
        <p:spPr>
          <a:xfrm>
            <a:off x="457200" y="4754166"/>
            <a:ext cx="1680567" cy="121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7779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VitalRoute · ICM 2025/26 · UA-DETI</a:t>
            </a:r>
            <a:endParaRPr lang="en-US" sz="750" dirty="0"/>
          </a:p>
        </p:txBody>
      </p:sp>
      <p:sp>
        <p:nvSpPr>
          <p:cNvPr id="45" name="Text 42"/>
          <p:cNvSpPr/>
          <p:nvPr/>
        </p:nvSpPr>
        <p:spPr>
          <a:xfrm>
            <a:off x="8374261" y="4754166"/>
            <a:ext cx="312539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7779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07 / 12</a:t>
            </a:r>
            <a:endParaRPr lang="en-US" sz="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373261"/>
            <a:ext cx="2190145" cy="3125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800" b="1" kern="0" spc="-1" dirty="0">
                <a:solidFill>
                  <a:srgbClr val="F5F5F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Navigation + REST</a:t>
            </a:r>
            <a:endParaRPr lang="en-US" sz="1800" dirty="0"/>
          </a:p>
        </p:txBody>
      </p:sp>
      <p:sp>
        <p:nvSpPr>
          <p:cNvPr id="4" name="Text 1"/>
          <p:cNvSpPr/>
          <p:nvPr/>
        </p:nvSpPr>
        <p:spPr>
          <a:xfrm>
            <a:off x="7534647" y="573286"/>
            <a:ext cx="1152153" cy="11251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650" b="1" kern="0" spc="2" dirty="0">
                <a:solidFill>
                  <a:srgbClr val="FF6B3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NAVEGAÇÃO E APIS</a:t>
            </a:r>
            <a:endParaRPr lang="en-US" sz="650" dirty="0"/>
          </a:p>
        </p:txBody>
      </p:sp>
      <p:sp>
        <p:nvSpPr>
          <p:cNvPr id="5" name="Shape 2"/>
          <p:cNvSpPr/>
          <p:nvPr/>
        </p:nvSpPr>
        <p:spPr>
          <a:xfrm>
            <a:off x="457200" y="957263"/>
            <a:ext cx="3964781" cy="2728913"/>
          </a:xfrm>
          <a:prstGeom prst="rect">
            <a:avLst/>
          </a:prstGeom>
          <a:solidFill>
            <a:srgbClr val="15151B"/>
          </a:solidFill>
          <a:ln/>
        </p:spPr>
        <p:txBody>
          <a:bodyPr/>
          <a:lstStyle/>
          <a:p>
            <a:pPr algn="ctr"/>
            <a:endParaRPr lang="es-ES" dirty="0"/>
          </a:p>
        </p:txBody>
      </p:sp>
      <p:sp>
        <p:nvSpPr>
          <p:cNvPr id="6" name="Shape 3"/>
          <p:cNvSpPr/>
          <p:nvPr/>
        </p:nvSpPr>
        <p:spPr>
          <a:xfrm>
            <a:off x="457200" y="957263"/>
            <a:ext cx="3964781" cy="28575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7" name="Text 4"/>
          <p:cNvSpPr/>
          <p:nvPr/>
        </p:nvSpPr>
        <p:spPr>
          <a:xfrm>
            <a:off x="657225" y="1143000"/>
            <a:ext cx="3564731" cy="1893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5F5F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Navegação interna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57225" y="1532335"/>
            <a:ext cx="1732359" cy="414338"/>
          </a:xfrm>
          <a:prstGeom prst="rect">
            <a:avLst/>
          </a:prstGeom>
          <a:solidFill>
            <a:srgbClr val="1B1B23"/>
          </a:solidFill>
          <a:ln/>
        </p:spPr>
        <p:txBody>
          <a:bodyPr/>
          <a:lstStyle/>
          <a:p>
            <a:pPr algn="ctr"/>
            <a:endParaRPr lang="es-ES" dirty="0"/>
          </a:p>
        </p:txBody>
      </p:sp>
      <p:sp>
        <p:nvSpPr>
          <p:cNvPr id="9" name="Shape 6"/>
          <p:cNvSpPr/>
          <p:nvPr/>
        </p:nvSpPr>
        <p:spPr>
          <a:xfrm>
            <a:off x="657225" y="1489472"/>
            <a:ext cx="1732359" cy="14288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0" name="Text 7"/>
          <p:cNvSpPr/>
          <p:nvPr/>
        </p:nvSpPr>
        <p:spPr>
          <a:xfrm>
            <a:off x="1114137" y="1591091"/>
            <a:ext cx="718523" cy="276999"/>
          </a:xfrm>
          <a:prstGeom prst="rect">
            <a:avLst/>
          </a:prstGeom>
          <a:noFill/>
          <a:ln/>
        </p:spPr>
        <p:txBody>
          <a:bodyPr wrap="square" lIns="136017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rgbClr val="F5F5F7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Home</a:t>
            </a:r>
            <a:endParaRPr lang="en-US" dirty="0"/>
          </a:p>
        </p:txBody>
      </p:sp>
      <p:sp>
        <p:nvSpPr>
          <p:cNvPr id="11" name="Shape 8"/>
          <p:cNvSpPr/>
          <p:nvPr/>
        </p:nvSpPr>
        <p:spPr>
          <a:xfrm>
            <a:off x="2489597" y="1489472"/>
            <a:ext cx="1732359" cy="414338"/>
          </a:xfrm>
          <a:prstGeom prst="rect">
            <a:avLst/>
          </a:prstGeom>
          <a:solidFill>
            <a:srgbClr val="1B1B23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2" name="Shape 9"/>
          <p:cNvSpPr/>
          <p:nvPr/>
        </p:nvSpPr>
        <p:spPr>
          <a:xfrm>
            <a:off x="2489597" y="1489472"/>
            <a:ext cx="1732359" cy="14288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3" name="Text 10"/>
          <p:cNvSpPr/>
          <p:nvPr/>
        </p:nvSpPr>
        <p:spPr>
          <a:xfrm>
            <a:off x="2439590" y="1584160"/>
            <a:ext cx="1732359" cy="276999"/>
          </a:xfrm>
          <a:prstGeom prst="rect">
            <a:avLst/>
          </a:prstGeom>
          <a:noFill/>
          <a:ln/>
        </p:spPr>
        <p:txBody>
          <a:bodyPr wrap="square" lIns="136017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rgbClr val="F5F5F7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Maps</a:t>
            </a:r>
            <a:endParaRPr lang="en-US" dirty="0"/>
          </a:p>
        </p:txBody>
      </p:sp>
      <p:sp>
        <p:nvSpPr>
          <p:cNvPr id="14" name="Shape 11"/>
          <p:cNvSpPr/>
          <p:nvPr/>
        </p:nvSpPr>
        <p:spPr>
          <a:xfrm>
            <a:off x="657225" y="2003822"/>
            <a:ext cx="1732359" cy="414338"/>
          </a:xfrm>
          <a:prstGeom prst="rect">
            <a:avLst/>
          </a:prstGeom>
          <a:solidFill>
            <a:srgbClr val="1B1B23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5" name="Shape 12"/>
          <p:cNvSpPr/>
          <p:nvPr/>
        </p:nvSpPr>
        <p:spPr>
          <a:xfrm>
            <a:off x="657225" y="2003822"/>
            <a:ext cx="1732359" cy="14288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6" name="Text 13"/>
          <p:cNvSpPr/>
          <p:nvPr/>
        </p:nvSpPr>
        <p:spPr>
          <a:xfrm>
            <a:off x="957263" y="2102568"/>
            <a:ext cx="1732359" cy="276999"/>
          </a:xfrm>
          <a:prstGeom prst="rect">
            <a:avLst/>
          </a:prstGeom>
          <a:noFill/>
          <a:ln/>
        </p:spPr>
        <p:txBody>
          <a:bodyPr wrap="square" lIns="136017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dirty="0">
                <a:solidFill>
                  <a:srgbClr val="F5F5F7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Recording</a:t>
            </a:r>
            <a:endParaRPr lang="en-US" dirty="0"/>
          </a:p>
        </p:txBody>
      </p:sp>
      <p:sp>
        <p:nvSpPr>
          <p:cNvPr id="17" name="Shape 14"/>
          <p:cNvSpPr/>
          <p:nvPr/>
        </p:nvSpPr>
        <p:spPr>
          <a:xfrm>
            <a:off x="2489597" y="2003822"/>
            <a:ext cx="1732359" cy="414338"/>
          </a:xfrm>
          <a:prstGeom prst="rect">
            <a:avLst/>
          </a:prstGeom>
          <a:solidFill>
            <a:srgbClr val="1B1B23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8" name="Shape 15"/>
          <p:cNvSpPr/>
          <p:nvPr/>
        </p:nvSpPr>
        <p:spPr>
          <a:xfrm>
            <a:off x="2489597" y="2003822"/>
            <a:ext cx="1732359" cy="14288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9" name="Text 16"/>
          <p:cNvSpPr/>
          <p:nvPr/>
        </p:nvSpPr>
        <p:spPr>
          <a:xfrm>
            <a:off x="2852142" y="2094596"/>
            <a:ext cx="1732359" cy="276999"/>
          </a:xfrm>
          <a:prstGeom prst="rect">
            <a:avLst/>
          </a:prstGeom>
          <a:noFill/>
          <a:ln/>
        </p:spPr>
        <p:txBody>
          <a:bodyPr wrap="square" lIns="136017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dirty="0">
                <a:solidFill>
                  <a:srgbClr val="F5F5F7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Security</a:t>
            </a:r>
            <a:endParaRPr lang="en-US" dirty="0"/>
          </a:p>
        </p:txBody>
      </p:sp>
      <p:sp>
        <p:nvSpPr>
          <p:cNvPr id="20" name="Shape 17"/>
          <p:cNvSpPr/>
          <p:nvPr/>
        </p:nvSpPr>
        <p:spPr>
          <a:xfrm>
            <a:off x="657225" y="2518172"/>
            <a:ext cx="1732359" cy="414338"/>
          </a:xfrm>
          <a:prstGeom prst="rect">
            <a:avLst/>
          </a:prstGeom>
          <a:solidFill>
            <a:srgbClr val="1B1B23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1" name="Shape 18"/>
          <p:cNvSpPr/>
          <p:nvPr/>
        </p:nvSpPr>
        <p:spPr>
          <a:xfrm>
            <a:off x="657225" y="2518172"/>
            <a:ext cx="1732359" cy="14288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2" name="Text 19"/>
          <p:cNvSpPr/>
          <p:nvPr/>
        </p:nvSpPr>
        <p:spPr>
          <a:xfrm>
            <a:off x="1148358" y="2622559"/>
            <a:ext cx="1732359" cy="276999"/>
          </a:xfrm>
          <a:prstGeom prst="rect">
            <a:avLst/>
          </a:prstGeom>
          <a:noFill/>
          <a:ln/>
        </p:spPr>
        <p:txBody>
          <a:bodyPr wrap="square" lIns="136017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dirty="0">
                <a:solidFill>
                  <a:srgbClr val="F5F5F7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Diary</a:t>
            </a:r>
            <a:endParaRPr lang="en-US" dirty="0"/>
          </a:p>
        </p:txBody>
      </p:sp>
      <p:sp>
        <p:nvSpPr>
          <p:cNvPr id="23" name="Shape 20"/>
          <p:cNvSpPr/>
          <p:nvPr/>
        </p:nvSpPr>
        <p:spPr>
          <a:xfrm>
            <a:off x="2489597" y="2518172"/>
            <a:ext cx="1732359" cy="414338"/>
          </a:xfrm>
          <a:prstGeom prst="rect">
            <a:avLst/>
          </a:prstGeom>
          <a:solidFill>
            <a:srgbClr val="1B1B23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4" name="Shape 21"/>
          <p:cNvSpPr/>
          <p:nvPr/>
        </p:nvSpPr>
        <p:spPr>
          <a:xfrm>
            <a:off x="2489597" y="2518172"/>
            <a:ext cx="1732359" cy="14288"/>
          </a:xfrm>
          <a:prstGeom prst="rect">
            <a:avLst/>
          </a:prstGeom>
          <a:solidFill>
            <a:srgbClr val="2F3038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5" name="Text 22"/>
          <p:cNvSpPr/>
          <p:nvPr/>
        </p:nvSpPr>
        <p:spPr>
          <a:xfrm>
            <a:off x="2959299" y="2619921"/>
            <a:ext cx="1732359" cy="276999"/>
          </a:xfrm>
          <a:prstGeom prst="rect">
            <a:avLst/>
          </a:prstGeom>
          <a:noFill/>
          <a:ln/>
        </p:spPr>
        <p:txBody>
          <a:bodyPr wrap="square" lIns="136017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dirty="0">
                <a:solidFill>
                  <a:srgbClr val="E5E7E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Auth</a:t>
            </a:r>
            <a:endParaRPr lang="en-US" dirty="0"/>
          </a:p>
        </p:txBody>
      </p:sp>
      <p:sp>
        <p:nvSpPr>
          <p:cNvPr id="26" name="Shape 23"/>
          <p:cNvSpPr/>
          <p:nvPr/>
        </p:nvSpPr>
        <p:spPr>
          <a:xfrm>
            <a:off x="657225" y="3089672"/>
            <a:ext cx="3564731" cy="514350"/>
          </a:xfrm>
          <a:prstGeom prst="rect">
            <a:avLst/>
          </a:prstGeom>
          <a:solidFill>
            <a:srgbClr val="11111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7" name="Shape 24"/>
          <p:cNvSpPr/>
          <p:nvPr/>
        </p:nvSpPr>
        <p:spPr>
          <a:xfrm>
            <a:off x="657225" y="3089672"/>
            <a:ext cx="3564731" cy="14288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8" name="Text 25"/>
          <p:cNvSpPr/>
          <p:nvPr/>
        </p:nvSpPr>
        <p:spPr>
          <a:xfrm>
            <a:off x="785813" y="3286125"/>
            <a:ext cx="541223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700" b="1" kern="0" spc="1" dirty="0">
                <a:solidFill>
                  <a:srgbClr val="3B82F6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DETALHE</a:t>
            </a:r>
            <a:endParaRPr lang="en-US" sz="700" dirty="0"/>
          </a:p>
        </p:txBody>
      </p:sp>
      <p:sp>
        <p:nvSpPr>
          <p:cNvPr id="29" name="Text 26"/>
          <p:cNvSpPr/>
          <p:nvPr/>
        </p:nvSpPr>
        <p:spPr>
          <a:xfrm>
            <a:off x="2841427" y="3278088"/>
            <a:ext cx="1251942" cy="13751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D4D4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Settings · ActivityDetail</a:t>
            </a:r>
            <a:endParaRPr lang="en-US" sz="850" dirty="0"/>
          </a:p>
        </p:txBody>
      </p:sp>
      <p:sp>
        <p:nvSpPr>
          <p:cNvPr id="30" name="Shape 27"/>
          <p:cNvSpPr/>
          <p:nvPr/>
        </p:nvSpPr>
        <p:spPr>
          <a:xfrm>
            <a:off x="657225" y="3761184"/>
            <a:ext cx="3564731" cy="514350"/>
          </a:xfrm>
          <a:prstGeom prst="rect">
            <a:avLst/>
          </a:prstGeom>
          <a:solidFill>
            <a:srgbClr val="11111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1" name="Shape 28"/>
          <p:cNvSpPr/>
          <p:nvPr/>
        </p:nvSpPr>
        <p:spPr>
          <a:xfrm>
            <a:off x="657225" y="3761184"/>
            <a:ext cx="3564731" cy="14288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2" name="Text 29"/>
          <p:cNvSpPr/>
          <p:nvPr/>
        </p:nvSpPr>
        <p:spPr>
          <a:xfrm>
            <a:off x="785813" y="3957638"/>
            <a:ext cx="563938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700" b="1" kern="0" spc="1" dirty="0">
                <a:solidFill>
                  <a:srgbClr val="3B82F6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REGRA UI</a:t>
            </a:r>
            <a:endParaRPr lang="en-US" sz="700" dirty="0"/>
          </a:p>
        </p:txBody>
      </p:sp>
      <p:sp>
        <p:nvSpPr>
          <p:cNvPr id="33" name="Text 30"/>
          <p:cNvSpPr/>
          <p:nvPr/>
        </p:nvSpPr>
        <p:spPr>
          <a:xfrm>
            <a:off x="1746647" y="3949601"/>
            <a:ext cx="2346722" cy="1375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D4D4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Bottom bar escondida em ecrãs detalhados</a:t>
            </a:r>
            <a:endParaRPr lang="en-US" sz="850" dirty="0"/>
          </a:p>
        </p:txBody>
      </p:sp>
      <p:sp>
        <p:nvSpPr>
          <p:cNvPr id="34" name="Shape 31"/>
          <p:cNvSpPr/>
          <p:nvPr/>
        </p:nvSpPr>
        <p:spPr>
          <a:xfrm>
            <a:off x="4722019" y="957263"/>
            <a:ext cx="3964781" cy="2728913"/>
          </a:xfrm>
          <a:prstGeom prst="rect">
            <a:avLst/>
          </a:prstGeom>
          <a:solidFill>
            <a:srgbClr val="15151B"/>
          </a:solidFill>
          <a:ln/>
        </p:spPr>
        <p:txBody>
          <a:bodyPr/>
          <a:lstStyle/>
          <a:p>
            <a:endParaRPr lang="es-ES" u="sng" dirty="0"/>
          </a:p>
        </p:txBody>
      </p:sp>
      <p:sp>
        <p:nvSpPr>
          <p:cNvPr id="35" name="Shape 32"/>
          <p:cNvSpPr/>
          <p:nvPr/>
        </p:nvSpPr>
        <p:spPr>
          <a:xfrm>
            <a:off x="4722019" y="957263"/>
            <a:ext cx="3964781" cy="28575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6" name="Text 33"/>
          <p:cNvSpPr/>
          <p:nvPr/>
        </p:nvSpPr>
        <p:spPr>
          <a:xfrm>
            <a:off x="4922044" y="1143000"/>
            <a:ext cx="3564731" cy="1893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5F5F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APIs externas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4922044" y="1489472"/>
            <a:ext cx="1028700" cy="289322"/>
          </a:xfrm>
          <a:prstGeom prst="rect">
            <a:avLst/>
          </a:prstGeom>
          <a:noFill/>
          <a:ln/>
        </p:spPr>
        <p:txBody>
          <a:bodyPr wrap="none" lIns="8509" tIns="8509" rIns="8509" bIns="8509" rtlCol="0" anchor="ctr">
            <a:spAutoFit/>
          </a:bodyPr>
          <a:lstStyle/>
          <a:p>
            <a:pPr marL="0" indent="0" algn="l">
              <a:buNone/>
            </a:pPr>
            <a:r>
              <a:rPr lang="en-US" sz="650" b="1" kern="0" spc="1" dirty="0">
                <a:solidFill>
                  <a:srgbClr val="A1A1AA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SERVIÇO</a:t>
            </a:r>
            <a:endParaRPr lang="en-US" sz="650" dirty="0"/>
          </a:p>
        </p:txBody>
      </p:sp>
      <p:sp>
        <p:nvSpPr>
          <p:cNvPr id="38" name="Text 35"/>
          <p:cNvSpPr/>
          <p:nvPr/>
        </p:nvSpPr>
        <p:spPr>
          <a:xfrm>
            <a:off x="5950744" y="1489472"/>
            <a:ext cx="2536031" cy="289322"/>
          </a:xfrm>
          <a:prstGeom prst="rect">
            <a:avLst/>
          </a:prstGeom>
          <a:noFill/>
          <a:ln/>
        </p:spPr>
        <p:txBody>
          <a:bodyPr wrap="square" lIns="8509" tIns="8509" rIns="8509" bIns="8509" rtlCol="0" anchor="ctr">
            <a:spAutoFit/>
          </a:bodyPr>
          <a:lstStyle/>
          <a:p>
            <a:pPr marL="0" indent="0" algn="l">
              <a:buNone/>
            </a:pPr>
            <a:r>
              <a:rPr lang="en-US" sz="650" b="1" kern="0" spc="1" dirty="0">
                <a:solidFill>
                  <a:srgbClr val="A1A1AA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USO NA APP</a:t>
            </a:r>
            <a:endParaRPr lang="en-US" sz="650" dirty="0"/>
          </a:p>
        </p:txBody>
      </p:sp>
      <p:sp>
        <p:nvSpPr>
          <p:cNvPr id="39" name="Text 36"/>
          <p:cNvSpPr/>
          <p:nvPr/>
        </p:nvSpPr>
        <p:spPr>
          <a:xfrm>
            <a:off x="4929188" y="1948542"/>
            <a:ext cx="710803" cy="13751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2400"/>
              </a:lnSpc>
              <a:buNone/>
            </a:pPr>
            <a:r>
              <a:rPr lang="en-US" sz="800" b="1" dirty="0">
                <a:solidFill>
                  <a:srgbClr val="3B82F6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Open-Meteo</a:t>
            </a:r>
            <a:endParaRPr lang="en-US" sz="800" dirty="0"/>
          </a:p>
        </p:txBody>
      </p:sp>
      <p:sp>
        <p:nvSpPr>
          <p:cNvPr id="40" name="Text 37"/>
          <p:cNvSpPr/>
          <p:nvPr/>
        </p:nvSpPr>
        <p:spPr>
          <a:xfrm>
            <a:off x="5950744" y="1778794"/>
            <a:ext cx="2536031" cy="478631"/>
          </a:xfrm>
          <a:prstGeom prst="rect">
            <a:avLst/>
          </a:prstGeom>
          <a:noFill/>
          <a:ln/>
        </p:spPr>
        <p:txBody>
          <a:bodyPr wrap="square" lIns="8509" tIns="8509" rIns="8509" bIns="8509" rtlCol="0" anchor="ctr">
            <a:spAutoFit/>
          </a:bodyPr>
          <a:lstStyle/>
          <a:p>
            <a:pPr marL="0" indent="0" algn="l">
              <a:lnSpc>
                <a:spcPct val="102400"/>
              </a:lnSpc>
              <a:buNone/>
            </a:pPr>
            <a:r>
              <a:rPr lang="en-US" sz="850" dirty="0">
                <a:solidFill>
                  <a:srgbClr val="E5E7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Temperatura, humidade e vento sem API key.</a:t>
            </a:r>
            <a:endParaRPr lang="en-US" sz="850" dirty="0"/>
          </a:p>
        </p:txBody>
      </p:sp>
      <p:sp>
        <p:nvSpPr>
          <p:cNvPr id="41" name="Text 38"/>
          <p:cNvSpPr/>
          <p:nvPr/>
        </p:nvSpPr>
        <p:spPr>
          <a:xfrm>
            <a:off x="4929188" y="2427173"/>
            <a:ext cx="617934" cy="13751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2400"/>
              </a:lnSpc>
              <a:buNone/>
            </a:pPr>
            <a:r>
              <a:rPr lang="en-US" sz="800" b="1" dirty="0">
                <a:solidFill>
                  <a:srgbClr val="3B82F6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Nominatim</a:t>
            </a:r>
            <a:endParaRPr lang="en-US" sz="800" dirty="0"/>
          </a:p>
        </p:txBody>
      </p:sp>
      <p:sp>
        <p:nvSpPr>
          <p:cNvPr id="42" name="Text 39"/>
          <p:cNvSpPr/>
          <p:nvPr/>
        </p:nvSpPr>
        <p:spPr>
          <a:xfrm>
            <a:off x="5950744" y="2257425"/>
            <a:ext cx="2536031" cy="478631"/>
          </a:xfrm>
          <a:prstGeom prst="rect">
            <a:avLst/>
          </a:prstGeom>
          <a:noFill/>
          <a:ln/>
        </p:spPr>
        <p:txBody>
          <a:bodyPr wrap="square" lIns="8509" tIns="8509" rIns="8509" bIns="8509" rtlCol="0" anchor="ctr">
            <a:spAutoFit/>
          </a:bodyPr>
          <a:lstStyle/>
          <a:p>
            <a:pPr marL="0" indent="0" algn="l">
              <a:lnSpc>
                <a:spcPct val="102400"/>
              </a:lnSpc>
              <a:buNone/>
            </a:pPr>
            <a:r>
              <a:rPr lang="en-US" sz="850" dirty="0">
                <a:solidFill>
                  <a:srgbClr val="E5E7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Geocoding reverso baseado em OpenStreetMap.</a:t>
            </a:r>
            <a:endParaRPr lang="en-US" sz="850" dirty="0"/>
          </a:p>
        </p:txBody>
      </p:sp>
      <p:sp>
        <p:nvSpPr>
          <p:cNvPr id="43" name="Text 40"/>
          <p:cNvSpPr/>
          <p:nvPr/>
        </p:nvSpPr>
        <p:spPr>
          <a:xfrm>
            <a:off x="4929188" y="2905804"/>
            <a:ext cx="546497" cy="13751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2400"/>
              </a:lnSpc>
              <a:buNone/>
            </a:pPr>
            <a:r>
              <a:rPr lang="en-US" sz="800" b="1" dirty="0">
                <a:solidFill>
                  <a:srgbClr val="3B82F6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Overpass</a:t>
            </a:r>
            <a:endParaRPr lang="en-US" sz="800" dirty="0"/>
          </a:p>
        </p:txBody>
      </p:sp>
      <p:sp>
        <p:nvSpPr>
          <p:cNvPr id="44" name="Text 41"/>
          <p:cNvSpPr/>
          <p:nvPr/>
        </p:nvSpPr>
        <p:spPr>
          <a:xfrm>
            <a:off x="5950744" y="2736056"/>
            <a:ext cx="2536031" cy="478631"/>
          </a:xfrm>
          <a:prstGeom prst="rect">
            <a:avLst/>
          </a:prstGeom>
          <a:noFill/>
          <a:ln/>
        </p:spPr>
        <p:txBody>
          <a:bodyPr wrap="square" lIns="8509" tIns="8509" rIns="8509" bIns="8509" rtlCol="0" anchor="ctr">
            <a:spAutoFit/>
          </a:bodyPr>
          <a:lstStyle/>
          <a:p>
            <a:pPr marL="0" indent="0" algn="l">
              <a:lnSpc>
                <a:spcPct val="102400"/>
              </a:lnSpc>
              <a:buNone/>
            </a:pPr>
            <a:r>
              <a:rPr lang="en-US" sz="850" dirty="0">
                <a:solidFill>
                  <a:srgbClr val="E5E7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Pontos de interesse OSM para contexto no mapa.</a:t>
            </a:r>
            <a:endParaRPr lang="en-US" sz="850" dirty="0"/>
          </a:p>
        </p:txBody>
      </p:sp>
      <p:sp>
        <p:nvSpPr>
          <p:cNvPr id="45" name="Shape 42"/>
          <p:cNvSpPr/>
          <p:nvPr/>
        </p:nvSpPr>
        <p:spPr>
          <a:xfrm>
            <a:off x="457200" y="3914775"/>
            <a:ext cx="8229600" cy="628650"/>
          </a:xfrm>
          <a:prstGeom prst="rect">
            <a:avLst/>
          </a:prstGeom>
          <a:solidFill>
            <a:srgbClr val="11111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46" name="Shape 43"/>
          <p:cNvSpPr/>
          <p:nvPr/>
        </p:nvSpPr>
        <p:spPr>
          <a:xfrm>
            <a:off x="457200" y="3914775"/>
            <a:ext cx="8229600" cy="21431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47" name="Text 44"/>
          <p:cNvSpPr/>
          <p:nvPr/>
        </p:nvSpPr>
        <p:spPr>
          <a:xfrm>
            <a:off x="642938" y="4168378"/>
            <a:ext cx="1671638" cy="121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700" b="1" kern="0" spc="2" dirty="0">
                <a:solidFill>
                  <a:srgbClr val="FF6B35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STACK ASSÍNCRONA</a:t>
            </a:r>
            <a:endParaRPr lang="en-US" sz="700" dirty="0"/>
          </a:p>
        </p:txBody>
      </p:sp>
      <p:sp>
        <p:nvSpPr>
          <p:cNvPr id="48" name="Text 45"/>
          <p:cNvSpPr/>
          <p:nvPr/>
        </p:nvSpPr>
        <p:spPr>
          <a:xfrm>
            <a:off x="2314575" y="4055529"/>
            <a:ext cx="6372225" cy="3471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Retrofit + Gson · suspend functions · viewModelScope</a:t>
            </a:r>
            <a:r>
              <a:rPr lang="en-US" sz="950" dirty="0">
                <a:solidFill>
                  <a:srgbClr val="D4D4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Chamadas REST sem bloqueios no main thread</a:t>
            </a:r>
            <a:endParaRPr lang="en-US" sz="950" dirty="0"/>
          </a:p>
        </p:txBody>
      </p:sp>
      <p:sp>
        <p:nvSpPr>
          <p:cNvPr id="49" name="Shape 46"/>
          <p:cNvSpPr/>
          <p:nvPr/>
        </p:nvSpPr>
        <p:spPr>
          <a:xfrm>
            <a:off x="457200" y="4572000"/>
            <a:ext cx="8229600" cy="571500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50" name="Shape 47"/>
          <p:cNvSpPr/>
          <p:nvPr/>
        </p:nvSpPr>
        <p:spPr>
          <a:xfrm>
            <a:off x="457200" y="4572000"/>
            <a:ext cx="8229600" cy="714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51" name="Text 48"/>
          <p:cNvSpPr/>
          <p:nvPr/>
        </p:nvSpPr>
        <p:spPr>
          <a:xfrm>
            <a:off x="457200" y="4797028"/>
            <a:ext cx="1680567" cy="121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7779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VitalRoute · ICM 2025/26 · UA-DETI</a:t>
            </a:r>
            <a:endParaRPr lang="en-US" sz="750" dirty="0"/>
          </a:p>
        </p:txBody>
      </p:sp>
      <p:sp>
        <p:nvSpPr>
          <p:cNvPr id="52" name="Text 49"/>
          <p:cNvSpPr/>
          <p:nvPr/>
        </p:nvSpPr>
        <p:spPr>
          <a:xfrm>
            <a:off x="8367117" y="4797028"/>
            <a:ext cx="319683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7779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08 / 12</a:t>
            </a:r>
            <a:endParaRPr lang="en-US" sz="7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373261"/>
            <a:ext cx="2759720" cy="3125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800" b="1" kern="0" spc="-1" dirty="0">
                <a:solidFill>
                  <a:srgbClr val="F5F5F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Mapas OpenStreetMap</a:t>
            </a:r>
            <a:endParaRPr lang="en-US" sz="1800" dirty="0"/>
          </a:p>
        </p:txBody>
      </p:sp>
      <p:sp>
        <p:nvSpPr>
          <p:cNvPr id="4" name="Text 1"/>
          <p:cNvSpPr/>
          <p:nvPr/>
        </p:nvSpPr>
        <p:spPr>
          <a:xfrm>
            <a:off x="7298959" y="573286"/>
            <a:ext cx="1387841" cy="112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650" b="1" kern="0" spc="2" dirty="0">
                <a:solidFill>
                  <a:srgbClr val="FF6B3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LOCALIZAÇÃO E MAPAS</a:t>
            </a:r>
            <a:endParaRPr lang="en-US" sz="650" dirty="0"/>
          </a:p>
        </p:txBody>
      </p:sp>
      <p:sp>
        <p:nvSpPr>
          <p:cNvPr id="5" name="Shape 2"/>
          <p:cNvSpPr/>
          <p:nvPr/>
        </p:nvSpPr>
        <p:spPr>
          <a:xfrm>
            <a:off x="457200" y="928688"/>
            <a:ext cx="2250281" cy="2800350"/>
          </a:xfrm>
          <a:prstGeom prst="rect">
            <a:avLst/>
          </a:prstGeom>
          <a:solidFill>
            <a:srgbClr val="15151B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6" name="Shape 3"/>
          <p:cNvSpPr/>
          <p:nvPr/>
        </p:nvSpPr>
        <p:spPr>
          <a:xfrm>
            <a:off x="457200" y="928688"/>
            <a:ext cx="2250281" cy="28575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7" name="Text 4"/>
          <p:cNvSpPr/>
          <p:nvPr/>
        </p:nvSpPr>
        <p:spPr>
          <a:xfrm>
            <a:off x="614363" y="1100138"/>
            <a:ext cx="1935956" cy="18858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88000"/>
              </a:lnSpc>
              <a:buNone/>
            </a:pPr>
            <a:r>
              <a:rPr lang="en-US" sz="1200" b="1" kern="0" spc="-1" dirty="0">
                <a:solidFill>
                  <a:srgbClr val="F5F5F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Localização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4363" y="1445884"/>
            <a:ext cx="1935956" cy="442913"/>
          </a:xfrm>
          <a:prstGeom prst="rect">
            <a:avLst/>
          </a:prstGeom>
          <a:solidFill>
            <a:srgbClr val="1A1A22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9" name="Shape 6"/>
          <p:cNvSpPr/>
          <p:nvPr/>
        </p:nvSpPr>
        <p:spPr>
          <a:xfrm>
            <a:off x="614363" y="1445884"/>
            <a:ext cx="1935956" cy="14288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0" name="Text 7"/>
          <p:cNvSpPr/>
          <p:nvPr/>
        </p:nvSpPr>
        <p:spPr>
          <a:xfrm>
            <a:off x="714375" y="1524465"/>
            <a:ext cx="1750219" cy="1053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600" b="1" kern="0" spc="1" dirty="0">
                <a:solidFill>
                  <a:srgbClr val="A1A1AA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PROVIDER</a:t>
            </a:r>
            <a:endParaRPr lang="en-US" sz="600" dirty="0"/>
          </a:p>
        </p:txBody>
      </p:sp>
      <p:sp>
        <p:nvSpPr>
          <p:cNvPr id="11" name="Text 8"/>
          <p:cNvSpPr/>
          <p:nvPr/>
        </p:nvSpPr>
        <p:spPr>
          <a:xfrm>
            <a:off x="714375" y="1672698"/>
            <a:ext cx="1750219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750" dirty="0">
                <a:solidFill>
                  <a:srgbClr val="F5F5F7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FusedLocationProviderClient</a:t>
            </a:r>
            <a:endParaRPr lang="en-US" sz="750" dirty="0"/>
          </a:p>
        </p:txBody>
      </p:sp>
      <p:sp>
        <p:nvSpPr>
          <p:cNvPr id="12" name="Shape 9"/>
          <p:cNvSpPr/>
          <p:nvPr/>
        </p:nvSpPr>
        <p:spPr>
          <a:xfrm>
            <a:off x="614363" y="1974521"/>
            <a:ext cx="1935956" cy="442913"/>
          </a:xfrm>
          <a:prstGeom prst="rect">
            <a:avLst/>
          </a:prstGeom>
          <a:solidFill>
            <a:srgbClr val="1A1A22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3" name="Shape 10"/>
          <p:cNvSpPr/>
          <p:nvPr/>
        </p:nvSpPr>
        <p:spPr>
          <a:xfrm>
            <a:off x="614363" y="1974521"/>
            <a:ext cx="1935956" cy="14288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4" name="Text 11"/>
          <p:cNvSpPr/>
          <p:nvPr/>
        </p:nvSpPr>
        <p:spPr>
          <a:xfrm>
            <a:off x="714375" y="2053103"/>
            <a:ext cx="1750219" cy="1053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600" b="1" kern="0" spc="1" dirty="0">
                <a:solidFill>
                  <a:srgbClr val="A1A1AA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PERMISSÕES</a:t>
            </a:r>
            <a:endParaRPr lang="en-US" sz="600" dirty="0"/>
          </a:p>
        </p:txBody>
      </p:sp>
      <p:sp>
        <p:nvSpPr>
          <p:cNvPr id="15" name="Text 12"/>
          <p:cNvSpPr/>
          <p:nvPr/>
        </p:nvSpPr>
        <p:spPr>
          <a:xfrm>
            <a:off x="714375" y="2201335"/>
            <a:ext cx="1750219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750" dirty="0">
                <a:solidFill>
                  <a:srgbClr val="F5F5F7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Fine + coarse location</a:t>
            </a:r>
            <a:endParaRPr lang="en-US" sz="750" dirty="0"/>
          </a:p>
        </p:txBody>
      </p:sp>
      <p:sp>
        <p:nvSpPr>
          <p:cNvPr id="16" name="Shape 13"/>
          <p:cNvSpPr/>
          <p:nvPr/>
        </p:nvSpPr>
        <p:spPr>
          <a:xfrm>
            <a:off x="614363" y="2503159"/>
            <a:ext cx="1935956" cy="442913"/>
          </a:xfrm>
          <a:prstGeom prst="rect">
            <a:avLst/>
          </a:prstGeom>
          <a:solidFill>
            <a:srgbClr val="1A1A22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7" name="Shape 14"/>
          <p:cNvSpPr/>
          <p:nvPr/>
        </p:nvSpPr>
        <p:spPr>
          <a:xfrm>
            <a:off x="614363" y="2503159"/>
            <a:ext cx="1935956" cy="14288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8" name="Text 15"/>
          <p:cNvSpPr/>
          <p:nvPr/>
        </p:nvSpPr>
        <p:spPr>
          <a:xfrm>
            <a:off x="714375" y="2581740"/>
            <a:ext cx="1750219" cy="1053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600" b="1" kern="0" spc="1" dirty="0">
                <a:solidFill>
                  <a:srgbClr val="A1A1AA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UX</a:t>
            </a:r>
            <a:endParaRPr lang="en-US" sz="600" dirty="0"/>
          </a:p>
        </p:txBody>
      </p:sp>
      <p:sp>
        <p:nvSpPr>
          <p:cNvPr id="19" name="Text 16"/>
          <p:cNvSpPr/>
          <p:nvPr/>
        </p:nvSpPr>
        <p:spPr>
          <a:xfrm>
            <a:off x="714375" y="2729973"/>
            <a:ext cx="1750219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750" dirty="0">
                <a:solidFill>
                  <a:srgbClr val="F5F5F7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Pedido em contexto</a:t>
            </a:r>
            <a:endParaRPr lang="en-US" sz="750" dirty="0"/>
          </a:p>
        </p:txBody>
      </p:sp>
      <p:sp>
        <p:nvSpPr>
          <p:cNvPr id="20" name="Shape 17"/>
          <p:cNvSpPr/>
          <p:nvPr/>
        </p:nvSpPr>
        <p:spPr>
          <a:xfrm>
            <a:off x="614363" y="3031796"/>
            <a:ext cx="1935956" cy="442913"/>
          </a:xfrm>
          <a:prstGeom prst="rect">
            <a:avLst/>
          </a:prstGeom>
          <a:solidFill>
            <a:srgbClr val="1A1A22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1" name="Shape 18"/>
          <p:cNvSpPr/>
          <p:nvPr/>
        </p:nvSpPr>
        <p:spPr>
          <a:xfrm>
            <a:off x="614363" y="3031796"/>
            <a:ext cx="1935956" cy="14288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2" name="Text 19"/>
          <p:cNvSpPr/>
          <p:nvPr/>
        </p:nvSpPr>
        <p:spPr>
          <a:xfrm>
            <a:off x="714375" y="3110378"/>
            <a:ext cx="1750219" cy="1053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600" b="1" kern="0" spc="1" dirty="0">
                <a:solidFill>
                  <a:srgbClr val="A1A1AA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OVERLAY</a:t>
            </a:r>
            <a:endParaRPr lang="en-US" sz="600" dirty="0"/>
          </a:p>
        </p:txBody>
      </p:sp>
      <p:sp>
        <p:nvSpPr>
          <p:cNvPr id="23" name="Text 20"/>
          <p:cNvSpPr/>
          <p:nvPr/>
        </p:nvSpPr>
        <p:spPr>
          <a:xfrm>
            <a:off x="714375" y="3258610"/>
            <a:ext cx="1750219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750" dirty="0">
                <a:solidFill>
                  <a:srgbClr val="F5F5F7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MyLocationOverlay mostra ponto azul</a:t>
            </a:r>
            <a:endParaRPr lang="en-US" sz="750" dirty="0"/>
          </a:p>
        </p:txBody>
      </p:sp>
      <p:sp>
        <p:nvSpPr>
          <p:cNvPr id="24" name="Shape 21"/>
          <p:cNvSpPr/>
          <p:nvPr/>
        </p:nvSpPr>
        <p:spPr>
          <a:xfrm>
            <a:off x="2907506" y="928688"/>
            <a:ext cx="2250281" cy="2800350"/>
          </a:xfrm>
          <a:prstGeom prst="rect">
            <a:avLst/>
          </a:prstGeom>
          <a:solidFill>
            <a:srgbClr val="15151B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5" name="Shape 22"/>
          <p:cNvSpPr/>
          <p:nvPr/>
        </p:nvSpPr>
        <p:spPr>
          <a:xfrm>
            <a:off x="2907506" y="928688"/>
            <a:ext cx="2250281" cy="28575"/>
          </a:xfrm>
          <a:prstGeom prst="rect">
            <a:avLst/>
          </a:prstGeom>
          <a:solidFill>
            <a:srgbClr val="4ADE80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6" name="Text 23"/>
          <p:cNvSpPr/>
          <p:nvPr/>
        </p:nvSpPr>
        <p:spPr>
          <a:xfrm>
            <a:off x="3064669" y="1100138"/>
            <a:ext cx="1935956" cy="18858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88000"/>
              </a:lnSpc>
              <a:buNone/>
            </a:pPr>
            <a:r>
              <a:rPr lang="en-US" sz="1200" b="1" kern="0" spc="-1" dirty="0">
                <a:solidFill>
                  <a:srgbClr val="F5F5F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Mapas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3064669" y="1445884"/>
            <a:ext cx="1935956" cy="442913"/>
          </a:xfrm>
          <a:prstGeom prst="rect">
            <a:avLst/>
          </a:prstGeom>
          <a:solidFill>
            <a:srgbClr val="1A1A22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8" name="Shape 25"/>
          <p:cNvSpPr/>
          <p:nvPr/>
        </p:nvSpPr>
        <p:spPr>
          <a:xfrm>
            <a:off x="3064669" y="1445884"/>
            <a:ext cx="1935956" cy="14288"/>
          </a:xfrm>
          <a:prstGeom prst="rect">
            <a:avLst/>
          </a:prstGeom>
          <a:solidFill>
            <a:srgbClr val="4ADE80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9" name="Text 26"/>
          <p:cNvSpPr/>
          <p:nvPr/>
        </p:nvSpPr>
        <p:spPr>
          <a:xfrm>
            <a:off x="3164681" y="1524465"/>
            <a:ext cx="1750219" cy="1053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600" b="1" kern="0" spc="1" dirty="0">
                <a:solidFill>
                  <a:srgbClr val="A1A1AA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BIBLIOTECA</a:t>
            </a:r>
            <a:endParaRPr lang="en-US" sz="600" dirty="0"/>
          </a:p>
        </p:txBody>
      </p:sp>
      <p:sp>
        <p:nvSpPr>
          <p:cNvPr id="30" name="Text 27"/>
          <p:cNvSpPr/>
          <p:nvPr/>
        </p:nvSpPr>
        <p:spPr>
          <a:xfrm>
            <a:off x="3164681" y="1672698"/>
            <a:ext cx="1750219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750" dirty="0">
                <a:solidFill>
                  <a:srgbClr val="F5F5F7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OSMDroid em vez de Google Maps</a:t>
            </a:r>
            <a:endParaRPr lang="en-US" sz="750" dirty="0"/>
          </a:p>
        </p:txBody>
      </p:sp>
      <p:sp>
        <p:nvSpPr>
          <p:cNvPr id="31" name="Shape 28"/>
          <p:cNvSpPr/>
          <p:nvPr/>
        </p:nvSpPr>
        <p:spPr>
          <a:xfrm>
            <a:off x="3064669" y="1974521"/>
            <a:ext cx="1935956" cy="442913"/>
          </a:xfrm>
          <a:prstGeom prst="rect">
            <a:avLst/>
          </a:prstGeom>
          <a:solidFill>
            <a:srgbClr val="1A1A22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2" name="Shape 29"/>
          <p:cNvSpPr/>
          <p:nvPr/>
        </p:nvSpPr>
        <p:spPr>
          <a:xfrm>
            <a:off x="3064669" y="1974521"/>
            <a:ext cx="1935956" cy="14288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3" name="Text 30"/>
          <p:cNvSpPr/>
          <p:nvPr/>
        </p:nvSpPr>
        <p:spPr>
          <a:xfrm>
            <a:off x="3164681" y="2053103"/>
            <a:ext cx="1750219" cy="1053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600" b="1" kern="0" spc="1" dirty="0">
                <a:solidFill>
                  <a:srgbClr val="A1A1AA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BASE</a:t>
            </a:r>
            <a:endParaRPr lang="en-US" sz="600" dirty="0"/>
          </a:p>
        </p:txBody>
      </p:sp>
      <p:sp>
        <p:nvSpPr>
          <p:cNvPr id="34" name="Text 31"/>
          <p:cNvSpPr/>
          <p:nvPr/>
        </p:nvSpPr>
        <p:spPr>
          <a:xfrm>
            <a:off x="3164681" y="2201335"/>
            <a:ext cx="1750219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750" dirty="0">
                <a:solidFill>
                  <a:srgbClr val="F5F5F7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OpenStreetMap padrão</a:t>
            </a:r>
            <a:endParaRPr lang="en-US" sz="750" dirty="0"/>
          </a:p>
        </p:txBody>
      </p:sp>
      <p:sp>
        <p:nvSpPr>
          <p:cNvPr id="35" name="Shape 32"/>
          <p:cNvSpPr/>
          <p:nvPr/>
        </p:nvSpPr>
        <p:spPr>
          <a:xfrm>
            <a:off x="3064669" y="2503159"/>
            <a:ext cx="1935956" cy="442913"/>
          </a:xfrm>
          <a:prstGeom prst="rect">
            <a:avLst/>
          </a:prstGeom>
          <a:solidFill>
            <a:srgbClr val="1A1A22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6" name="Shape 33"/>
          <p:cNvSpPr/>
          <p:nvPr/>
        </p:nvSpPr>
        <p:spPr>
          <a:xfrm>
            <a:off x="3064669" y="2503159"/>
            <a:ext cx="1935956" cy="14288"/>
          </a:xfrm>
          <a:prstGeom prst="rect">
            <a:avLst/>
          </a:prstGeom>
          <a:solidFill>
            <a:srgbClr val="4ADE80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7" name="Text 34"/>
          <p:cNvSpPr/>
          <p:nvPr/>
        </p:nvSpPr>
        <p:spPr>
          <a:xfrm>
            <a:off x="3164681" y="2581740"/>
            <a:ext cx="1750219" cy="1053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600" b="1" kern="0" spc="1" dirty="0">
                <a:solidFill>
                  <a:srgbClr val="A1A1AA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CAMADA</a:t>
            </a:r>
            <a:endParaRPr lang="en-US" sz="600" dirty="0"/>
          </a:p>
        </p:txBody>
      </p:sp>
      <p:sp>
        <p:nvSpPr>
          <p:cNvPr id="38" name="Text 35"/>
          <p:cNvSpPr/>
          <p:nvPr/>
        </p:nvSpPr>
        <p:spPr>
          <a:xfrm>
            <a:off x="3164681" y="2729973"/>
            <a:ext cx="1750219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750" dirty="0">
                <a:solidFill>
                  <a:srgbClr val="F5F5F7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CyclOSM para ciclovias</a:t>
            </a:r>
            <a:endParaRPr lang="en-US" sz="750" dirty="0"/>
          </a:p>
        </p:txBody>
      </p:sp>
      <p:sp>
        <p:nvSpPr>
          <p:cNvPr id="39" name="Shape 36"/>
          <p:cNvSpPr/>
          <p:nvPr/>
        </p:nvSpPr>
        <p:spPr>
          <a:xfrm>
            <a:off x="3064669" y="3031796"/>
            <a:ext cx="1935956" cy="442913"/>
          </a:xfrm>
          <a:prstGeom prst="rect">
            <a:avLst/>
          </a:prstGeom>
          <a:solidFill>
            <a:srgbClr val="1A1A22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40" name="Shape 37"/>
          <p:cNvSpPr/>
          <p:nvPr/>
        </p:nvSpPr>
        <p:spPr>
          <a:xfrm>
            <a:off x="3064669" y="3031796"/>
            <a:ext cx="1935956" cy="14288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41" name="Text 38"/>
          <p:cNvSpPr/>
          <p:nvPr/>
        </p:nvSpPr>
        <p:spPr>
          <a:xfrm>
            <a:off x="3164681" y="3110378"/>
            <a:ext cx="1750219" cy="1053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600" b="1" kern="0" spc="1" dirty="0">
                <a:solidFill>
                  <a:srgbClr val="A1A1AA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OPERAÇÃO</a:t>
            </a:r>
            <a:endParaRPr lang="en-US" sz="600" dirty="0"/>
          </a:p>
        </p:txBody>
      </p:sp>
      <p:sp>
        <p:nvSpPr>
          <p:cNvPr id="42" name="Text 39"/>
          <p:cNvSpPr/>
          <p:nvPr/>
        </p:nvSpPr>
        <p:spPr>
          <a:xfrm>
            <a:off x="3164681" y="3258610"/>
            <a:ext cx="1750219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750" dirty="0">
                <a:solidFill>
                  <a:srgbClr val="F5F5F7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Sem API key · sem billing</a:t>
            </a:r>
            <a:endParaRPr lang="en-US" sz="750" dirty="0"/>
          </a:p>
        </p:txBody>
      </p:sp>
      <p:sp>
        <p:nvSpPr>
          <p:cNvPr id="43" name="Shape 40"/>
          <p:cNvSpPr/>
          <p:nvPr/>
        </p:nvSpPr>
        <p:spPr>
          <a:xfrm>
            <a:off x="5357813" y="928688"/>
            <a:ext cx="3328988" cy="2800350"/>
          </a:xfrm>
          <a:prstGeom prst="rect">
            <a:avLst/>
          </a:prstGeom>
          <a:solidFill>
            <a:srgbClr val="101015"/>
          </a:solidFill>
          <a:ln w="9144">
            <a:solidFill>
              <a:srgbClr val="6B7280"/>
            </a:solidFill>
            <a:prstDash val="dash"/>
          </a:ln>
        </p:spPr>
        <p:txBody>
          <a:bodyPr/>
          <a:lstStyle/>
          <a:p>
            <a:endParaRPr lang="es-ES"/>
          </a:p>
        </p:txBody>
      </p:sp>
      <p:sp>
        <p:nvSpPr>
          <p:cNvPr id="44" name="Text 41"/>
          <p:cNvSpPr/>
          <p:nvPr/>
        </p:nvSpPr>
        <p:spPr>
          <a:xfrm>
            <a:off x="6155959" y="1100138"/>
            <a:ext cx="1732666" cy="121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700" b="1" kern="0" spc="1" dirty="0">
                <a:solidFill>
                  <a:srgbClr val="FF6B35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PLACEHOLDER SCREENSHOT</a:t>
            </a:r>
            <a:endParaRPr lang="en-US" sz="700" dirty="0"/>
          </a:p>
        </p:txBody>
      </p:sp>
      <p:sp>
        <p:nvSpPr>
          <p:cNvPr id="45" name="Shape 42"/>
          <p:cNvSpPr/>
          <p:nvPr/>
        </p:nvSpPr>
        <p:spPr>
          <a:xfrm>
            <a:off x="6143625" y="1364456"/>
            <a:ext cx="1757363" cy="2185988"/>
          </a:xfrm>
          <a:prstGeom prst="rect">
            <a:avLst/>
          </a:prstGeom>
          <a:solidFill>
            <a:srgbClr val="111116"/>
          </a:solidFill>
          <a:ln w="18288">
            <a:solidFill>
              <a:srgbClr val="2F303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6" name="Shape 43"/>
          <p:cNvSpPr/>
          <p:nvPr/>
        </p:nvSpPr>
        <p:spPr>
          <a:xfrm>
            <a:off x="6293644" y="1621631"/>
            <a:ext cx="1457325" cy="1571625"/>
          </a:xfrm>
          <a:prstGeom prst="rect">
            <a:avLst/>
          </a:prstGeom>
          <a:solidFill>
            <a:srgbClr val="3B82F6">
              <a:alpha val="12000"/>
            </a:srgbClr>
          </a:solidFill>
          <a:ln w="9144">
            <a:solidFill>
              <a:srgbClr val="30303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7" name="Shape 44"/>
          <p:cNvSpPr/>
          <p:nvPr/>
        </p:nvSpPr>
        <p:spPr>
          <a:xfrm>
            <a:off x="7179469" y="1693069"/>
            <a:ext cx="500063" cy="171450"/>
          </a:xfrm>
          <a:prstGeom prst="rect">
            <a:avLst/>
          </a:prstGeom>
          <a:solidFill>
            <a:srgbClr val="13251B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48" name="Shape 45"/>
          <p:cNvSpPr/>
          <p:nvPr/>
        </p:nvSpPr>
        <p:spPr>
          <a:xfrm>
            <a:off x="7179469" y="1693069"/>
            <a:ext cx="500063" cy="14288"/>
          </a:xfrm>
          <a:prstGeom prst="rect">
            <a:avLst/>
          </a:prstGeom>
          <a:solidFill>
            <a:srgbClr val="4ADE80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49" name="Text 46"/>
          <p:cNvSpPr/>
          <p:nvPr/>
        </p:nvSpPr>
        <p:spPr>
          <a:xfrm>
            <a:off x="7179469" y="1693069"/>
            <a:ext cx="500063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 algn="ctr">
              <a:buNone/>
            </a:pPr>
            <a:r>
              <a:rPr lang="en-US" sz="550" b="1" dirty="0">
                <a:solidFill>
                  <a:srgbClr val="4ADE8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CyclOSM</a:t>
            </a:r>
            <a:endParaRPr lang="en-US" sz="550" dirty="0"/>
          </a:p>
        </p:txBody>
      </p:sp>
      <p:sp>
        <p:nvSpPr>
          <p:cNvPr id="50" name="Shape 47"/>
          <p:cNvSpPr/>
          <p:nvPr/>
        </p:nvSpPr>
        <p:spPr>
          <a:xfrm>
            <a:off x="6293644" y="3293269"/>
            <a:ext cx="1457325" cy="214313"/>
          </a:xfrm>
          <a:prstGeom prst="rect">
            <a:avLst/>
          </a:prstGeom>
          <a:solidFill>
            <a:srgbClr val="241812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51" name="Shape 48"/>
          <p:cNvSpPr/>
          <p:nvPr/>
        </p:nvSpPr>
        <p:spPr>
          <a:xfrm>
            <a:off x="6293644" y="3293269"/>
            <a:ext cx="1457325" cy="14288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52" name="Text 49"/>
          <p:cNvSpPr/>
          <p:nvPr/>
        </p:nvSpPr>
        <p:spPr>
          <a:xfrm>
            <a:off x="6293644" y="3293269"/>
            <a:ext cx="1457325" cy="21431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 algn="ctr">
              <a:buNone/>
            </a:pPr>
            <a:r>
              <a:rPr lang="en-US" sz="600" b="1" dirty="0">
                <a:solidFill>
                  <a:srgbClr val="FF6B35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MAPS SCREEN</a:t>
            </a:r>
            <a:endParaRPr lang="en-US" sz="600" dirty="0"/>
          </a:p>
        </p:txBody>
      </p:sp>
      <p:sp>
        <p:nvSpPr>
          <p:cNvPr id="53" name="Text 50"/>
          <p:cNvSpPr/>
          <p:nvPr/>
        </p:nvSpPr>
        <p:spPr>
          <a:xfrm>
            <a:off x="5807869" y="3607594"/>
            <a:ext cx="2428875" cy="26002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750" dirty="0">
                <a:solidFill>
                  <a:srgbClr val="A1A1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[INSERIR SCREENSHOT: MapsScreen com camada CyclOSM e localização atual]</a:t>
            </a:r>
            <a:endParaRPr lang="en-US" sz="750" dirty="0"/>
          </a:p>
        </p:txBody>
      </p:sp>
      <p:sp>
        <p:nvSpPr>
          <p:cNvPr id="54" name="Shape 51"/>
          <p:cNvSpPr/>
          <p:nvPr/>
        </p:nvSpPr>
        <p:spPr>
          <a:xfrm>
            <a:off x="457200" y="3943350"/>
            <a:ext cx="8229600" cy="614363"/>
          </a:xfrm>
          <a:prstGeom prst="rect">
            <a:avLst/>
          </a:prstGeom>
          <a:solidFill>
            <a:srgbClr val="11111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55" name="Shape 52"/>
          <p:cNvSpPr/>
          <p:nvPr/>
        </p:nvSpPr>
        <p:spPr>
          <a:xfrm>
            <a:off x="457200" y="3943350"/>
            <a:ext cx="8229600" cy="21431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56" name="Text 53"/>
          <p:cNvSpPr/>
          <p:nvPr/>
        </p:nvSpPr>
        <p:spPr>
          <a:xfrm>
            <a:off x="642938" y="4189809"/>
            <a:ext cx="1707356" cy="121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700" b="1" kern="0" spc="2" dirty="0">
                <a:solidFill>
                  <a:srgbClr val="FF6B35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FALLBACK</a:t>
            </a:r>
            <a:endParaRPr lang="en-US" sz="700" dirty="0"/>
          </a:p>
        </p:txBody>
      </p:sp>
      <p:sp>
        <p:nvSpPr>
          <p:cNvPr id="57" name="Text 54"/>
          <p:cNvSpPr/>
          <p:nvPr/>
        </p:nvSpPr>
        <p:spPr>
          <a:xfrm>
            <a:off x="2350294" y="4082960"/>
            <a:ext cx="6336506" cy="3351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0400"/>
              </a:lnSpc>
              <a:buNone/>
            </a:pPr>
            <a:r>
              <a:rPr lang="en-US" sz="850" b="1" dirty="0">
                <a:solidFill>
                  <a:srgbClr val="3B82F6"/>
                </a:solidFill>
                <a:latin typeface="JetBrains Mono Bold" pitchFamily="34" charset="0"/>
                <a:ea typeface="JetBrains Mono Bold" pitchFamily="34" charset="-122"/>
                <a:cs typeface="JetBrains Mono Bold" pitchFamily="34" charset="-120"/>
              </a:rPr>
              <a:t>Sem permissão:</a:t>
            </a:r>
            <a:r>
              <a:rPr lang="en-US" sz="850" b="1" dirty="0">
                <a:solidFill>
                  <a:srgbClr val="4ADE80"/>
                </a:solidFill>
                <a:latin typeface="JetBrains Mono Bold" pitchFamily="34" charset="0"/>
                <a:ea typeface="JetBrains Mono Bold" pitchFamily="34" charset="-122"/>
                <a:cs typeface="JetBrains Mono Bold" pitchFamily="34" charset="-120"/>
              </a:rPr>
              <a:t> centro inicial em Aveiro · Open-source · custo previsível · independência de billing externo</a:t>
            </a:r>
            <a:endParaRPr lang="en-US" sz="850" dirty="0"/>
          </a:p>
        </p:txBody>
      </p:sp>
      <p:sp>
        <p:nvSpPr>
          <p:cNvPr id="58" name="Shape 55"/>
          <p:cNvSpPr/>
          <p:nvPr/>
        </p:nvSpPr>
        <p:spPr>
          <a:xfrm>
            <a:off x="457200" y="4572000"/>
            <a:ext cx="8229600" cy="571500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59" name="Shape 56"/>
          <p:cNvSpPr/>
          <p:nvPr/>
        </p:nvSpPr>
        <p:spPr>
          <a:xfrm>
            <a:off x="457200" y="4572000"/>
            <a:ext cx="8229600" cy="714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60" name="Text 57"/>
          <p:cNvSpPr/>
          <p:nvPr/>
        </p:nvSpPr>
        <p:spPr>
          <a:xfrm>
            <a:off x="457200" y="4797028"/>
            <a:ext cx="1680567" cy="121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7779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VitalRoute · ICM 2025/26 · UA-DETI</a:t>
            </a:r>
            <a:endParaRPr lang="en-US" sz="750" dirty="0"/>
          </a:p>
        </p:txBody>
      </p:sp>
      <p:sp>
        <p:nvSpPr>
          <p:cNvPr id="61" name="Text 58"/>
          <p:cNvSpPr/>
          <p:nvPr/>
        </p:nvSpPr>
        <p:spPr>
          <a:xfrm>
            <a:off x="8367117" y="4797028"/>
            <a:ext cx="319683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7779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09 / 12</a:t>
            </a:r>
            <a:endParaRPr lang="en-US" sz="7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373261"/>
            <a:ext cx="2957736" cy="3125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800" b="1" kern="0" spc="-1" dirty="0">
                <a:solidFill>
                  <a:srgbClr val="F5F5F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Tracking em background</a:t>
            </a:r>
            <a:endParaRPr lang="en-US" sz="1800" dirty="0"/>
          </a:p>
        </p:txBody>
      </p:sp>
      <p:sp>
        <p:nvSpPr>
          <p:cNvPr id="4" name="Text 1"/>
          <p:cNvSpPr/>
          <p:nvPr/>
        </p:nvSpPr>
        <p:spPr>
          <a:xfrm>
            <a:off x="6982932" y="573286"/>
            <a:ext cx="1703868" cy="112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650" b="1" kern="0" spc="2" dirty="0">
                <a:solidFill>
                  <a:srgbClr val="FF6B3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GRAVAÇÃO EM BACKGROUND</a:t>
            </a:r>
            <a:endParaRPr lang="en-US" sz="650" dirty="0"/>
          </a:p>
        </p:txBody>
      </p:sp>
      <p:sp>
        <p:nvSpPr>
          <p:cNvPr id="5" name="Text 2"/>
          <p:cNvSpPr/>
          <p:nvPr/>
        </p:nvSpPr>
        <p:spPr>
          <a:xfrm>
            <a:off x="457200" y="928688"/>
            <a:ext cx="6286500" cy="4470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02400"/>
              </a:lnSpc>
              <a:buNone/>
            </a:pPr>
            <a:r>
              <a:rPr lang="en-US" sz="1150" dirty="0">
                <a:solidFill>
                  <a:srgbClr val="E5E7E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A gravação fiável de percursos exige uma tarefa visível ao sistema quando a app deixa de estar em primeiro plano.</a:t>
            </a:r>
            <a:endParaRPr lang="en-US" sz="1150" dirty="0"/>
          </a:p>
        </p:txBody>
      </p:sp>
      <p:sp>
        <p:nvSpPr>
          <p:cNvPr id="6" name="Shape 3"/>
          <p:cNvSpPr/>
          <p:nvPr/>
        </p:nvSpPr>
        <p:spPr>
          <a:xfrm>
            <a:off x="457200" y="1504345"/>
            <a:ext cx="3714750" cy="2000250"/>
          </a:xfrm>
          <a:prstGeom prst="rect">
            <a:avLst/>
          </a:prstGeom>
          <a:solidFill>
            <a:srgbClr val="14141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7" name="Shape 4"/>
          <p:cNvSpPr/>
          <p:nvPr/>
        </p:nvSpPr>
        <p:spPr>
          <a:xfrm>
            <a:off x="457200" y="1504345"/>
            <a:ext cx="3714750" cy="28575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8" name="Text 5"/>
          <p:cNvSpPr/>
          <p:nvPr/>
        </p:nvSpPr>
        <p:spPr>
          <a:xfrm>
            <a:off x="600075" y="1647220"/>
            <a:ext cx="3443288" cy="121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700" b="1" kern="0" spc="2" dirty="0">
                <a:solidFill>
                  <a:srgbClr val="FF6B35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DECISION PATH</a:t>
            </a:r>
            <a:endParaRPr lang="en-US" sz="700" dirty="0"/>
          </a:p>
        </p:txBody>
      </p:sp>
      <p:sp>
        <p:nvSpPr>
          <p:cNvPr id="9" name="Text 6"/>
          <p:cNvSpPr/>
          <p:nvPr/>
        </p:nvSpPr>
        <p:spPr>
          <a:xfrm>
            <a:off x="600075" y="1868677"/>
            <a:ext cx="3443288" cy="11400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1600"/>
              </a:lnSpc>
              <a:buNone/>
            </a:pPr>
            <a:r>
              <a:rPr lang="en-US" sz="1100" dirty="0">
                <a:solidFill>
                  <a:srgbClr val="E5E7E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Sobrevive a app em background?
 ├─ </a:t>
            </a:r>
            <a:r>
              <a:rPr lang="en-US" sz="1050" b="1" dirty="0">
                <a:solidFill>
                  <a:srgbClr val="4ADE80"/>
                </a:solidFill>
                <a:latin typeface="JetBrains Mono Bold" pitchFamily="34" charset="0"/>
                <a:ea typeface="JetBrains Mono Bold" pitchFamily="34" charset="-122"/>
                <a:cs typeface="JetBrains Mono Bold" pitchFamily="34" charset="-120"/>
              </a:rPr>
              <a:t>Sim</a:t>
            </a:r>
            <a:r>
              <a:rPr lang="en-US" sz="1100" dirty="0">
                <a:solidFill>
                  <a:srgbClr val="E5E7E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→ tarefa visível?
 │       └─ </a:t>
            </a:r>
            <a:r>
              <a:rPr lang="en-US" sz="1050" b="1" dirty="0">
                <a:solidFill>
                  <a:srgbClr val="4ADE80"/>
                </a:solidFill>
                <a:latin typeface="JetBrains Mono Bold" pitchFamily="34" charset="0"/>
                <a:ea typeface="JetBrains Mono Bold" pitchFamily="34" charset="-122"/>
                <a:cs typeface="JetBrains Mono Bold" pitchFamily="34" charset="-120"/>
              </a:rPr>
              <a:t>Foreground Service ✓</a:t>
            </a:r>
            <a:r>
              <a:rPr lang="en-US" sz="1100" dirty="0">
                <a:solidFill>
                  <a:srgbClr val="E5E7E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
└─ </a:t>
            </a:r>
            <a:r>
              <a:rPr lang="en-US" sz="1050" b="1" dirty="0">
                <a:solidFill>
                  <a:srgbClr val="EF4444"/>
                </a:solidFill>
                <a:latin typeface="JetBrains Mono Bold" pitchFamily="34" charset="0"/>
                <a:ea typeface="JetBrains Mono Bold" pitchFamily="34" charset="-122"/>
                <a:cs typeface="JetBrains Mono Bold" pitchFamily="34" charset="-120"/>
              </a:rPr>
              <a:t>Não</a:t>
            </a:r>
            <a:r>
              <a:rPr lang="en-US" sz="1100" dirty="0">
                <a:solidFill>
                  <a:srgbClr val="E5E7E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→ coroutine no
         </a:t>
            </a:r>
            <a:r>
              <a:rPr lang="en-US" sz="1050" b="1" dirty="0">
                <a:solidFill>
                  <a:srgbClr val="3B82F6"/>
                </a:solidFill>
                <a:latin typeface="JetBrains Mono Bold" pitchFamily="34" charset="0"/>
                <a:ea typeface="JetBrains Mono Bold" pitchFamily="34" charset="-122"/>
                <a:cs typeface="JetBrains Mono Bold" pitchFamily="34" charset="-120"/>
              </a:rPr>
              <a:t>ViewModelScope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429125" y="1504345"/>
            <a:ext cx="4257675" cy="2000250"/>
          </a:xfrm>
          <a:prstGeom prst="rect">
            <a:avLst/>
          </a:prstGeom>
          <a:solidFill>
            <a:srgbClr val="101015"/>
          </a:solidFill>
          <a:ln w="9144">
            <a:solidFill>
              <a:srgbClr val="6B7280"/>
            </a:solidFill>
            <a:prstDash val="dash"/>
          </a:ln>
        </p:spPr>
        <p:txBody>
          <a:bodyPr/>
          <a:lstStyle/>
          <a:p>
            <a:endParaRPr lang="es-ES"/>
          </a:p>
        </p:txBody>
      </p:sp>
      <p:sp>
        <p:nvSpPr>
          <p:cNvPr id="11" name="Text 8"/>
          <p:cNvSpPr/>
          <p:nvPr/>
        </p:nvSpPr>
        <p:spPr>
          <a:xfrm>
            <a:off x="5680621" y="1647220"/>
            <a:ext cx="1754656" cy="121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700" b="1" kern="0" spc="2" dirty="0">
                <a:solidFill>
                  <a:srgbClr val="FF6B35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PLACEHOLDER SCREENSHOT</a:t>
            </a:r>
            <a:endParaRPr lang="en-US" sz="700" dirty="0"/>
          </a:p>
        </p:txBody>
      </p:sp>
      <p:sp>
        <p:nvSpPr>
          <p:cNvPr id="12" name="Shape 9"/>
          <p:cNvSpPr/>
          <p:nvPr/>
        </p:nvSpPr>
        <p:spPr>
          <a:xfrm>
            <a:off x="5414963" y="1925827"/>
            <a:ext cx="2286000" cy="208620"/>
          </a:xfrm>
          <a:prstGeom prst="rect">
            <a:avLst/>
          </a:prstGeom>
          <a:solidFill>
            <a:srgbClr val="10101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3" name="Shape 10"/>
          <p:cNvSpPr/>
          <p:nvPr/>
        </p:nvSpPr>
        <p:spPr>
          <a:xfrm>
            <a:off x="5414963" y="1925827"/>
            <a:ext cx="2286000" cy="21431"/>
          </a:xfrm>
          <a:prstGeom prst="rect">
            <a:avLst/>
          </a:prstGeom>
          <a:solidFill>
            <a:srgbClr val="2F3038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4" name="Text 11"/>
          <p:cNvSpPr/>
          <p:nvPr/>
        </p:nvSpPr>
        <p:spPr>
          <a:xfrm>
            <a:off x="5514975" y="1973880"/>
            <a:ext cx="442913" cy="11251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650" dirty="0">
                <a:solidFill>
                  <a:srgbClr val="A1A1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VitalRoute</a:t>
            </a:r>
            <a:endParaRPr lang="en-US" sz="650" dirty="0"/>
          </a:p>
        </p:txBody>
      </p:sp>
      <p:sp>
        <p:nvSpPr>
          <p:cNvPr id="15" name="Text 12"/>
          <p:cNvSpPr/>
          <p:nvPr/>
        </p:nvSpPr>
        <p:spPr>
          <a:xfrm>
            <a:off x="7361634" y="1973880"/>
            <a:ext cx="239316" cy="11251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650" dirty="0">
                <a:solidFill>
                  <a:srgbClr val="A1A1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12:42</a:t>
            </a:r>
            <a:endParaRPr lang="en-US" sz="650" dirty="0"/>
          </a:p>
        </p:txBody>
      </p:sp>
      <p:sp>
        <p:nvSpPr>
          <p:cNvPr id="16" name="Shape 13"/>
          <p:cNvSpPr/>
          <p:nvPr/>
        </p:nvSpPr>
        <p:spPr>
          <a:xfrm>
            <a:off x="5414963" y="2248746"/>
            <a:ext cx="2286000" cy="857250"/>
          </a:xfrm>
          <a:prstGeom prst="rect">
            <a:avLst/>
          </a:prstGeom>
          <a:solidFill>
            <a:srgbClr val="18181F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7" name="Shape 14"/>
          <p:cNvSpPr/>
          <p:nvPr/>
        </p:nvSpPr>
        <p:spPr>
          <a:xfrm>
            <a:off x="5414963" y="2248746"/>
            <a:ext cx="2286000" cy="28575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8" name="Text 15"/>
          <p:cNvSpPr/>
          <p:nvPr/>
        </p:nvSpPr>
        <p:spPr>
          <a:xfrm>
            <a:off x="5514975" y="2365000"/>
            <a:ext cx="1119783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5F5F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Percurso a gravar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7216973" y="2364107"/>
            <a:ext cx="383977" cy="157163"/>
          </a:xfrm>
          <a:prstGeom prst="rect">
            <a:avLst/>
          </a:prstGeom>
          <a:solidFill>
            <a:srgbClr val="4ADE80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0" name="Text 17"/>
          <p:cNvSpPr/>
          <p:nvPr/>
        </p:nvSpPr>
        <p:spPr>
          <a:xfrm>
            <a:off x="7216973" y="2364107"/>
            <a:ext cx="383977" cy="157163"/>
          </a:xfrm>
          <a:prstGeom prst="rect">
            <a:avLst/>
          </a:prstGeom>
          <a:noFill/>
          <a:ln/>
        </p:spPr>
        <p:txBody>
          <a:bodyPr wrap="none" lIns="68072" tIns="34036" rIns="68072" bIns="0" rtlCol="0" anchor="t">
            <a:spAutoFit/>
          </a:bodyPr>
          <a:lstStyle/>
          <a:p>
            <a:pPr marL="0" indent="0" algn="l">
              <a:buNone/>
            </a:pPr>
            <a:r>
              <a:rPr lang="en-US" sz="600" b="1" dirty="0">
                <a:solidFill>
                  <a:srgbClr val="0E0E12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ATIVO</a:t>
            </a:r>
            <a:endParaRPr lang="en-US" sz="600" dirty="0"/>
          </a:p>
        </p:txBody>
      </p:sp>
      <p:sp>
        <p:nvSpPr>
          <p:cNvPr id="21" name="Text 18"/>
          <p:cNvSpPr/>
          <p:nvPr/>
        </p:nvSpPr>
        <p:spPr>
          <a:xfrm>
            <a:off x="5514975" y="2606994"/>
            <a:ext cx="2085975" cy="2893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800" dirty="0">
                <a:solidFill>
                  <a:srgbClr val="D4D4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Localização em foreground · distância e tempo atualizados continuamente.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5514975" y="2982041"/>
            <a:ext cx="2085975" cy="123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650" dirty="0">
                <a:solidFill>
                  <a:srgbClr val="A1A1A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00:38:12 · 12.4 km · GPS lock</a:t>
            </a:r>
            <a:endParaRPr lang="en-US" sz="650" dirty="0"/>
          </a:p>
        </p:txBody>
      </p:sp>
      <p:sp>
        <p:nvSpPr>
          <p:cNvPr id="23" name="Text 20"/>
          <p:cNvSpPr/>
          <p:nvPr/>
        </p:nvSpPr>
        <p:spPr>
          <a:xfrm>
            <a:off x="5343525" y="3234584"/>
            <a:ext cx="2428875" cy="27001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ct val="108000"/>
              </a:lnSpc>
              <a:buNone/>
            </a:pPr>
            <a:r>
              <a:rPr lang="en-US" sz="750" dirty="0">
                <a:solidFill>
                  <a:srgbClr val="A1A1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[INSERIR SCREENSHOT: notificação persistente VitalRoute durante gravação]</a:t>
            </a:r>
            <a:endParaRPr lang="en-US" sz="750" dirty="0"/>
          </a:p>
        </p:txBody>
      </p:sp>
      <p:sp>
        <p:nvSpPr>
          <p:cNvPr id="24" name="Shape 21"/>
          <p:cNvSpPr/>
          <p:nvPr/>
        </p:nvSpPr>
        <p:spPr>
          <a:xfrm>
            <a:off x="457200" y="3688240"/>
            <a:ext cx="1993106" cy="857250"/>
          </a:xfrm>
          <a:prstGeom prst="rect">
            <a:avLst/>
          </a:prstGeom>
          <a:solidFill>
            <a:srgbClr val="16161D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5" name="Shape 22"/>
          <p:cNvSpPr/>
          <p:nvPr/>
        </p:nvSpPr>
        <p:spPr>
          <a:xfrm>
            <a:off x="457200" y="3688240"/>
            <a:ext cx="1993106" cy="21431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6" name="Text 23"/>
          <p:cNvSpPr/>
          <p:nvPr/>
        </p:nvSpPr>
        <p:spPr>
          <a:xfrm>
            <a:off x="557213" y="3788252"/>
            <a:ext cx="1807369" cy="13963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850" b="1" dirty="0">
                <a:solidFill>
                  <a:srgbClr val="F5F5F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RecordingService</a:t>
            </a:r>
            <a:endParaRPr lang="en-US" sz="850" dirty="0"/>
          </a:p>
        </p:txBody>
      </p:sp>
      <p:sp>
        <p:nvSpPr>
          <p:cNvPr id="27" name="Text 24"/>
          <p:cNvSpPr/>
          <p:nvPr/>
        </p:nvSpPr>
        <p:spPr>
          <a:xfrm>
            <a:off x="557213" y="4004686"/>
            <a:ext cx="1094780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7200"/>
              </a:lnSpc>
              <a:buNone/>
            </a:pPr>
            <a:r>
              <a:rPr lang="en-US" sz="750" dirty="0">
                <a:solidFill>
                  <a:srgbClr val="C7C7C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Serviço declarado com</a:t>
            </a:r>
            <a:endParaRPr lang="en-US" sz="750" dirty="0"/>
          </a:p>
        </p:txBody>
      </p:sp>
      <p:sp>
        <p:nvSpPr>
          <p:cNvPr id="28" name="Shape 25"/>
          <p:cNvSpPr/>
          <p:nvPr/>
        </p:nvSpPr>
        <p:spPr>
          <a:xfrm>
            <a:off x="557213" y="4147617"/>
            <a:ext cx="1714500" cy="112514"/>
          </a:xfrm>
          <a:prstGeom prst="rect">
            <a:avLst/>
          </a:prstGeom>
          <a:solidFill>
            <a:srgbClr val="22222B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9" name="Text 26"/>
          <p:cNvSpPr/>
          <p:nvPr/>
        </p:nvSpPr>
        <p:spPr>
          <a:xfrm>
            <a:off x="557213" y="4147617"/>
            <a:ext cx="1714500" cy="112514"/>
          </a:xfrm>
          <a:prstGeom prst="rect">
            <a:avLst/>
          </a:prstGeom>
          <a:noFill/>
          <a:ln/>
        </p:spPr>
        <p:txBody>
          <a:bodyPr wrap="none" lIns="34036" tIns="0" rIns="34036" bIns="0" rtlCol="0" anchor="t">
            <a:spAutoFit/>
          </a:bodyPr>
          <a:lstStyle/>
          <a:p>
            <a:pPr marL="0" indent="0" algn="l">
              <a:lnSpc>
                <a:spcPct val="107200"/>
              </a:lnSpc>
              <a:buNone/>
            </a:pPr>
            <a:r>
              <a:rPr lang="en-US" sz="600" dirty="0">
                <a:solidFill>
                  <a:srgbClr val="F5F5F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foregroundServiceType="location"</a:t>
            </a:r>
            <a:endParaRPr lang="en-US" sz="600" dirty="0"/>
          </a:p>
        </p:txBody>
      </p:sp>
      <p:sp>
        <p:nvSpPr>
          <p:cNvPr id="30" name="Text 27"/>
          <p:cNvSpPr/>
          <p:nvPr/>
        </p:nvSpPr>
        <p:spPr>
          <a:xfrm>
            <a:off x="2271713" y="4138687"/>
            <a:ext cx="28575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7200"/>
              </a:lnSpc>
              <a:buNone/>
            </a:pPr>
            <a:r>
              <a:rPr lang="en-US" sz="750" dirty="0">
                <a:solidFill>
                  <a:srgbClr val="C7C7C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</a:t>
            </a:r>
            <a:endParaRPr lang="en-US" sz="750" dirty="0"/>
          </a:p>
        </p:txBody>
      </p:sp>
      <p:sp>
        <p:nvSpPr>
          <p:cNvPr id="31" name="Shape 28"/>
          <p:cNvSpPr/>
          <p:nvPr/>
        </p:nvSpPr>
        <p:spPr>
          <a:xfrm>
            <a:off x="2536031" y="3688240"/>
            <a:ext cx="1993106" cy="857250"/>
          </a:xfrm>
          <a:prstGeom prst="rect">
            <a:avLst/>
          </a:prstGeom>
          <a:solidFill>
            <a:srgbClr val="16161D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2" name="Shape 29"/>
          <p:cNvSpPr/>
          <p:nvPr/>
        </p:nvSpPr>
        <p:spPr>
          <a:xfrm>
            <a:off x="2536031" y="3688240"/>
            <a:ext cx="1993106" cy="21431"/>
          </a:xfrm>
          <a:prstGeom prst="rect">
            <a:avLst/>
          </a:prstGeom>
          <a:solidFill>
            <a:srgbClr val="4ADE80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3" name="Text 30"/>
          <p:cNvSpPr/>
          <p:nvPr/>
        </p:nvSpPr>
        <p:spPr>
          <a:xfrm>
            <a:off x="2636044" y="3788252"/>
            <a:ext cx="1807369" cy="13963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850" b="1" dirty="0">
                <a:solidFill>
                  <a:srgbClr val="F5F5F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Notificação visível</a:t>
            </a:r>
            <a:endParaRPr lang="en-US" sz="850" dirty="0"/>
          </a:p>
        </p:txBody>
      </p:sp>
      <p:sp>
        <p:nvSpPr>
          <p:cNvPr id="34" name="Text 31"/>
          <p:cNvSpPr/>
          <p:nvPr/>
        </p:nvSpPr>
        <p:spPr>
          <a:xfrm>
            <a:off x="2636044" y="3999328"/>
            <a:ext cx="1807369" cy="2680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07200"/>
              </a:lnSpc>
              <a:buNone/>
            </a:pPr>
            <a:r>
              <a:rPr lang="en-US" sz="750" dirty="0">
                <a:solidFill>
                  <a:srgbClr val="C7C7C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Indica ao utilizador que o tracking continua ativo.</a:t>
            </a:r>
            <a:endParaRPr lang="en-US" sz="750" dirty="0"/>
          </a:p>
        </p:txBody>
      </p:sp>
      <p:sp>
        <p:nvSpPr>
          <p:cNvPr id="35" name="Shape 32"/>
          <p:cNvSpPr/>
          <p:nvPr/>
        </p:nvSpPr>
        <p:spPr>
          <a:xfrm>
            <a:off x="4614863" y="3688240"/>
            <a:ext cx="1993106" cy="857250"/>
          </a:xfrm>
          <a:prstGeom prst="rect">
            <a:avLst/>
          </a:prstGeom>
          <a:solidFill>
            <a:srgbClr val="16161D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6" name="Shape 33"/>
          <p:cNvSpPr/>
          <p:nvPr/>
        </p:nvSpPr>
        <p:spPr>
          <a:xfrm>
            <a:off x="4614863" y="3688240"/>
            <a:ext cx="1993106" cy="21431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7" name="Text 34"/>
          <p:cNvSpPr/>
          <p:nvPr/>
        </p:nvSpPr>
        <p:spPr>
          <a:xfrm>
            <a:off x="4714875" y="3788252"/>
            <a:ext cx="1807369" cy="13963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850" b="1" dirty="0">
                <a:solidFill>
                  <a:srgbClr val="F5F5F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Ecrã apagado</a:t>
            </a:r>
            <a:endParaRPr lang="en-US" sz="850" dirty="0"/>
          </a:p>
        </p:txBody>
      </p:sp>
      <p:sp>
        <p:nvSpPr>
          <p:cNvPr id="38" name="Text 35"/>
          <p:cNvSpPr/>
          <p:nvPr/>
        </p:nvSpPr>
        <p:spPr>
          <a:xfrm>
            <a:off x="4714875" y="3999328"/>
            <a:ext cx="1807369" cy="2680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07200"/>
              </a:lnSpc>
              <a:buNone/>
            </a:pPr>
            <a:r>
              <a:rPr lang="en-US" sz="750" dirty="0">
                <a:solidFill>
                  <a:srgbClr val="C7C7C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 percurso continua sem depender do ecrã aberto.</a:t>
            </a:r>
            <a:endParaRPr lang="en-US" sz="750" dirty="0"/>
          </a:p>
        </p:txBody>
      </p:sp>
      <p:sp>
        <p:nvSpPr>
          <p:cNvPr id="39" name="Shape 36"/>
          <p:cNvSpPr/>
          <p:nvPr/>
        </p:nvSpPr>
        <p:spPr>
          <a:xfrm>
            <a:off x="6693694" y="3688240"/>
            <a:ext cx="1993106" cy="857250"/>
          </a:xfrm>
          <a:prstGeom prst="rect">
            <a:avLst/>
          </a:prstGeom>
          <a:solidFill>
            <a:srgbClr val="16161D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40" name="Shape 37"/>
          <p:cNvSpPr/>
          <p:nvPr/>
        </p:nvSpPr>
        <p:spPr>
          <a:xfrm>
            <a:off x="6693694" y="3688240"/>
            <a:ext cx="1993106" cy="21431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41" name="Text 38"/>
          <p:cNvSpPr/>
          <p:nvPr/>
        </p:nvSpPr>
        <p:spPr>
          <a:xfrm>
            <a:off x="6793706" y="3788252"/>
            <a:ext cx="1807369" cy="13963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850" b="1" dirty="0">
                <a:solidFill>
                  <a:srgbClr val="F5F5F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Permissão dedicada</a:t>
            </a:r>
            <a:endParaRPr lang="en-US" sz="850" dirty="0"/>
          </a:p>
        </p:txBody>
      </p:sp>
      <p:sp>
        <p:nvSpPr>
          <p:cNvPr id="42" name="Shape 39"/>
          <p:cNvSpPr/>
          <p:nvPr/>
        </p:nvSpPr>
        <p:spPr>
          <a:xfrm>
            <a:off x="6793706" y="4013615"/>
            <a:ext cx="1455539" cy="112514"/>
          </a:xfrm>
          <a:prstGeom prst="rect">
            <a:avLst/>
          </a:prstGeom>
          <a:solidFill>
            <a:srgbClr val="22222B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43" name="Text 40"/>
          <p:cNvSpPr/>
          <p:nvPr/>
        </p:nvSpPr>
        <p:spPr>
          <a:xfrm>
            <a:off x="6793706" y="4013615"/>
            <a:ext cx="1455539" cy="112514"/>
          </a:xfrm>
          <a:prstGeom prst="rect">
            <a:avLst/>
          </a:prstGeom>
          <a:noFill/>
          <a:ln/>
        </p:spPr>
        <p:txBody>
          <a:bodyPr wrap="none" lIns="34036" tIns="0" rIns="34036" bIns="0" rtlCol="0" anchor="t">
            <a:spAutoFit/>
          </a:bodyPr>
          <a:lstStyle/>
          <a:p>
            <a:pPr marL="0" indent="0" algn="l">
              <a:lnSpc>
                <a:spcPct val="107200"/>
              </a:lnSpc>
              <a:buNone/>
            </a:pPr>
            <a:r>
              <a:rPr lang="en-US" sz="600" dirty="0">
                <a:solidFill>
                  <a:srgbClr val="F5F5F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FOREGROUND_SERVICE_LOCATION</a:t>
            </a:r>
            <a:endParaRPr lang="en-US" sz="600" dirty="0"/>
          </a:p>
        </p:txBody>
      </p:sp>
      <p:sp>
        <p:nvSpPr>
          <p:cNvPr id="44" name="Text 41"/>
          <p:cNvSpPr/>
          <p:nvPr/>
        </p:nvSpPr>
        <p:spPr>
          <a:xfrm>
            <a:off x="6793706" y="4138687"/>
            <a:ext cx="1589484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7200"/>
              </a:lnSpc>
              <a:buNone/>
            </a:pPr>
            <a:r>
              <a:rPr lang="en-US" sz="750" dirty="0">
                <a:solidFill>
                  <a:srgbClr val="C7C7C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declarada para Android moderno.</a:t>
            </a:r>
            <a:endParaRPr lang="en-US" sz="750" dirty="0"/>
          </a:p>
        </p:txBody>
      </p:sp>
      <p:sp>
        <p:nvSpPr>
          <p:cNvPr id="45" name="Shape 42"/>
          <p:cNvSpPr/>
          <p:nvPr/>
        </p:nvSpPr>
        <p:spPr>
          <a:xfrm>
            <a:off x="457200" y="4572000"/>
            <a:ext cx="8229600" cy="571500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46" name="Shape 43"/>
          <p:cNvSpPr/>
          <p:nvPr/>
        </p:nvSpPr>
        <p:spPr>
          <a:xfrm>
            <a:off x="457200" y="4572000"/>
            <a:ext cx="8229600" cy="714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47" name="Text 44"/>
          <p:cNvSpPr/>
          <p:nvPr/>
        </p:nvSpPr>
        <p:spPr>
          <a:xfrm>
            <a:off x="457200" y="4797028"/>
            <a:ext cx="1680567" cy="121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7779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VitalRoute · ICM 2025/26 · UA-DETI</a:t>
            </a:r>
            <a:endParaRPr lang="en-US" sz="750" dirty="0"/>
          </a:p>
        </p:txBody>
      </p:sp>
      <p:sp>
        <p:nvSpPr>
          <p:cNvPr id="48" name="Text 45"/>
          <p:cNvSpPr/>
          <p:nvPr/>
        </p:nvSpPr>
        <p:spPr>
          <a:xfrm>
            <a:off x="8388548" y="4797028"/>
            <a:ext cx="298252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7779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 / 12</a:t>
            </a:r>
            <a:endParaRPr lang="en-US" sz="7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373261"/>
            <a:ext cx="2143795" cy="3125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800" b="1" kern="0" spc="-1" dirty="0">
                <a:solidFill>
                  <a:srgbClr val="F5F5F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Do sensor ao SMS</a:t>
            </a:r>
            <a:endParaRPr lang="en-US" sz="1800" dirty="0"/>
          </a:p>
        </p:txBody>
      </p:sp>
      <p:sp>
        <p:nvSpPr>
          <p:cNvPr id="4" name="Text 1"/>
          <p:cNvSpPr/>
          <p:nvPr/>
        </p:nvSpPr>
        <p:spPr>
          <a:xfrm>
            <a:off x="7885751" y="573286"/>
            <a:ext cx="801049" cy="11251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650" b="1" kern="0" spc="2" dirty="0">
                <a:solidFill>
                  <a:srgbClr val="FF6B3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SISTEMA SOS</a:t>
            </a:r>
            <a:endParaRPr lang="en-US" sz="650" dirty="0"/>
          </a:p>
        </p:txBody>
      </p:sp>
      <p:sp>
        <p:nvSpPr>
          <p:cNvPr id="5" name="Text 2"/>
          <p:cNvSpPr/>
          <p:nvPr/>
        </p:nvSpPr>
        <p:spPr>
          <a:xfrm>
            <a:off x="457200" y="914400"/>
            <a:ext cx="6715125" cy="4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02400"/>
              </a:lnSpc>
              <a:buNone/>
            </a:pPr>
            <a:r>
              <a:rPr lang="en-US" sz="1150" dirty="0">
                <a:solidFill>
                  <a:srgbClr val="E5E7E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O SOS transforma deteção de queda numa comunicação automática, cancelável e contextualizada com localização.</a:t>
            </a:r>
            <a:endParaRPr lang="en-US" sz="1150" dirty="0"/>
          </a:p>
        </p:txBody>
      </p:sp>
      <p:sp>
        <p:nvSpPr>
          <p:cNvPr id="6" name="Shape 3"/>
          <p:cNvSpPr/>
          <p:nvPr/>
        </p:nvSpPr>
        <p:spPr>
          <a:xfrm>
            <a:off x="457200" y="1485230"/>
            <a:ext cx="1210866" cy="1699403"/>
          </a:xfrm>
          <a:prstGeom prst="rect">
            <a:avLst/>
          </a:prstGeom>
          <a:solidFill>
            <a:srgbClr val="16161D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7" name="Shape 4"/>
          <p:cNvSpPr/>
          <p:nvPr/>
        </p:nvSpPr>
        <p:spPr>
          <a:xfrm>
            <a:off x="457200" y="1485230"/>
            <a:ext cx="1210866" cy="28575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8" name="Shape 5"/>
          <p:cNvSpPr/>
          <p:nvPr/>
        </p:nvSpPr>
        <p:spPr>
          <a:xfrm>
            <a:off x="542925" y="1570955"/>
            <a:ext cx="257175" cy="257175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9" name="Text 6"/>
          <p:cNvSpPr/>
          <p:nvPr/>
        </p:nvSpPr>
        <p:spPr>
          <a:xfrm>
            <a:off x="542925" y="1570955"/>
            <a:ext cx="257175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5F5F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1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542925" y="1928143"/>
            <a:ext cx="1039416" cy="3314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92800"/>
              </a:lnSpc>
              <a:buNone/>
            </a:pPr>
            <a:r>
              <a:rPr lang="en-US" sz="1000" b="1" dirty="0">
                <a:solidFill>
                  <a:srgbClr val="F5F5F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Queda detetada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42925" y="2331039"/>
            <a:ext cx="1039416" cy="7178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07200"/>
              </a:lnSpc>
              <a:buNone/>
            </a:pPr>
            <a:r>
              <a:rPr lang="en-US" sz="800" dirty="0">
                <a:solidFill>
                  <a:srgbClr val="C7C7C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Sensibilidade configurada identifica impacto provável durante o percurso.</a:t>
            </a:r>
            <a:endParaRPr lang="en-US" sz="800" dirty="0"/>
          </a:p>
        </p:txBody>
      </p:sp>
      <p:sp>
        <p:nvSpPr>
          <p:cNvPr id="12" name="Shape 9"/>
          <p:cNvSpPr/>
          <p:nvPr/>
        </p:nvSpPr>
        <p:spPr>
          <a:xfrm>
            <a:off x="1768078" y="1485230"/>
            <a:ext cx="1210866" cy="1670828"/>
          </a:xfrm>
          <a:prstGeom prst="rect">
            <a:avLst/>
          </a:prstGeom>
          <a:solidFill>
            <a:srgbClr val="16161D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3" name="Shape 10"/>
          <p:cNvSpPr/>
          <p:nvPr/>
        </p:nvSpPr>
        <p:spPr>
          <a:xfrm>
            <a:off x="1768078" y="1485230"/>
            <a:ext cx="1210866" cy="28575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4" name="Shape 11"/>
          <p:cNvSpPr/>
          <p:nvPr/>
        </p:nvSpPr>
        <p:spPr>
          <a:xfrm>
            <a:off x="1853803" y="1570955"/>
            <a:ext cx="257175" cy="257175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5" name="Text 12"/>
          <p:cNvSpPr/>
          <p:nvPr/>
        </p:nvSpPr>
        <p:spPr>
          <a:xfrm>
            <a:off x="1853803" y="1570955"/>
            <a:ext cx="257175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E0E12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2</a:t>
            </a:r>
            <a:endParaRPr lang="en-US" sz="850" dirty="0"/>
          </a:p>
        </p:txBody>
      </p:sp>
      <p:sp>
        <p:nvSpPr>
          <p:cNvPr id="16" name="Text 13"/>
          <p:cNvSpPr/>
          <p:nvPr/>
        </p:nvSpPr>
        <p:spPr>
          <a:xfrm>
            <a:off x="1853803" y="1928143"/>
            <a:ext cx="1039416" cy="16572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92800"/>
              </a:lnSpc>
              <a:buNone/>
            </a:pPr>
            <a:r>
              <a:rPr lang="en-US" sz="1000" b="1" dirty="0">
                <a:solidFill>
                  <a:srgbClr val="F5F5F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SosSlider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1853803" y="2172453"/>
            <a:ext cx="962620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7200"/>
              </a:lnSpc>
              <a:buNone/>
            </a:pPr>
            <a:r>
              <a:rPr lang="en-US" sz="800" dirty="0">
                <a:solidFill>
                  <a:srgbClr val="C7C7C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Surge no ecrã com</a:t>
            </a:r>
            <a:endParaRPr lang="en-US" sz="800" dirty="0"/>
          </a:p>
        </p:txBody>
      </p:sp>
      <p:sp>
        <p:nvSpPr>
          <p:cNvPr id="18" name="Shape 15"/>
          <p:cNvSpPr/>
          <p:nvPr/>
        </p:nvSpPr>
        <p:spPr>
          <a:xfrm>
            <a:off x="1853803" y="2324956"/>
            <a:ext cx="223242" cy="123230"/>
          </a:xfrm>
          <a:prstGeom prst="rect">
            <a:avLst/>
          </a:prstGeom>
          <a:solidFill>
            <a:srgbClr val="22222B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9" name="Text 16"/>
          <p:cNvSpPr/>
          <p:nvPr/>
        </p:nvSpPr>
        <p:spPr>
          <a:xfrm>
            <a:off x="1853803" y="2324956"/>
            <a:ext cx="223242" cy="123230"/>
          </a:xfrm>
          <a:prstGeom prst="rect">
            <a:avLst/>
          </a:prstGeom>
          <a:noFill/>
          <a:ln/>
        </p:spPr>
        <p:txBody>
          <a:bodyPr wrap="none" lIns="34036" tIns="0" rIns="34036" bIns="0" rtlCol="0" anchor="t">
            <a:spAutoFit/>
          </a:bodyPr>
          <a:lstStyle/>
          <a:p>
            <a:pPr marL="0" indent="0" algn="l">
              <a:lnSpc>
                <a:spcPct val="107200"/>
              </a:lnSpc>
              <a:buNone/>
            </a:pPr>
            <a:r>
              <a:rPr lang="en-US" sz="650" dirty="0">
                <a:solidFill>
                  <a:srgbClr val="F5F5F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10s</a:t>
            </a:r>
            <a:endParaRPr lang="en-US" sz="650" dirty="0"/>
          </a:p>
        </p:txBody>
      </p:sp>
      <p:sp>
        <p:nvSpPr>
          <p:cNvPr id="20" name="Text 17"/>
          <p:cNvSpPr/>
          <p:nvPr/>
        </p:nvSpPr>
        <p:spPr>
          <a:xfrm>
            <a:off x="2077045" y="2316026"/>
            <a:ext cx="728663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7200"/>
              </a:lnSpc>
              <a:buNone/>
            </a:pPr>
            <a:r>
              <a:rPr lang="en-US" sz="800" dirty="0">
                <a:solidFill>
                  <a:srgbClr val="C7C7C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para cancelar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1853803" y="2459599"/>
            <a:ext cx="707231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7200"/>
              </a:lnSpc>
              <a:buNone/>
            </a:pPr>
            <a:r>
              <a:rPr lang="en-US" sz="800" dirty="0">
                <a:solidFill>
                  <a:srgbClr val="C7C7C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falso positivo.</a:t>
            </a:r>
            <a:endParaRPr lang="en-US" sz="800" dirty="0"/>
          </a:p>
        </p:txBody>
      </p:sp>
      <p:sp>
        <p:nvSpPr>
          <p:cNvPr id="22" name="Shape 19"/>
          <p:cNvSpPr/>
          <p:nvPr/>
        </p:nvSpPr>
        <p:spPr>
          <a:xfrm>
            <a:off x="3078956" y="1485230"/>
            <a:ext cx="1210866" cy="1670828"/>
          </a:xfrm>
          <a:prstGeom prst="rect">
            <a:avLst/>
          </a:prstGeom>
          <a:solidFill>
            <a:srgbClr val="16161D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3" name="Shape 20"/>
          <p:cNvSpPr/>
          <p:nvPr/>
        </p:nvSpPr>
        <p:spPr>
          <a:xfrm>
            <a:off x="3078956" y="1485230"/>
            <a:ext cx="1210866" cy="28575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4" name="Shape 21"/>
          <p:cNvSpPr/>
          <p:nvPr/>
        </p:nvSpPr>
        <p:spPr>
          <a:xfrm>
            <a:off x="3164681" y="1570955"/>
            <a:ext cx="257175" cy="257175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5" name="Text 22"/>
          <p:cNvSpPr/>
          <p:nvPr/>
        </p:nvSpPr>
        <p:spPr>
          <a:xfrm>
            <a:off x="3164681" y="1570955"/>
            <a:ext cx="257175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E0E12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3</a:t>
            </a:r>
            <a:endParaRPr lang="en-US" sz="850" dirty="0"/>
          </a:p>
        </p:txBody>
      </p:sp>
      <p:sp>
        <p:nvSpPr>
          <p:cNvPr id="26" name="Text 23"/>
          <p:cNvSpPr/>
          <p:nvPr/>
        </p:nvSpPr>
        <p:spPr>
          <a:xfrm>
            <a:off x="3164681" y="1928143"/>
            <a:ext cx="1039416" cy="16572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92800"/>
              </a:lnSpc>
              <a:buNone/>
            </a:pPr>
            <a:r>
              <a:rPr lang="en-US" sz="1000" b="1" dirty="0">
                <a:solidFill>
                  <a:srgbClr val="F5F5F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Envio SMS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3164681" y="2181383"/>
            <a:ext cx="610791" cy="123230"/>
          </a:xfrm>
          <a:prstGeom prst="rect">
            <a:avLst/>
          </a:prstGeom>
          <a:solidFill>
            <a:srgbClr val="22222B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8" name="Text 25"/>
          <p:cNvSpPr/>
          <p:nvPr/>
        </p:nvSpPr>
        <p:spPr>
          <a:xfrm>
            <a:off x="3164681" y="2181383"/>
            <a:ext cx="610791" cy="123230"/>
          </a:xfrm>
          <a:prstGeom prst="rect">
            <a:avLst/>
          </a:prstGeom>
          <a:noFill/>
          <a:ln/>
        </p:spPr>
        <p:txBody>
          <a:bodyPr wrap="none" lIns="34036" tIns="0" rIns="34036" bIns="0" rtlCol="0" anchor="t">
            <a:spAutoFit/>
          </a:bodyPr>
          <a:lstStyle/>
          <a:p>
            <a:pPr marL="0" indent="0" algn="l">
              <a:lnSpc>
                <a:spcPct val="107200"/>
              </a:lnSpc>
              <a:buNone/>
            </a:pPr>
            <a:r>
              <a:rPr lang="en-US" sz="650" dirty="0">
                <a:solidFill>
                  <a:srgbClr val="F5F5F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SosManager</a:t>
            </a:r>
            <a:endParaRPr lang="en-US" sz="650" dirty="0"/>
          </a:p>
        </p:txBody>
      </p:sp>
      <p:sp>
        <p:nvSpPr>
          <p:cNvPr id="29" name="Text 26"/>
          <p:cNvSpPr/>
          <p:nvPr/>
        </p:nvSpPr>
        <p:spPr>
          <a:xfrm>
            <a:off x="3775472" y="2172453"/>
            <a:ext cx="210741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7200"/>
              </a:lnSpc>
              <a:buNone/>
            </a:pPr>
            <a:r>
              <a:rPr lang="en-US" sz="800" dirty="0">
                <a:solidFill>
                  <a:srgbClr val="C7C7C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usa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3164681" y="2324956"/>
            <a:ext cx="610791" cy="123230"/>
          </a:xfrm>
          <a:prstGeom prst="rect">
            <a:avLst/>
          </a:prstGeom>
          <a:solidFill>
            <a:srgbClr val="22222B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1" name="Text 28"/>
          <p:cNvSpPr/>
          <p:nvPr/>
        </p:nvSpPr>
        <p:spPr>
          <a:xfrm>
            <a:off x="3164681" y="2324956"/>
            <a:ext cx="610791" cy="123230"/>
          </a:xfrm>
          <a:prstGeom prst="rect">
            <a:avLst/>
          </a:prstGeom>
          <a:noFill/>
          <a:ln/>
        </p:spPr>
        <p:txBody>
          <a:bodyPr wrap="none" lIns="34036" tIns="0" rIns="34036" bIns="0" rtlCol="0" anchor="t">
            <a:spAutoFit/>
          </a:bodyPr>
          <a:lstStyle/>
          <a:p>
            <a:pPr marL="0" indent="0" algn="l">
              <a:lnSpc>
                <a:spcPct val="107200"/>
              </a:lnSpc>
              <a:buNone/>
            </a:pPr>
            <a:r>
              <a:rPr lang="en-US" sz="650" dirty="0">
                <a:solidFill>
                  <a:srgbClr val="F5F5F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SmsManager</a:t>
            </a:r>
            <a:endParaRPr lang="en-US" sz="650" dirty="0"/>
          </a:p>
        </p:txBody>
      </p:sp>
      <p:sp>
        <p:nvSpPr>
          <p:cNvPr id="32" name="Text 29"/>
          <p:cNvSpPr/>
          <p:nvPr/>
        </p:nvSpPr>
        <p:spPr>
          <a:xfrm>
            <a:off x="3775472" y="2316026"/>
            <a:ext cx="260747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7200"/>
              </a:lnSpc>
              <a:buNone/>
            </a:pPr>
            <a:r>
              <a:rPr lang="en-US" sz="800" dirty="0">
                <a:solidFill>
                  <a:srgbClr val="C7C7C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para</a:t>
            </a:r>
            <a:endParaRPr lang="en-US" sz="800" dirty="0"/>
          </a:p>
        </p:txBody>
      </p:sp>
      <p:sp>
        <p:nvSpPr>
          <p:cNvPr id="33" name="Text 30"/>
          <p:cNvSpPr/>
          <p:nvPr/>
        </p:nvSpPr>
        <p:spPr>
          <a:xfrm>
            <a:off x="3164681" y="2459599"/>
            <a:ext cx="482203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7200"/>
              </a:lnSpc>
              <a:buNone/>
            </a:pPr>
            <a:r>
              <a:rPr lang="en-US" sz="800" dirty="0">
                <a:solidFill>
                  <a:srgbClr val="C7C7C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contactar</a:t>
            </a:r>
            <a:endParaRPr lang="en-US" sz="800" dirty="0"/>
          </a:p>
        </p:txBody>
      </p:sp>
      <p:sp>
        <p:nvSpPr>
          <p:cNvPr id="34" name="Text 31"/>
          <p:cNvSpPr/>
          <p:nvPr/>
        </p:nvSpPr>
        <p:spPr>
          <a:xfrm>
            <a:off x="3164681" y="2603171"/>
            <a:ext cx="703659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7200"/>
              </a:lnSpc>
              <a:buNone/>
            </a:pPr>
            <a:r>
              <a:rPr lang="en-US" sz="800" dirty="0">
                <a:solidFill>
                  <a:srgbClr val="C7C7C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responsáveis.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4389834" y="1485230"/>
            <a:ext cx="1210866" cy="1670828"/>
          </a:xfrm>
          <a:prstGeom prst="rect">
            <a:avLst/>
          </a:prstGeom>
          <a:solidFill>
            <a:srgbClr val="16161D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6" name="Shape 33"/>
          <p:cNvSpPr/>
          <p:nvPr/>
        </p:nvSpPr>
        <p:spPr>
          <a:xfrm>
            <a:off x="4389834" y="1485230"/>
            <a:ext cx="1210866" cy="28575"/>
          </a:xfrm>
          <a:prstGeom prst="rect">
            <a:avLst/>
          </a:prstGeom>
          <a:solidFill>
            <a:srgbClr val="4ADE80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7" name="Shape 34"/>
          <p:cNvSpPr/>
          <p:nvPr/>
        </p:nvSpPr>
        <p:spPr>
          <a:xfrm>
            <a:off x="4475559" y="1570955"/>
            <a:ext cx="257175" cy="257175"/>
          </a:xfrm>
          <a:prstGeom prst="rect">
            <a:avLst/>
          </a:prstGeom>
          <a:solidFill>
            <a:srgbClr val="4ADE80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8" name="Text 35"/>
          <p:cNvSpPr/>
          <p:nvPr/>
        </p:nvSpPr>
        <p:spPr>
          <a:xfrm>
            <a:off x="4475559" y="1570955"/>
            <a:ext cx="257175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E0E12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4</a:t>
            </a:r>
            <a:endParaRPr lang="en-US" sz="850" dirty="0"/>
          </a:p>
        </p:txBody>
      </p:sp>
      <p:sp>
        <p:nvSpPr>
          <p:cNvPr id="39" name="Text 36"/>
          <p:cNvSpPr/>
          <p:nvPr/>
        </p:nvSpPr>
        <p:spPr>
          <a:xfrm>
            <a:off x="4475559" y="1928143"/>
            <a:ext cx="1039416" cy="3314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92800"/>
              </a:lnSpc>
              <a:buNone/>
            </a:pPr>
            <a:r>
              <a:rPr lang="en-US" sz="1000" b="1" dirty="0">
                <a:solidFill>
                  <a:srgbClr val="F5F5F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Localização GPS</a:t>
            </a:r>
            <a:endParaRPr lang="en-US" sz="1000" dirty="0"/>
          </a:p>
        </p:txBody>
      </p:sp>
      <p:sp>
        <p:nvSpPr>
          <p:cNvPr id="40" name="Text 37"/>
          <p:cNvSpPr/>
          <p:nvPr/>
        </p:nvSpPr>
        <p:spPr>
          <a:xfrm>
            <a:off x="4475559" y="2331039"/>
            <a:ext cx="1039416" cy="4307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07200"/>
              </a:lnSpc>
              <a:buNone/>
            </a:pPr>
            <a:r>
              <a:rPr lang="en-US" sz="800" dirty="0">
                <a:solidFill>
                  <a:srgbClr val="C7C7C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mensagem inclui a última posição conhecida do atleta.</a:t>
            </a:r>
            <a:endParaRPr lang="en-US" sz="800" dirty="0"/>
          </a:p>
        </p:txBody>
      </p:sp>
      <p:sp>
        <p:nvSpPr>
          <p:cNvPr id="41" name="Shape 38"/>
          <p:cNvSpPr/>
          <p:nvPr/>
        </p:nvSpPr>
        <p:spPr>
          <a:xfrm>
            <a:off x="5915025" y="1485230"/>
            <a:ext cx="2771775" cy="1321594"/>
          </a:xfrm>
          <a:prstGeom prst="rect">
            <a:avLst/>
          </a:prstGeom>
          <a:solidFill>
            <a:srgbClr val="101015"/>
          </a:solidFill>
          <a:ln w="9144">
            <a:solidFill>
              <a:srgbClr val="6B7280"/>
            </a:solidFill>
            <a:prstDash val="dash"/>
          </a:ln>
        </p:spPr>
        <p:txBody>
          <a:bodyPr/>
          <a:lstStyle/>
          <a:p>
            <a:endParaRPr lang="es-ES"/>
          </a:p>
        </p:txBody>
      </p:sp>
      <p:sp>
        <p:nvSpPr>
          <p:cNvPr id="42" name="Text 39"/>
          <p:cNvSpPr/>
          <p:nvPr/>
        </p:nvSpPr>
        <p:spPr>
          <a:xfrm>
            <a:off x="6434565" y="1570955"/>
            <a:ext cx="1732666" cy="121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700" b="1" kern="0" spc="1" dirty="0">
                <a:solidFill>
                  <a:srgbClr val="FF6B35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PLACEHOLDER SCREENSHOT</a:t>
            </a:r>
            <a:endParaRPr lang="en-US" sz="700" dirty="0"/>
          </a:p>
        </p:txBody>
      </p:sp>
      <p:sp>
        <p:nvSpPr>
          <p:cNvPr id="43" name="Shape 40"/>
          <p:cNvSpPr/>
          <p:nvPr/>
        </p:nvSpPr>
        <p:spPr>
          <a:xfrm>
            <a:off x="6522244" y="1749549"/>
            <a:ext cx="1557338" cy="914400"/>
          </a:xfrm>
          <a:prstGeom prst="rect">
            <a:avLst/>
          </a:prstGeom>
          <a:solidFill>
            <a:srgbClr val="111116"/>
          </a:solidFill>
          <a:ln w="18288">
            <a:solidFill>
              <a:srgbClr val="2F303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4" name="Shape 41"/>
          <p:cNvSpPr/>
          <p:nvPr/>
        </p:nvSpPr>
        <p:spPr>
          <a:xfrm>
            <a:off x="6686550" y="1883578"/>
            <a:ext cx="1228725" cy="151721"/>
          </a:xfrm>
          <a:prstGeom prst="rect">
            <a:avLst/>
          </a:prstGeom>
          <a:solidFill>
            <a:srgbClr val="2A1112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45" name="Shape 42"/>
          <p:cNvSpPr/>
          <p:nvPr/>
        </p:nvSpPr>
        <p:spPr>
          <a:xfrm>
            <a:off x="6686550" y="1883578"/>
            <a:ext cx="1228725" cy="21431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46" name="Text 43"/>
          <p:cNvSpPr/>
          <p:nvPr/>
        </p:nvSpPr>
        <p:spPr>
          <a:xfrm>
            <a:off x="6686550" y="1883578"/>
            <a:ext cx="1228725" cy="151721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EF4444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SOS PENDENTE</a:t>
            </a:r>
            <a:endParaRPr lang="en-US" sz="750" dirty="0"/>
          </a:p>
        </p:txBody>
      </p:sp>
      <p:sp>
        <p:nvSpPr>
          <p:cNvPr id="47" name="Text 44"/>
          <p:cNvSpPr/>
          <p:nvPr/>
        </p:nvSpPr>
        <p:spPr>
          <a:xfrm>
            <a:off x="7120533" y="2106737"/>
            <a:ext cx="360759" cy="30003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80000"/>
              </a:lnSpc>
              <a:buNone/>
            </a:pPr>
            <a:r>
              <a:rPr lang="en-US" sz="2100" b="1" dirty="0">
                <a:solidFill>
                  <a:srgbClr val="F5F5F7"/>
                </a:solidFill>
                <a:latin typeface="JetBrains Mono Bold" pitchFamily="34" charset="0"/>
                <a:ea typeface="JetBrains Mono Bold" pitchFamily="34" charset="-122"/>
                <a:cs typeface="JetBrains Mono Bold" pitchFamily="34" charset="-120"/>
              </a:rPr>
              <a:t>10</a:t>
            </a:r>
            <a:endParaRPr lang="en-US" sz="2100" dirty="0"/>
          </a:p>
        </p:txBody>
      </p:sp>
      <p:sp>
        <p:nvSpPr>
          <p:cNvPr id="48" name="Shape 45"/>
          <p:cNvSpPr/>
          <p:nvPr/>
        </p:nvSpPr>
        <p:spPr>
          <a:xfrm>
            <a:off x="6686550" y="2463924"/>
            <a:ext cx="1228725" cy="200025"/>
          </a:xfrm>
          <a:prstGeom prst="rect">
            <a:avLst/>
          </a:prstGeom>
          <a:solidFill>
            <a:srgbClr val="241812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49" name="Shape 46"/>
          <p:cNvSpPr/>
          <p:nvPr/>
        </p:nvSpPr>
        <p:spPr>
          <a:xfrm>
            <a:off x="6686550" y="2463924"/>
            <a:ext cx="1228725" cy="21431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50" name="Text 47"/>
          <p:cNvSpPr/>
          <p:nvPr/>
        </p:nvSpPr>
        <p:spPr>
          <a:xfrm>
            <a:off x="6686550" y="2463924"/>
            <a:ext cx="1228725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 algn="ctr">
              <a:buNone/>
            </a:pPr>
            <a:r>
              <a:rPr lang="en-US" sz="600" b="1" kern="0" spc="1" dirty="0">
                <a:solidFill>
                  <a:srgbClr val="FF6B35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DESLIZAR PARA CANCELAR</a:t>
            </a:r>
            <a:endParaRPr lang="en-US" sz="600" dirty="0"/>
          </a:p>
        </p:txBody>
      </p:sp>
      <p:sp>
        <p:nvSpPr>
          <p:cNvPr id="51" name="Text 48"/>
          <p:cNvSpPr/>
          <p:nvPr/>
        </p:nvSpPr>
        <p:spPr>
          <a:xfrm>
            <a:off x="6229350" y="2721099"/>
            <a:ext cx="2143125" cy="2414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650" dirty="0">
                <a:solidFill>
                  <a:srgbClr val="A1A1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[INSERIR SCREENSHOT: SosSlider em ação durante uma atividade]</a:t>
            </a:r>
            <a:endParaRPr lang="en-US" sz="650" dirty="0"/>
          </a:p>
        </p:txBody>
      </p:sp>
      <p:sp>
        <p:nvSpPr>
          <p:cNvPr id="52" name="Shape 49"/>
          <p:cNvSpPr/>
          <p:nvPr/>
        </p:nvSpPr>
        <p:spPr>
          <a:xfrm>
            <a:off x="457200" y="2971354"/>
            <a:ext cx="2828925" cy="1085850"/>
          </a:xfrm>
          <a:prstGeom prst="rect">
            <a:avLst/>
          </a:prstGeom>
          <a:solidFill>
            <a:srgbClr val="15151B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53" name="Shape 50"/>
          <p:cNvSpPr/>
          <p:nvPr/>
        </p:nvSpPr>
        <p:spPr>
          <a:xfrm>
            <a:off x="457200" y="2971354"/>
            <a:ext cx="2828925" cy="21431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54" name="Text 51"/>
          <p:cNvSpPr/>
          <p:nvPr/>
        </p:nvSpPr>
        <p:spPr>
          <a:xfrm>
            <a:off x="557213" y="3057079"/>
            <a:ext cx="2628900" cy="14787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900" b="1" dirty="0">
                <a:solidFill>
                  <a:srgbClr val="F5F5F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Contactos</a:t>
            </a:r>
            <a:endParaRPr lang="en-US" sz="900" dirty="0"/>
          </a:p>
        </p:txBody>
      </p:sp>
      <p:sp>
        <p:nvSpPr>
          <p:cNvPr id="55" name="Text 52"/>
          <p:cNvSpPr/>
          <p:nvPr/>
        </p:nvSpPr>
        <p:spPr>
          <a:xfrm>
            <a:off x="557213" y="3281744"/>
            <a:ext cx="1237655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7200"/>
              </a:lnSpc>
              <a:buNone/>
            </a:pPr>
            <a:r>
              <a:rPr lang="en-US" sz="750" dirty="0">
                <a:solidFill>
                  <a:srgbClr val="C7C7C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Picker via Intent implícito:</a:t>
            </a:r>
            <a:endParaRPr lang="en-US" sz="750" dirty="0"/>
          </a:p>
        </p:txBody>
      </p:sp>
      <p:sp>
        <p:nvSpPr>
          <p:cNvPr id="56" name="Shape 53"/>
          <p:cNvSpPr/>
          <p:nvPr/>
        </p:nvSpPr>
        <p:spPr>
          <a:xfrm>
            <a:off x="1794867" y="3290674"/>
            <a:ext cx="626864" cy="112514"/>
          </a:xfrm>
          <a:prstGeom prst="rect">
            <a:avLst/>
          </a:prstGeom>
          <a:solidFill>
            <a:srgbClr val="22222B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57" name="Text 54"/>
          <p:cNvSpPr/>
          <p:nvPr/>
        </p:nvSpPr>
        <p:spPr>
          <a:xfrm>
            <a:off x="1794867" y="3290674"/>
            <a:ext cx="626864" cy="112514"/>
          </a:xfrm>
          <a:prstGeom prst="rect">
            <a:avLst/>
          </a:prstGeom>
          <a:noFill/>
          <a:ln/>
        </p:spPr>
        <p:txBody>
          <a:bodyPr wrap="none" lIns="34036" tIns="0" rIns="34036" bIns="0" rtlCol="0" anchor="t">
            <a:spAutoFit/>
          </a:bodyPr>
          <a:lstStyle/>
          <a:p>
            <a:pPr marL="0" indent="0" algn="l">
              <a:lnSpc>
                <a:spcPct val="107200"/>
              </a:lnSpc>
              <a:buNone/>
            </a:pPr>
            <a:r>
              <a:rPr lang="en-US" sz="600" dirty="0">
                <a:solidFill>
                  <a:srgbClr val="F5F5F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ACTION_PICK</a:t>
            </a:r>
            <a:endParaRPr lang="en-US" sz="600" dirty="0"/>
          </a:p>
        </p:txBody>
      </p:sp>
      <p:sp>
        <p:nvSpPr>
          <p:cNvPr id="58" name="Text 55"/>
          <p:cNvSpPr/>
          <p:nvPr/>
        </p:nvSpPr>
        <p:spPr>
          <a:xfrm>
            <a:off x="2421731" y="3281744"/>
            <a:ext cx="175022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7200"/>
              </a:lnSpc>
              <a:buNone/>
            </a:pPr>
            <a:r>
              <a:rPr lang="en-US" sz="750" dirty="0">
                <a:solidFill>
                  <a:srgbClr val="C7C7C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em</a:t>
            </a:r>
            <a:endParaRPr lang="en-US" sz="750" dirty="0"/>
          </a:p>
        </p:txBody>
      </p:sp>
      <p:sp>
        <p:nvSpPr>
          <p:cNvPr id="59" name="Shape 56"/>
          <p:cNvSpPr/>
          <p:nvPr/>
        </p:nvSpPr>
        <p:spPr>
          <a:xfrm>
            <a:off x="557213" y="3424675"/>
            <a:ext cx="1092994" cy="112514"/>
          </a:xfrm>
          <a:prstGeom prst="rect">
            <a:avLst/>
          </a:prstGeom>
          <a:solidFill>
            <a:srgbClr val="22222B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60" name="Text 57"/>
          <p:cNvSpPr/>
          <p:nvPr/>
        </p:nvSpPr>
        <p:spPr>
          <a:xfrm>
            <a:off x="557213" y="3424675"/>
            <a:ext cx="1092994" cy="112514"/>
          </a:xfrm>
          <a:prstGeom prst="rect">
            <a:avLst/>
          </a:prstGeom>
          <a:noFill/>
          <a:ln/>
        </p:spPr>
        <p:txBody>
          <a:bodyPr wrap="none" lIns="34036" tIns="0" rIns="34036" bIns="0" rtlCol="0" anchor="t">
            <a:spAutoFit/>
          </a:bodyPr>
          <a:lstStyle/>
          <a:p>
            <a:pPr marL="0" indent="0" algn="l">
              <a:lnSpc>
                <a:spcPct val="107200"/>
              </a:lnSpc>
              <a:buNone/>
            </a:pPr>
            <a:r>
              <a:rPr lang="en-US" sz="600" dirty="0">
                <a:solidFill>
                  <a:srgbClr val="F5F5F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Contacts.CONTENT_URI</a:t>
            </a:r>
            <a:endParaRPr lang="en-US" sz="600" dirty="0"/>
          </a:p>
        </p:txBody>
      </p:sp>
      <p:sp>
        <p:nvSpPr>
          <p:cNvPr id="61" name="Text 58"/>
          <p:cNvSpPr/>
          <p:nvPr/>
        </p:nvSpPr>
        <p:spPr>
          <a:xfrm>
            <a:off x="1650206" y="3415745"/>
            <a:ext cx="28575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7200"/>
              </a:lnSpc>
              <a:buNone/>
            </a:pPr>
            <a:r>
              <a:rPr lang="en-US" sz="750" dirty="0">
                <a:solidFill>
                  <a:srgbClr val="C7C7C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</a:t>
            </a:r>
            <a:endParaRPr lang="en-US" sz="750" dirty="0"/>
          </a:p>
        </p:txBody>
      </p:sp>
      <p:sp>
        <p:nvSpPr>
          <p:cNvPr id="62" name="Shape 59"/>
          <p:cNvSpPr/>
          <p:nvPr/>
        </p:nvSpPr>
        <p:spPr>
          <a:xfrm>
            <a:off x="3414713" y="2971354"/>
            <a:ext cx="2571750" cy="1085850"/>
          </a:xfrm>
          <a:prstGeom prst="rect">
            <a:avLst/>
          </a:prstGeom>
          <a:solidFill>
            <a:srgbClr val="15151B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63" name="Shape 60"/>
          <p:cNvSpPr/>
          <p:nvPr/>
        </p:nvSpPr>
        <p:spPr>
          <a:xfrm>
            <a:off x="3414713" y="2971354"/>
            <a:ext cx="2571750" cy="21431"/>
          </a:xfrm>
          <a:prstGeom prst="rect">
            <a:avLst/>
          </a:prstGeom>
          <a:solidFill>
            <a:srgbClr val="4ADE80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64" name="Text 61"/>
          <p:cNvSpPr/>
          <p:nvPr/>
        </p:nvSpPr>
        <p:spPr>
          <a:xfrm>
            <a:off x="3514725" y="3057079"/>
            <a:ext cx="2371725" cy="14787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900" b="1" dirty="0">
                <a:solidFill>
                  <a:srgbClr val="F5F5F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Exportação</a:t>
            </a:r>
            <a:endParaRPr lang="en-US" sz="900" dirty="0"/>
          </a:p>
        </p:txBody>
      </p:sp>
      <p:sp>
        <p:nvSpPr>
          <p:cNvPr id="65" name="Text 62"/>
          <p:cNvSpPr/>
          <p:nvPr/>
        </p:nvSpPr>
        <p:spPr>
          <a:xfrm>
            <a:off x="3514725" y="3281744"/>
            <a:ext cx="1410891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7200"/>
              </a:lnSpc>
              <a:buNone/>
            </a:pPr>
            <a:r>
              <a:rPr lang="en-US" sz="750" dirty="0">
                <a:solidFill>
                  <a:srgbClr val="C7C7C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Atividades em GPX/CSV com</a:t>
            </a:r>
            <a:endParaRPr lang="en-US" sz="750" dirty="0"/>
          </a:p>
        </p:txBody>
      </p:sp>
      <p:sp>
        <p:nvSpPr>
          <p:cNvPr id="66" name="Shape 63"/>
          <p:cNvSpPr/>
          <p:nvPr/>
        </p:nvSpPr>
        <p:spPr>
          <a:xfrm>
            <a:off x="4925616" y="3290674"/>
            <a:ext cx="678656" cy="112514"/>
          </a:xfrm>
          <a:prstGeom prst="rect">
            <a:avLst/>
          </a:prstGeom>
          <a:solidFill>
            <a:srgbClr val="22222B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67" name="Text 64"/>
          <p:cNvSpPr/>
          <p:nvPr/>
        </p:nvSpPr>
        <p:spPr>
          <a:xfrm>
            <a:off x="4925616" y="3290674"/>
            <a:ext cx="678656" cy="112514"/>
          </a:xfrm>
          <a:prstGeom prst="rect">
            <a:avLst/>
          </a:prstGeom>
          <a:noFill/>
          <a:ln/>
        </p:spPr>
        <p:txBody>
          <a:bodyPr wrap="none" lIns="34036" tIns="0" rIns="34036" bIns="0" rtlCol="0" anchor="t">
            <a:spAutoFit/>
          </a:bodyPr>
          <a:lstStyle/>
          <a:p>
            <a:pPr marL="0" indent="0" algn="l">
              <a:lnSpc>
                <a:spcPct val="107200"/>
              </a:lnSpc>
              <a:buNone/>
            </a:pPr>
            <a:r>
              <a:rPr lang="en-US" sz="600" dirty="0">
                <a:solidFill>
                  <a:srgbClr val="F5F5F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FileProvider</a:t>
            </a:r>
            <a:endParaRPr lang="en-US" sz="600" dirty="0"/>
          </a:p>
        </p:txBody>
      </p:sp>
      <p:sp>
        <p:nvSpPr>
          <p:cNvPr id="68" name="Text 65"/>
          <p:cNvSpPr/>
          <p:nvPr/>
        </p:nvSpPr>
        <p:spPr>
          <a:xfrm>
            <a:off x="5604272" y="3281744"/>
            <a:ext cx="87511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7200"/>
              </a:lnSpc>
              <a:buNone/>
            </a:pPr>
            <a:r>
              <a:rPr lang="en-US" sz="750" dirty="0">
                <a:solidFill>
                  <a:srgbClr val="C7C7C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</a:t>
            </a:r>
            <a:endParaRPr lang="en-US" sz="750" dirty="0"/>
          </a:p>
        </p:txBody>
      </p:sp>
      <p:sp>
        <p:nvSpPr>
          <p:cNvPr id="69" name="Text 66"/>
          <p:cNvSpPr/>
          <p:nvPr/>
        </p:nvSpPr>
        <p:spPr>
          <a:xfrm>
            <a:off x="3514725" y="3415745"/>
            <a:ext cx="546497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7200"/>
              </a:lnSpc>
              <a:buNone/>
            </a:pPr>
            <a:r>
              <a:rPr lang="en-US" sz="750" dirty="0">
                <a:solidFill>
                  <a:srgbClr val="C7C7C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partilha via</a:t>
            </a:r>
            <a:endParaRPr lang="en-US" sz="750" dirty="0"/>
          </a:p>
        </p:txBody>
      </p:sp>
      <p:sp>
        <p:nvSpPr>
          <p:cNvPr id="70" name="Shape 67"/>
          <p:cNvSpPr/>
          <p:nvPr/>
        </p:nvSpPr>
        <p:spPr>
          <a:xfrm>
            <a:off x="4061222" y="3424675"/>
            <a:ext cx="626864" cy="112514"/>
          </a:xfrm>
          <a:prstGeom prst="rect">
            <a:avLst/>
          </a:prstGeom>
          <a:solidFill>
            <a:srgbClr val="22222B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71" name="Text 68"/>
          <p:cNvSpPr/>
          <p:nvPr/>
        </p:nvSpPr>
        <p:spPr>
          <a:xfrm>
            <a:off x="4061222" y="3424675"/>
            <a:ext cx="626864" cy="112514"/>
          </a:xfrm>
          <a:prstGeom prst="rect">
            <a:avLst/>
          </a:prstGeom>
          <a:noFill/>
          <a:ln/>
        </p:spPr>
        <p:txBody>
          <a:bodyPr wrap="none" lIns="34036" tIns="0" rIns="34036" bIns="0" rtlCol="0" anchor="t">
            <a:spAutoFit/>
          </a:bodyPr>
          <a:lstStyle/>
          <a:p>
            <a:pPr marL="0" indent="0" algn="l">
              <a:lnSpc>
                <a:spcPct val="107200"/>
              </a:lnSpc>
              <a:buNone/>
            </a:pPr>
            <a:r>
              <a:rPr lang="en-US" sz="600" dirty="0">
                <a:solidFill>
                  <a:srgbClr val="F5F5F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ACTION_SEND</a:t>
            </a:r>
            <a:endParaRPr lang="en-US" sz="600" dirty="0"/>
          </a:p>
        </p:txBody>
      </p:sp>
      <p:sp>
        <p:nvSpPr>
          <p:cNvPr id="72" name="Text 69"/>
          <p:cNvSpPr/>
          <p:nvPr/>
        </p:nvSpPr>
        <p:spPr>
          <a:xfrm>
            <a:off x="4688086" y="3415745"/>
            <a:ext cx="28575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7200"/>
              </a:lnSpc>
              <a:buNone/>
            </a:pPr>
            <a:r>
              <a:rPr lang="en-US" sz="750" dirty="0">
                <a:solidFill>
                  <a:srgbClr val="C7C7C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</a:t>
            </a:r>
            <a:endParaRPr lang="en-US" sz="750" dirty="0"/>
          </a:p>
        </p:txBody>
      </p:sp>
      <p:sp>
        <p:nvSpPr>
          <p:cNvPr id="73" name="Shape 70"/>
          <p:cNvSpPr/>
          <p:nvPr/>
        </p:nvSpPr>
        <p:spPr>
          <a:xfrm>
            <a:off x="6115050" y="2971354"/>
            <a:ext cx="2571750" cy="1085850"/>
          </a:xfrm>
          <a:prstGeom prst="rect">
            <a:avLst/>
          </a:prstGeom>
          <a:solidFill>
            <a:srgbClr val="15151B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74" name="Shape 71"/>
          <p:cNvSpPr/>
          <p:nvPr/>
        </p:nvSpPr>
        <p:spPr>
          <a:xfrm>
            <a:off x="6115050" y="2971354"/>
            <a:ext cx="2571750" cy="21431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75" name="Text 72"/>
          <p:cNvSpPr/>
          <p:nvPr/>
        </p:nvSpPr>
        <p:spPr>
          <a:xfrm>
            <a:off x="6215063" y="3057079"/>
            <a:ext cx="2371725" cy="14787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900" b="1" dirty="0">
                <a:solidFill>
                  <a:srgbClr val="F5F5F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Permissões</a:t>
            </a:r>
            <a:endParaRPr lang="en-US" sz="900" dirty="0"/>
          </a:p>
        </p:txBody>
      </p:sp>
      <p:sp>
        <p:nvSpPr>
          <p:cNvPr id="76" name="Shape 73"/>
          <p:cNvSpPr/>
          <p:nvPr/>
        </p:nvSpPr>
        <p:spPr>
          <a:xfrm>
            <a:off x="6215063" y="3290674"/>
            <a:ext cx="471488" cy="112514"/>
          </a:xfrm>
          <a:prstGeom prst="rect">
            <a:avLst/>
          </a:prstGeom>
          <a:solidFill>
            <a:srgbClr val="22222B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77" name="Text 74"/>
          <p:cNvSpPr/>
          <p:nvPr/>
        </p:nvSpPr>
        <p:spPr>
          <a:xfrm>
            <a:off x="6215063" y="3290674"/>
            <a:ext cx="471488" cy="112514"/>
          </a:xfrm>
          <a:prstGeom prst="rect">
            <a:avLst/>
          </a:prstGeom>
          <a:noFill/>
          <a:ln/>
        </p:spPr>
        <p:txBody>
          <a:bodyPr wrap="none" lIns="34036" tIns="0" rIns="34036" bIns="0" rtlCol="0" anchor="t">
            <a:spAutoFit/>
          </a:bodyPr>
          <a:lstStyle/>
          <a:p>
            <a:pPr marL="0" indent="0" algn="l">
              <a:lnSpc>
                <a:spcPct val="107200"/>
              </a:lnSpc>
              <a:buNone/>
            </a:pPr>
            <a:r>
              <a:rPr lang="en-US" sz="600" dirty="0">
                <a:solidFill>
                  <a:srgbClr val="F5F5F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SEND_SMS</a:t>
            </a:r>
            <a:endParaRPr lang="en-US" sz="600" dirty="0"/>
          </a:p>
        </p:txBody>
      </p:sp>
      <p:sp>
        <p:nvSpPr>
          <p:cNvPr id="78" name="Text 75"/>
          <p:cNvSpPr/>
          <p:nvPr/>
        </p:nvSpPr>
        <p:spPr>
          <a:xfrm>
            <a:off x="6686550" y="3281744"/>
            <a:ext cx="116086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7200"/>
              </a:lnSpc>
              <a:buNone/>
            </a:pPr>
            <a:r>
              <a:rPr lang="en-US" sz="750" dirty="0">
                <a:solidFill>
                  <a:srgbClr val="C7C7C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</a:t>
            </a:r>
            <a:endParaRPr lang="en-US" sz="750" dirty="0"/>
          </a:p>
        </p:txBody>
      </p:sp>
      <p:sp>
        <p:nvSpPr>
          <p:cNvPr id="79" name="Shape 76"/>
          <p:cNvSpPr/>
          <p:nvPr/>
        </p:nvSpPr>
        <p:spPr>
          <a:xfrm>
            <a:off x="6802636" y="3290674"/>
            <a:ext cx="730448" cy="112514"/>
          </a:xfrm>
          <a:prstGeom prst="rect">
            <a:avLst/>
          </a:prstGeom>
          <a:solidFill>
            <a:srgbClr val="22222B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80" name="Text 77"/>
          <p:cNvSpPr/>
          <p:nvPr/>
        </p:nvSpPr>
        <p:spPr>
          <a:xfrm>
            <a:off x="6802636" y="3290674"/>
            <a:ext cx="730448" cy="112514"/>
          </a:xfrm>
          <a:prstGeom prst="rect">
            <a:avLst/>
          </a:prstGeom>
          <a:noFill/>
          <a:ln/>
        </p:spPr>
        <p:txBody>
          <a:bodyPr wrap="none" lIns="34036" tIns="0" rIns="34036" bIns="0" rtlCol="0" anchor="t">
            <a:spAutoFit/>
          </a:bodyPr>
          <a:lstStyle/>
          <a:p>
            <a:pPr marL="0" indent="0" algn="l">
              <a:lnSpc>
                <a:spcPct val="107200"/>
              </a:lnSpc>
              <a:buNone/>
            </a:pPr>
            <a:r>
              <a:rPr lang="en-US" sz="600" dirty="0">
                <a:solidFill>
                  <a:srgbClr val="F5F5F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READ_CONTACTS</a:t>
            </a:r>
            <a:endParaRPr lang="en-US" sz="600" dirty="0"/>
          </a:p>
        </p:txBody>
      </p:sp>
      <p:sp>
        <p:nvSpPr>
          <p:cNvPr id="81" name="Text 78"/>
          <p:cNvSpPr/>
          <p:nvPr/>
        </p:nvSpPr>
        <p:spPr>
          <a:xfrm>
            <a:off x="7533084" y="3281744"/>
            <a:ext cx="942975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7200"/>
              </a:lnSpc>
              <a:buNone/>
            </a:pPr>
            <a:r>
              <a:rPr lang="en-US" sz="750" dirty="0">
                <a:solidFill>
                  <a:srgbClr val="C7C7C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são justificadas em</a:t>
            </a:r>
            <a:endParaRPr lang="en-US" sz="750" dirty="0"/>
          </a:p>
        </p:txBody>
      </p:sp>
      <p:sp>
        <p:nvSpPr>
          <p:cNvPr id="82" name="Text 79"/>
          <p:cNvSpPr/>
          <p:nvPr/>
        </p:nvSpPr>
        <p:spPr>
          <a:xfrm>
            <a:off x="6215063" y="3415745"/>
            <a:ext cx="441127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7200"/>
              </a:lnSpc>
              <a:buNone/>
            </a:pPr>
            <a:r>
              <a:rPr lang="en-US" sz="750" dirty="0">
                <a:solidFill>
                  <a:srgbClr val="C7C7C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contexto.</a:t>
            </a:r>
            <a:endParaRPr lang="en-US" sz="750" dirty="0"/>
          </a:p>
        </p:txBody>
      </p:sp>
      <p:sp>
        <p:nvSpPr>
          <p:cNvPr id="83" name="Shape 80"/>
          <p:cNvSpPr/>
          <p:nvPr/>
        </p:nvSpPr>
        <p:spPr>
          <a:xfrm>
            <a:off x="457200" y="4178871"/>
            <a:ext cx="8229600" cy="357188"/>
          </a:xfrm>
          <a:prstGeom prst="rect">
            <a:avLst/>
          </a:prstGeom>
          <a:solidFill>
            <a:srgbClr val="11111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84" name="Shape 81"/>
          <p:cNvSpPr/>
          <p:nvPr/>
        </p:nvSpPr>
        <p:spPr>
          <a:xfrm>
            <a:off x="457200" y="4178871"/>
            <a:ext cx="8229600" cy="21431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85" name="Text 82"/>
          <p:cNvSpPr/>
          <p:nvPr/>
        </p:nvSpPr>
        <p:spPr>
          <a:xfrm>
            <a:off x="2807494" y="4282455"/>
            <a:ext cx="2918222" cy="15001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4ADE80"/>
                </a:solidFill>
                <a:latin typeface="JetBrains Mono Bold" pitchFamily="34" charset="0"/>
                <a:ea typeface="JetBrains Mono Bold" pitchFamily="34" charset="-122"/>
                <a:cs typeface="JetBrains Mono Bold" pitchFamily="34" charset="-120"/>
              </a:rPr>
              <a:t>SMS: “Preciso de ajuda. Última localização:</a:t>
            </a:r>
            <a:endParaRPr lang="en-US" sz="800" dirty="0"/>
          </a:p>
        </p:txBody>
      </p:sp>
      <p:sp>
        <p:nvSpPr>
          <p:cNvPr id="86" name="Text 83"/>
          <p:cNvSpPr/>
          <p:nvPr/>
        </p:nvSpPr>
        <p:spPr>
          <a:xfrm>
            <a:off x="5725716" y="4282455"/>
            <a:ext cx="542925" cy="15001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4ADE80"/>
                </a:solidFill>
                <a:latin typeface="JetBrains Mono Bold" pitchFamily="34" charset="0"/>
                <a:ea typeface="JetBrains Mono Bold" pitchFamily="34" charset="-122"/>
                <a:cs typeface="JetBrains Mono Bold" pitchFamily="34" charset="-120"/>
              </a:rPr>
              <a:t>lat, lon</a:t>
            </a:r>
            <a:endParaRPr lang="en-US" sz="800" dirty="0"/>
          </a:p>
        </p:txBody>
      </p:sp>
      <p:sp>
        <p:nvSpPr>
          <p:cNvPr id="87" name="Text 84"/>
          <p:cNvSpPr/>
          <p:nvPr/>
        </p:nvSpPr>
        <p:spPr>
          <a:xfrm>
            <a:off x="6268641" y="4282455"/>
            <a:ext cx="67866" cy="15001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4ADE80"/>
                </a:solidFill>
                <a:latin typeface="JetBrains Mono Bold" pitchFamily="34" charset="0"/>
                <a:ea typeface="JetBrains Mono Bold" pitchFamily="34" charset="-122"/>
                <a:cs typeface="JetBrains Mono Bold" pitchFamily="34" charset="-120"/>
              </a:rPr>
              <a:t>”</a:t>
            </a:r>
            <a:endParaRPr lang="en-US" sz="800" dirty="0"/>
          </a:p>
        </p:txBody>
      </p:sp>
      <p:sp>
        <p:nvSpPr>
          <p:cNvPr id="88" name="Shape 85"/>
          <p:cNvSpPr/>
          <p:nvPr/>
        </p:nvSpPr>
        <p:spPr>
          <a:xfrm>
            <a:off x="457200" y="4572000"/>
            <a:ext cx="8229600" cy="571500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89" name="Shape 86"/>
          <p:cNvSpPr/>
          <p:nvPr/>
        </p:nvSpPr>
        <p:spPr>
          <a:xfrm>
            <a:off x="457200" y="4572000"/>
            <a:ext cx="8229600" cy="714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90" name="Text 87"/>
          <p:cNvSpPr/>
          <p:nvPr/>
        </p:nvSpPr>
        <p:spPr>
          <a:xfrm>
            <a:off x="457200" y="4797028"/>
            <a:ext cx="1680567" cy="121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7779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VitalRoute · ICM 2025/26 · UA-DETI</a:t>
            </a:r>
            <a:endParaRPr lang="en-US" sz="750" dirty="0"/>
          </a:p>
        </p:txBody>
      </p:sp>
      <p:sp>
        <p:nvSpPr>
          <p:cNvPr id="91" name="Text 88"/>
          <p:cNvSpPr/>
          <p:nvPr/>
        </p:nvSpPr>
        <p:spPr>
          <a:xfrm>
            <a:off x="8409980" y="4797028"/>
            <a:ext cx="276820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7779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 / 12</a:t>
            </a:r>
            <a:endParaRPr lang="en-US" sz="7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373261"/>
            <a:ext cx="2190062" cy="3125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800" b="1" kern="0" spc="-1" dirty="0">
                <a:solidFill>
                  <a:srgbClr val="F5F5F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Qualidade e futuro</a:t>
            </a:r>
            <a:endParaRPr lang="en-US" sz="1800" dirty="0"/>
          </a:p>
        </p:txBody>
      </p:sp>
      <p:sp>
        <p:nvSpPr>
          <p:cNvPr id="4" name="Text 1"/>
          <p:cNvSpPr/>
          <p:nvPr/>
        </p:nvSpPr>
        <p:spPr>
          <a:xfrm>
            <a:off x="7958333" y="573286"/>
            <a:ext cx="728467" cy="11251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650" b="1" kern="0" spc="2" dirty="0">
                <a:solidFill>
                  <a:srgbClr val="FF6B3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CONCLUSÃO</a:t>
            </a:r>
            <a:endParaRPr lang="en-US" sz="650" dirty="0"/>
          </a:p>
        </p:txBody>
      </p:sp>
      <p:sp>
        <p:nvSpPr>
          <p:cNvPr id="5" name="Shape 2"/>
          <p:cNvSpPr/>
          <p:nvPr/>
        </p:nvSpPr>
        <p:spPr>
          <a:xfrm>
            <a:off x="457200" y="914400"/>
            <a:ext cx="2464594" cy="2650331"/>
          </a:xfrm>
          <a:prstGeom prst="rect">
            <a:avLst/>
          </a:prstGeom>
          <a:solidFill>
            <a:srgbClr val="15151B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6" name="Shape 3"/>
          <p:cNvSpPr/>
          <p:nvPr/>
        </p:nvSpPr>
        <p:spPr>
          <a:xfrm>
            <a:off x="457200" y="914400"/>
            <a:ext cx="2464594" cy="28575"/>
          </a:xfrm>
          <a:prstGeom prst="rect">
            <a:avLst/>
          </a:prstGeom>
          <a:solidFill>
            <a:srgbClr val="4ADE80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7" name="Text 4"/>
          <p:cNvSpPr/>
          <p:nvPr/>
        </p:nvSpPr>
        <p:spPr>
          <a:xfrm>
            <a:off x="614363" y="1071563"/>
            <a:ext cx="2150269" cy="18858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88000"/>
              </a:lnSpc>
              <a:buNone/>
            </a:pPr>
            <a:r>
              <a:rPr lang="en-US" sz="1200" b="1" kern="0" spc="-1" dirty="0">
                <a:solidFill>
                  <a:srgbClr val="F5F5F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Quality checklist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4363" y="1488746"/>
            <a:ext cx="157163" cy="157163"/>
          </a:xfrm>
          <a:prstGeom prst="rect">
            <a:avLst/>
          </a:prstGeom>
          <a:solidFill>
            <a:srgbClr val="4ADE80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9" name="Text 6"/>
          <p:cNvSpPr/>
          <p:nvPr/>
        </p:nvSpPr>
        <p:spPr>
          <a:xfrm>
            <a:off x="614363" y="1488746"/>
            <a:ext cx="157163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 algn="ctr">
              <a:lnSpc>
                <a:spcPct val="96000"/>
              </a:lnSpc>
              <a:buNone/>
            </a:pPr>
            <a:r>
              <a:rPr lang="en-US" sz="650" b="1" dirty="0">
                <a:solidFill>
                  <a:srgbClr val="0E0E12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✓</a:t>
            </a:r>
            <a:endParaRPr lang="en-US" sz="650" dirty="0"/>
          </a:p>
        </p:txBody>
      </p:sp>
      <p:sp>
        <p:nvSpPr>
          <p:cNvPr id="10" name="Text 7"/>
          <p:cNvSpPr/>
          <p:nvPr/>
        </p:nvSpPr>
        <p:spPr>
          <a:xfrm>
            <a:off x="857250" y="1503034"/>
            <a:ext cx="603647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800" dirty="0">
                <a:solidFill>
                  <a:srgbClr val="D4D4D8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Min SDK 24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14363" y="1820931"/>
            <a:ext cx="157163" cy="157163"/>
          </a:xfrm>
          <a:prstGeom prst="rect">
            <a:avLst/>
          </a:prstGeom>
          <a:solidFill>
            <a:srgbClr val="4ADE80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2" name="Text 9"/>
          <p:cNvSpPr/>
          <p:nvPr/>
        </p:nvSpPr>
        <p:spPr>
          <a:xfrm>
            <a:off x="614363" y="1820931"/>
            <a:ext cx="157163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 algn="ctr">
              <a:lnSpc>
                <a:spcPct val="96000"/>
              </a:lnSpc>
              <a:buNone/>
            </a:pPr>
            <a:r>
              <a:rPr lang="en-US" sz="650" b="1" dirty="0">
                <a:solidFill>
                  <a:srgbClr val="0E0E12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✓</a:t>
            </a:r>
            <a:endParaRPr lang="en-US" sz="650" dirty="0"/>
          </a:p>
        </p:txBody>
      </p:sp>
      <p:sp>
        <p:nvSpPr>
          <p:cNvPr id="13" name="Text 10"/>
          <p:cNvSpPr/>
          <p:nvPr/>
        </p:nvSpPr>
        <p:spPr>
          <a:xfrm>
            <a:off x="857250" y="1835218"/>
            <a:ext cx="1710928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800" dirty="0">
                <a:solidFill>
                  <a:srgbClr val="D4D4D8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Permissões pedidas em contexto</a:t>
            </a:r>
            <a:endParaRPr lang="en-US" sz="800" dirty="0"/>
          </a:p>
        </p:txBody>
      </p:sp>
      <p:sp>
        <p:nvSpPr>
          <p:cNvPr id="14" name="Shape 11"/>
          <p:cNvSpPr/>
          <p:nvPr/>
        </p:nvSpPr>
        <p:spPr>
          <a:xfrm>
            <a:off x="614363" y="2149543"/>
            <a:ext cx="157163" cy="157163"/>
          </a:xfrm>
          <a:prstGeom prst="rect">
            <a:avLst/>
          </a:prstGeom>
          <a:solidFill>
            <a:srgbClr val="4ADE80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5" name="Text 12"/>
          <p:cNvSpPr/>
          <p:nvPr/>
        </p:nvSpPr>
        <p:spPr>
          <a:xfrm>
            <a:off x="614363" y="2149543"/>
            <a:ext cx="157163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 algn="ctr">
              <a:lnSpc>
                <a:spcPct val="96000"/>
              </a:lnSpc>
              <a:buNone/>
            </a:pPr>
            <a:r>
              <a:rPr lang="en-US" sz="650" b="1" dirty="0">
                <a:solidFill>
                  <a:srgbClr val="0E0E12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✓</a:t>
            </a:r>
            <a:endParaRPr lang="en-US" sz="650" dirty="0"/>
          </a:p>
        </p:txBody>
      </p:sp>
      <p:sp>
        <p:nvSpPr>
          <p:cNvPr id="16" name="Text 13"/>
          <p:cNvSpPr/>
          <p:nvPr/>
        </p:nvSpPr>
        <p:spPr>
          <a:xfrm>
            <a:off x="857250" y="2163831"/>
            <a:ext cx="1310878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800" dirty="0">
                <a:solidFill>
                  <a:srgbClr val="D4D4D8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Estados de loading e erro</a:t>
            </a:r>
            <a:endParaRPr lang="en-US" sz="800" dirty="0"/>
          </a:p>
        </p:txBody>
      </p:sp>
      <p:sp>
        <p:nvSpPr>
          <p:cNvPr id="17" name="Shape 14"/>
          <p:cNvSpPr/>
          <p:nvPr/>
        </p:nvSpPr>
        <p:spPr>
          <a:xfrm>
            <a:off x="614363" y="2478156"/>
            <a:ext cx="157163" cy="157163"/>
          </a:xfrm>
          <a:prstGeom prst="rect">
            <a:avLst/>
          </a:prstGeom>
          <a:solidFill>
            <a:srgbClr val="4ADE80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8" name="Text 15"/>
          <p:cNvSpPr/>
          <p:nvPr/>
        </p:nvSpPr>
        <p:spPr>
          <a:xfrm>
            <a:off x="614363" y="2478156"/>
            <a:ext cx="157163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 algn="ctr">
              <a:lnSpc>
                <a:spcPct val="96000"/>
              </a:lnSpc>
              <a:buNone/>
            </a:pPr>
            <a:r>
              <a:rPr lang="en-US" sz="650" b="1" dirty="0">
                <a:solidFill>
                  <a:srgbClr val="0E0E12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✓</a:t>
            </a:r>
            <a:endParaRPr lang="en-US" sz="650" dirty="0"/>
          </a:p>
        </p:txBody>
      </p:sp>
      <p:sp>
        <p:nvSpPr>
          <p:cNvPr id="19" name="Text 16"/>
          <p:cNvSpPr/>
          <p:nvPr/>
        </p:nvSpPr>
        <p:spPr>
          <a:xfrm>
            <a:off x="857250" y="2492443"/>
            <a:ext cx="1178719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800" dirty="0">
                <a:solidFill>
                  <a:srgbClr val="D4D4D8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Rotação suportada por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2035969" y="2505308"/>
            <a:ext cx="523280" cy="102859"/>
          </a:xfrm>
          <a:prstGeom prst="rect">
            <a:avLst/>
          </a:prstGeom>
          <a:solidFill>
            <a:srgbClr val="24242D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1" name="Text 18"/>
          <p:cNvSpPr/>
          <p:nvPr/>
        </p:nvSpPr>
        <p:spPr>
          <a:xfrm>
            <a:off x="2035969" y="2505308"/>
            <a:ext cx="523280" cy="102859"/>
          </a:xfrm>
          <a:prstGeom prst="rect">
            <a:avLst/>
          </a:prstGeom>
          <a:noFill/>
          <a:ln/>
        </p:spPr>
        <p:txBody>
          <a:bodyPr wrap="none" lIns="34036" tIns="0" rIns="34036" bIns="0" rtlCol="0" anchor="t">
            <a:spAutoFit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600" dirty="0">
                <a:solidFill>
                  <a:srgbClr val="F5F5F7"/>
                </a:solidFill>
                <a:latin typeface="JetBrains Mono SemiBold" pitchFamily="34" charset="0"/>
                <a:ea typeface="JetBrains Mono SemiBold" pitchFamily="34" charset="-122"/>
                <a:cs typeface="JetBrains Mono SemiBold" pitchFamily="34" charset="-120"/>
              </a:rPr>
              <a:t>StateFlow</a:t>
            </a:r>
            <a:endParaRPr lang="en-US" sz="600" dirty="0"/>
          </a:p>
        </p:txBody>
      </p:sp>
      <p:sp>
        <p:nvSpPr>
          <p:cNvPr id="22" name="Shape 19"/>
          <p:cNvSpPr/>
          <p:nvPr/>
        </p:nvSpPr>
        <p:spPr>
          <a:xfrm>
            <a:off x="614363" y="2806768"/>
            <a:ext cx="157163" cy="157163"/>
          </a:xfrm>
          <a:prstGeom prst="rect">
            <a:avLst/>
          </a:prstGeom>
          <a:solidFill>
            <a:srgbClr val="4ADE80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3" name="Text 20"/>
          <p:cNvSpPr/>
          <p:nvPr/>
        </p:nvSpPr>
        <p:spPr>
          <a:xfrm>
            <a:off x="614363" y="2806768"/>
            <a:ext cx="157163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 algn="ctr">
              <a:lnSpc>
                <a:spcPct val="96000"/>
              </a:lnSpc>
              <a:buNone/>
            </a:pPr>
            <a:r>
              <a:rPr lang="en-US" sz="650" b="1" dirty="0">
                <a:solidFill>
                  <a:srgbClr val="0E0E12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✓</a:t>
            </a:r>
            <a:endParaRPr lang="en-US" sz="650" dirty="0"/>
          </a:p>
        </p:txBody>
      </p:sp>
      <p:sp>
        <p:nvSpPr>
          <p:cNvPr id="24" name="Text 21"/>
          <p:cNvSpPr/>
          <p:nvPr/>
        </p:nvSpPr>
        <p:spPr>
          <a:xfrm>
            <a:off x="857250" y="2821056"/>
            <a:ext cx="1205508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800" dirty="0">
                <a:solidFill>
                  <a:srgbClr val="D4D4D8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Tema escuro Material 3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3093244" y="914400"/>
            <a:ext cx="2464594" cy="2650331"/>
          </a:xfrm>
          <a:prstGeom prst="rect">
            <a:avLst/>
          </a:prstGeom>
          <a:solidFill>
            <a:srgbClr val="15151B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6" name="Shape 23"/>
          <p:cNvSpPr/>
          <p:nvPr/>
        </p:nvSpPr>
        <p:spPr>
          <a:xfrm>
            <a:off x="3093244" y="914400"/>
            <a:ext cx="2464594" cy="28575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7" name="Text 24"/>
          <p:cNvSpPr/>
          <p:nvPr/>
        </p:nvSpPr>
        <p:spPr>
          <a:xfrm>
            <a:off x="3250406" y="1071563"/>
            <a:ext cx="2150269" cy="18858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88000"/>
              </a:lnSpc>
              <a:buNone/>
            </a:pPr>
            <a:r>
              <a:rPr lang="en-US" sz="1200" b="1" kern="0" spc="-1" dirty="0">
                <a:solidFill>
                  <a:srgbClr val="F5F5F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Limitações honestas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3250406" y="1488746"/>
            <a:ext cx="157163" cy="157163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9" name="Text 26"/>
          <p:cNvSpPr/>
          <p:nvPr/>
        </p:nvSpPr>
        <p:spPr>
          <a:xfrm>
            <a:off x="3250406" y="1488746"/>
            <a:ext cx="157163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 algn="ctr">
              <a:lnSpc>
                <a:spcPct val="96000"/>
              </a:lnSpc>
              <a:buNone/>
            </a:pPr>
            <a:r>
              <a:rPr lang="en-US" sz="650" b="1" dirty="0">
                <a:solidFill>
                  <a:srgbClr val="F5F5F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!</a:t>
            </a:r>
            <a:endParaRPr lang="en-US" sz="650" dirty="0"/>
          </a:p>
        </p:txBody>
      </p:sp>
      <p:sp>
        <p:nvSpPr>
          <p:cNvPr id="30" name="Text 27"/>
          <p:cNvSpPr/>
          <p:nvPr/>
        </p:nvSpPr>
        <p:spPr>
          <a:xfrm>
            <a:off x="3493294" y="1503034"/>
            <a:ext cx="1341239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800" dirty="0">
                <a:solidFill>
                  <a:srgbClr val="D4D4D8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Sem cache offline custom</a:t>
            </a:r>
            <a:endParaRPr lang="en-US" sz="800" dirty="0"/>
          </a:p>
        </p:txBody>
      </p:sp>
      <p:sp>
        <p:nvSpPr>
          <p:cNvPr id="31" name="Shape 28"/>
          <p:cNvSpPr/>
          <p:nvPr/>
        </p:nvSpPr>
        <p:spPr>
          <a:xfrm>
            <a:off x="3250406" y="1820931"/>
            <a:ext cx="157163" cy="157163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2" name="Text 29"/>
          <p:cNvSpPr/>
          <p:nvPr/>
        </p:nvSpPr>
        <p:spPr>
          <a:xfrm>
            <a:off x="3250406" y="1820931"/>
            <a:ext cx="157163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 algn="ctr">
              <a:lnSpc>
                <a:spcPct val="96000"/>
              </a:lnSpc>
              <a:buNone/>
            </a:pPr>
            <a:r>
              <a:rPr lang="en-US" sz="650" b="1" dirty="0">
                <a:solidFill>
                  <a:srgbClr val="F5F5F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!</a:t>
            </a:r>
            <a:endParaRPr lang="en-US" sz="650" dirty="0"/>
          </a:p>
        </p:txBody>
      </p:sp>
      <p:sp>
        <p:nvSpPr>
          <p:cNvPr id="33" name="Text 30"/>
          <p:cNvSpPr/>
          <p:nvPr/>
        </p:nvSpPr>
        <p:spPr>
          <a:xfrm>
            <a:off x="3493294" y="1835218"/>
            <a:ext cx="1582341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800" dirty="0">
                <a:solidFill>
                  <a:srgbClr val="D4D4D8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Sem Health Connect integrado</a:t>
            </a:r>
            <a:endParaRPr lang="en-US" sz="800" dirty="0"/>
          </a:p>
        </p:txBody>
      </p:sp>
      <p:sp>
        <p:nvSpPr>
          <p:cNvPr id="34" name="Shape 31"/>
          <p:cNvSpPr/>
          <p:nvPr/>
        </p:nvSpPr>
        <p:spPr>
          <a:xfrm>
            <a:off x="3250406" y="2149543"/>
            <a:ext cx="157163" cy="157163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5" name="Text 32"/>
          <p:cNvSpPr/>
          <p:nvPr/>
        </p:nvSpPr>
        <p:spPr>
          <a:xfrm>
            <a:off x="3250406" y="2149543"/>
            <a:ext cx="157163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 algn="ctr">
              <a:lnSpc>
                <a:spcPct val="96000"/>
              </a:lnSpc>
              <a:buNone/>
            </a:pPr>
            <a:r>
              <a:rPr lang="en-US" sz="650" b="1" dirty="0">
                <a:solidFill>
                  <a:srgbClr val="F5F5F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!</a:t>
            </a:r>
            <a:endParaRPr lang="en-US" sz="650" dirty="0"/>
          </a:p>
        </p:txBody>
      </p:sp>
      <p:sp>
        <p:nvSpPr>
          <p:cNvPr id="36" name="Text 33"/>
          <p:cNvSpPr/>
          <p:nvPr/>
        </p:nvSpPr>
        <p:spPr>
          <a:xfrm>
            <a:off x="3493294" y="2163831"/>
            <a:ext cx="1410891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800" dirty="0">
                <a:solidFill>
                  <a:srgbClr val="D4D4D8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Sem testes instrumentados</a:t>
            </a:r>
            <a:endParaRPr lang="en-US" sz="800" dirty="0"/>
          </a:p>
        </p:txBody>
      </p:sp>
      <p:sp>
        <p:nvSpPr>
          <p:cNvPr id="37" name="Shape 34"/>
          <p:cNvSpPr/>
          <p:nvPr/>
        </p:nvSpPr>
        <p:spPr>
          <a:xfrm>
            <a:off x="3250406" y="2478156"/>
            <a:ext cx="157163" cy="157163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8" name="Text 35"/>
          <p:cNvSpPr/>
          <p:nvPr/>
        </p:nvSpPr>
        <p:spPr>
          <a:xfrm>
            <a:off x="3250406" y="2478156"/>
            <a:ext cx="157163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 algn="ctr">
              <a:lnSpc>
                <a:spcPct val="96000"/>
              </a:lnSpc>
              <a:buNone/>
            </a:pPr>
            <a:r>
              <a:rPr lang="en-US" sz="650" b="1" dirty="0">
                <a:solidFill>
                  <a:srgbClr val="F5F5F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!</a:t>
            </a:r>
            <a:endParaRPr lang="en-US" sz="650" dirty="0"/>
          </a:p>
        </p:txBody>
      </p:sp>
      <p:sp>
        <p:nvSpPr>
          <p:cNvPr id="39" name="Text 36"/>
          <p:cNvSpPr/>
          <p:nvPr/>
        </p:nvSpPr>
        <p:spPr>
          <a:xfrm>
            <a:off x="3493294" y="2428149"/>
            <a:ext cx="1907381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800" dirty="0">
                <a:solidFill>
                  <a:srgbClr val="D4D4D8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Deteção por sensibilidade configurada</a:t>
            </a:r>
            <a:endParaRPr lang="en-US" sz="800" dirty="0"/>
          </a:p>
        </p:txBody>
      </p:sp>
      <p:sp>
        <p:nvSpPr>
          <p:cNvPr id="40" name="Shape 37"/>
          <p:cNvSpPr/>
          <p:nvPr/>
        </p:nvSpPr>
        <p:spPr>
          <a:xfrm>
            <a:off x="3250406" y="2806768"/>
            <a:ext cx="157163" cy="157163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41" name="Text 38"/>
          <p:cNvSpPr/>
          <p:nvPr/>
        </p:nvSpPr>
        <p:spPr>
          <a:xfrm>
            <a:off x="3250406" y="2806768"/>
            <a:ext cx="157163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 algn="ctr">
              <a:lnSpc>
                <a:spcPct val="96000"/>
              </a:lnSpc>
              <a:buNone/>
            </a:pPr>
            <a:r>
              <a:rPr lang="en-US" sz="650" b="1" dirty="0">
                <a:solidFill>
                  <a:srgbClr val="F5F5F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!</a:t>
            </a:r>
            <a:endParaRPr lang="en-US" sz="650" dirty="0"/>
          </a:p>
        </p:txBody>
      </p:sp>
      <p:sp>
        <p:nvSpPr>
          <p:cNvPr id="42" name="Text 39"/>
          <p:cNvSpPr/>
          <p:nvPr/>
        </p:nvSpPr>
        <p:spPr>
          <a:xfrm>
            <a:off x="3493294" y="2821056"/>
            <a:ext cx="1668066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800" dirty="0">
                <a:solidFill>
                  <a:srgbClr val="D4D4D8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Validação real de queda limitada</a:t>
            </a:r>
            <a:endParaRPr lang="en-US" sz="800" dirty="0"/>
          </a:p>
        </p:txBody>
      </p:sp>
      <p:sp>
        <p:nvSpPr>
          <p:cNvPr id="43" name="Shape 40"/>
          <p:cNvSpPr/>
          <p:nvPr/>
        </p:nvSpPr>
        <p:spPr>
          <a:xfrm>
            <a:off x="5729288" y="914400"/>
            <a:ext cx="2957513" cy="2650331"/>
          </a:xfrm>
          <a:prstGeom prst="rect">
            <a:avLst/>
          </a:prstGeom>
          <a:solidFill>
            <a:srgbClr val="15151B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44" name="Shape 41"/>
          <p:cNvSpPr/>
          <p:nvPr/>
        </p:nvSpPr>
        <p:spPr>
          <a:xfrm>
            <a:off x="5729288" y="914400"/>
            <a:ext cx="2957513" cy="28575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45" name="Text 42"/>
          <p:cNvSpPr/>
          <p:nvPr/>
        </p:nvSpPr>
        <p:spPr>
          <a:xfrm>
            <a:off x="5886450" y="1071563"/>
            <a:ext cx="2643188" cy="18858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88000"/>
              </a:lnSpc>
              <a:buNone/>
            </a:pPr>
            <a:r>
              <a:rPr lang="en-US" sz="1200" b="1" kern="0" spc="-1" dirty="0">
                <a:solidFill>
                  <a:srgbClr val="F5F5F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Future work</a:t>
            </a:r>
            <a:endParaRPr lang="en-US" sz="1200" dirty="0"/>
          </a:p>
        </p:txBody>
      </p:sp>
      <p:sp>
        <p:nvSpPr>
          <p:cNvPr id="46" name="Shape 43"/>
          <p:cNvSpPr/>
          <p:nvPr/>
        </p:nvSpPr>
        <p:spPr>
          <a:xfrm>
            <a:off x="5886450" y="1403021"/>
            <a:ext cx="2643188" cy="614363"/>
          </a:xfrm>
          <a:prstGeom prst="rect">
            <a:avLst/>
          </a:prstGeom>
          <a:solidFill>
            <a:srgbClr val="211712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47" name="Shape 44"/>
          <p:cNvSpPr/>
          <p:nvPr/>
        </p:nvSpPr>
        <p:spPr>
          <a:xfrm>
            <a:off x="5886450" y="1403021"/>
            <a:ext cx="2643188" cy="14288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48" name="Text 45"/>
          <p:cNvSpPr/>
          <p:nvPr/>
        </p:nvSpPr>
        <p:spPr>
          <a:xfrm>
            <a:off x="5986463" y="1476245"/>
            <a:ext cx="1107281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700" b="1" dirty="0">
                <a:solidFill>
                  <a:srgbClr val="FF6B35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BLE GATT + wearables</a:t>
            </a:r>
            <a:endParaRPr lang="en-US" sz="700" dirty="0"/>
          </a:p>
        </p:txBody>
      </p:sp>
      <p:sp>
        <p:nvSpPr>
          <p:cNvPr id="49" name="Text 46"/>
          <p:cNvSpPr/>
          <p:nvPr/>
        </p:nvSpPr>
        <p:spPr>
          <a:xfrm>
            <a:off x="5986463" y="1601260"/>
            <a:ext cx="1437680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750" dirty="0">
                <a:solidFill>
                  <a:srgbClr val="F5F5F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Polar H10, Heart Rate Service</a:t>
            </a:r>
            <a:endParaRPr lang="en-US" sz="750" dirty="0"/>
          </a:p>
        </p:txBody>
      </p:sp>
      <p:sp>
        <p:nvSpPr>
          <p:cNvPr id="50" name="Shape 47"/>
          <p:cNvSpPr/>
          <p:nvPr/>
        </p:nvSpPr>
        <p:spPr>
          <a:xfrm>
            <a:off x="7424142" y="1610190"/>
            <a:ext cx="367903" cy="112514"/>
          </a:xfrm>
          <a:prstGeom prst="rect">
            <a:avLst/>
          </a:prstGeom>
          <a:solidFill>
            <a:srgbClr val="24242D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51" name="Text 48"/>
          <p:cNvSpPr/>
          <p:nvPr/>
        </p:nvSpPr>
        <p:spPr>
          <a:xfrm>
            <a:off x="7424142" y="1610190"/>
            <a:ext cx="367903" cy="112514"/>
          </a:xfrm>
          <a:prstGeom prst="rect">
            <a:avLst/>
          </a:prstGeom>
          <a:noFill/>
          <a:ln/>
        </p:spPr>
        <p:txBody>
          <a:bodyPr wrap="none" lIns="34036" tIns="0" rIns="34036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600" dirty="0">
                <a:solidFill>
                  <a:srgbClr val="F5F5F7"/>
                </a:solidFill>
                <a:latin typeface="JetBrains Mono SemiBold" pitchFamily="34" charset="0"/>
                <a:ea typeface="JetBrains Mono SemiBold" pitchFamily="34" charset="-122"/>
                <a:cs typeface="JetBrains Mono SemiBold" pitchFamily="34" charset="-120"/>
              </a:rPr>
              <a:t>0x180D</a:t>
            </a:r>
            <a:endParaRPr lang="en-US" sz="600" dirty="0"/>
          </a:p>
        </p:txBody>
      </p:sp>
      <p:sp>
        <p:nvSpPr>
          <p:cNvPr id="52" name="Text 49"/>
          <p:cNvSpPr/>
          <p:nvPr/>
        </p:nvSpPr>
        <p:spPr>
          <a:xfrm>
            <a:off x="7792045" y="1601260"/>
            <a:ext cx="575072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750" dirty="0">
                <a:solidFill>
                  <a:srgbClr val="F5F5F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e VitalBand</a:t>
            </a:r>
            <a:endParaRPr lang="en-US" sz="750" dirty="0"/>
          </a:p>
        </p:txBody>
      </p:sp>
      <p:sp>
        <p:nvSpPr>
          <p:cNvPr id="53" name="Text 50"/>
          <p:cNvSpPr/>
          <p:nvPr/>
        </p:nvSpPr>
        <p:spPr>
          <a:xfrm>
            <a:off x="5986463" y="1726276"/>
            <a:ext cx="1719858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750" dirty="0">
                <a:solidFill>
                  <a:srgbClr val="F5F5F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para queda por hardware dedicado.</a:t>
            </a:r>
            <a:endParaRPr lang="en-US" sz="750" dirty="0"/>
          </a:p>
        </p:txBody>
      </p:sp>
      <p:sp>
        <p:nvSpPr>
          <p:cNvPr id="54" name="Shape 51"/>
          <p:cNvSpPr/>
          <p:nvPr/>
        </p:nvSpPr>
        <p:spPr>
          <a:xfrm>
            <a:off x="5886450" y="2103109"/>
            <a:ext cx="2643188" cy="342900"/>
          </a:xfrm>
          <a:prstGeom prst="rect">
            <a:avLst/>
          </a:prstGeom>
          <a:solidFill>
            <a:srgbClr val="1A1A22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55" name="Shape 52"/>
          <p:cNvSpPr/>
          <p:nvPr/>
        </p:nvSpPr>
        <p:spPr>
          <a:xfrm>
            <a:off x="5886450" y="2103109"/>
            <a:ext cx="2643188" cy="14288"/>
          </a:xfrm>
          <a:prstGeom prst="rect">
            <a:avLst/>
          </a:prstGeom>
          <a:solidFill>
            <a:srgbClr val="303039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56" name="Text 53"/>
          <p:cNvSpPr/>
          <p:nvPr/>
        </p:nvSpPr>
        <p:spPr>
          <a:xfrm>
            <a:off x="5886450" y="2103109"/>
            <a:ext cx="2643188" cy="342900"/>
          </a:xfrm>
          <a:prstGeom prst="rect">
            <a:avLst/>
          </a:prstGeom>
          <a:noFill/>
          <a:ln/>
        </p:spPr>
        <p:txBody>
          <a:bodyPr wrap="square" lIns="119126" tIns="85090" rIns="102108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700" b="1" dirty="0">
                <a:solidFill>
                  <a:srgbClr val="3B82F6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Kotlin Multiplatform</a:t>
            </a:r>
            <a:r>
              <a:rPr lang="en-US" sz="750" dirty="0">
                <a:solidFill>
                  <a:srgbClr val="D4D4D8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 para versão iOS.</a:t>
            </a:r>
            <a:endParaRPr lang="en-US" sz="700" dirty="0"/>
          </a:p>
        </p:txBody>
      </p:sp>
      <p:sp>
        <p:nvSpPr>
          <p:cNvPr id="57" name="Shape 54"/>
          <p:cNvSpPr/>
          <p:nvPr/>
        </p:nvSpPr>
        <p:spPr>
          <a:xfrm>
            <a:off x="5886450" y="2531734"/>
            <a:ext cx="2643188" cy="342900"/>
          </a:xfrm>
          <a:prstGeom prst="rect">
            <a:avLst/>
          </a:prstGeom>
          <a:solidFill>
            <a:srgbClr val="1A1A22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58" name="Shape 55"/>
          <p:cNvSpPr/>
          <p:nvPr/>
        </p:nvSpPr>
        <p:spPr>
          <a:xfrm>
            <a:off x="5886450" y="2531734"/>
            <a:ext cx="2643188" cy="14288"/>
          </a:xfrm>
          <a:prstGeom prst="rect">
            <a:avLst/>
          </a:prstGeom>
          <a:solidFill>
            <a:srgbClr val="303039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59" name="Text 56"/>
          <p:cNvSpPr/>
          <p:nvPr/>
        </p:nvSpPr>
        <p:spPr>
          <a:xfrm>
            <a:off x="5886450" y="2531734"/>
            <a:ext cx="2643188" cy="342900"/>
          </a:xfrm>
          <a:prstGeom prst="rect">
            <a:avLst/>
          </a:prstGeom>
          <a:noFill/>
          <a:ln/>
        </p:spPr>
        <p:txBody>
          <a:bodyPr wrap="square" lIns="119126" tIns="85090" rIns="102108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700" b="1" dirty="0">
                <a:solidFill>
                  <a:srgbClr val="3B82F6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Health Connect</a:t>
            </a:r>
            <a:r>
              <a:rPr lang="en-US" sz="750" dirty="0">
                <a:solidFill>
                  <a:srgbClr val="D4D4D8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 como fonte unificada de saúde.</a:t>
            </a:r>
            <a:endParaRPr lang="en-US" sz="700" dirty="0"/>
          </a:p>
        </p:txBody>
      </p:sp>
      <p:sp>
        <p:nvSpPr>
          <p:cNvPr id="60" name="Shape 57"/>
          <p:cNvSpPr/>
          <p:nvPr/>
        </p:nvSpPr>
        <p:spPr>
          <a:xfrm>
            <a:off x="5886450" y="2960359"/>
            <a:ext cx="2643188" cy="342900"/>
          </a:xfrm>
          <a:prstGeom prst="rect">
            <a:avLst/>
          </a:prstGeom>
          <a:solidFill>
            <a:srgbClr val="1A1A22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61" name="Shape 58"/>
          <p:cNvSpPr/>
          <p:nvPr/>
        </p:nvSpPr>
        <p:spPr>
          <a:xfrm>
            <a:off x="5886450" y="2960359"/>
            <a:ext cx="2643188" cy="14288"/>
          </a:xfrm>
          <a:prstGeom prst="rect">
            <a:avLst/>
          </a:prstGeom>
          <a:solidFill>
            <a:srgbClr val="303039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62" name="Text 59"/>
          <p:cNvSpPr/>
          <p:nvPr/>
        </p:nvSpPr>
        <p:spPr>
          <a:xfrm>
            <a:off x="5886450" y="2960359"/>
            <a:ext cx="2643188" cy="342900"/>
          </a:xfrm>
          <a:prstGeom prst="rect">
            <a:avLst/>
          </a:prstGeom>
          <a:noFill/>
          <a:ln/>
        </p:spPr>
        <p:txBody>
          <a:bodyPr wrap="square" lIns="119126" tIns="85090" rIns="102108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700" b="1" dirty="0">
                <a:solidFill>
                  <a:srgbClr val="3B82F6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Gemini Nano</a:t>
            </a:r>
            <a:r>
              <a:rPr lang="en-US" sz="750" dirty="0">
                <a:solidFill>
                  <a:srgbClr val="D4D4D8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 para classificar atividade.</a:t>
            </a:r>
            <a:endParaRPr lang="en-US" sz="700" dirty="0"/>
          </a:p>
        </p:txBody>
      </p:sp>
      <p:sp>
        <p:nvSpPr>
          <p:cNvPr id="63" name="Shape 60"/>
          <p:cNvSpPr/>
          <p:nvPr/>
        </p:nvSpPr>
        <p:spPr>
          <a:xfrm>
            <a:off x="5886450" y="3388984"/>
            <a:ext cx="2643188" cy="342900"/>
          </a:xfrm>
          <a:prstGeom prst="rect">
            <a:avLst/>
          </a:prstGeom>
          <a:solidFill>
            <a:srgbClr val="1A1A22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64" name="Shape 61"/>
          <p:cNvSpPr/>
          <p:nvPr/>
        </p:nvSpPr>
        <p:spPr>
          <a:xfrm>
            <a:off x="5886450" y="3388984"/>
            <a:ext cx="2643188" cy="14288"/>
          </a:xfrm>
          <a:prstGeom prst="rect">
            <a:avLst/>
          </a:prstGeom>
          <a:solidFill>
            <a:srgbClr val="303039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65" name="Text 62"/>
          <p:cNvSpPr/>
          <p:nvPr/>
        </p:nvSpPr>
        <p:spPr>
          <a:xfrm>
            <a:off x="5886450" y="3388984"/>
            <a:ext cx="2643188" cy="342900"/>
          </a:xfrm>
          <a:prstGeom prst="rect">
            <a:avLst/>
          </a:prstGeom>
          <a:noFill/>
          <a:ln/>
        </p:spPr>
        <p:txBody>
          <a:bodyPr wrap="square" lIns="119126" tIns="85090" rIns="102108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700" b="1" dirty="0">
                <a:solidFill>
                  <a:srgbClr val="3B82F6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WorkManager</a:t>
            </a:r>
            <a:r>
              <a:rPr lang="en-US" sz="750" dirty="0">
                <a:solidFill>
                  <a:srgbClr val="D4D4D8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 para sync diferido.</a:t>
            </a:r>
            <a:endParaRPr lang="en-US" sz="700" dirty="0"/>
          </a:p>
        </p:txBody>
      </p:sp>
      <p:sp>
        <p:nvSpPr>
          <p:cNvPr id="66" name="Shape 63"/>
          <p:cNvSpPr/>
          <p:nvPr/>
        </p:nvSpPr>
        <p:spPr>
          <a:xfrm>
            <a:off x="457200" y="3768328"/>
            <a:ext cx="8229600" cy="800100"/>
          </a:xfrm>
          <a:prstGeom prst="rect">
            <a:avLst/>
          </a:prstGeom>
          <a:solidFill>
            <a:srgbClr val="11111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67" name="Shape 64"/>
          <p:cNvSpPr/>
          <p:nvPr/>
        </p:nvSpPr>
        <p:spPr>
          <a:xfrm>
            <a:off x="457200" y="3768328"/>
            <a:ext cx="8229600" cy="28575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68" name="Text 65"/>
          <p:cNvSpPr/>
          <p:nvPr/>
        </p:nvSpPr>
        <p:spPr>
          <a:xfrm>
            <a:off x="657225" y="4029968"/>
            <a:ext cx="5029200" cy="2768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600" b="1" kern="0" spc="-1" dirty="0">
                <a:solidFill>
                  <a:srgbClr val="F5F5F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Obrigado · Perguntas?</a:t>
            </a:r>
            <a:endParaRPr lang="en-US" sz="1600" dirty="0"/>
          </a:p>
        </p:txBody>
      </p:sp>
      <p:sp>
        <p:nvSpPr>
          <p:cNvPr id="69" name="Text 66"/>
          <p:cNvSpPr/>
          <p:nvPr/>
        </p:nvSpPr>
        <p:spPr>
          <a:xfrm>
            <a:off x="5686425" y="3991235"/>
            <a:ext cx="3000375" cy="11999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600" b="1" kern="0" spc="1" dirty="0">
                <a:solidFill>
                  <a:srgbClr val="FF6B35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REPOSITÓRIO</a:t>
            </a:r>
            <a:endParaRPr lang="en-US" sz="600" dirty="0"/>
          </a:p>
        </p:txBody>
      </p:sp>
      <p:sp>
        <p:nvSpPr>
          <p:cNvPr id="70" name="Text 67"/>
          <p:cNvSpPr/>
          <p:nvPr/>
        </p:nvSpPr>
        <p:spPr>
          <a:xfrm>
            <a:off x="5686425" y="4168378"/>
            <a:ext cx="3000375" cy="11999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600" b="1" kern="0" spc="1" dirty="0">
                <a:solidFill>
                  <a:srgbClr val="FF6B35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[URL DO GIT]</a:t>
            </a:r>
            <a:endParaRPr lang="en-US" sz="600" dirty="0"/>
          </a:p>
        </p:txBody>
      </p:sp>
      <p:sp>
        <p:nvSpPr>
          <p:cNvPr id="71" name="Shape 68"/>
          <p:cNvSpPr/>
          <p:nvPr/>
        </p:nvSpPr>
        <p:spPr>
          <a:xfrm>
            <a:off x="457200" y="4572000"/>
            <a:ext cx="8229600" cy="571500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72" name="Shape 69"/>
          <p:cNvSpPr/>
          <p:nvPr/>
        </p:nvSpPr>
        <p:spPr>
          <a:xfrm>
            <a:off x="457200" y="4572000"/>
            <a:ext cx="8229600" cy="714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73" name="Text 70"/>
          <p:cNvSpPr/>
          <p:nvPr/>
        </p:nvSpPr>
        <p:spPr>
          <a:xfrm>
            <a:off x="457200" y="4797028"/>
            <a:ext cx="1680567" cy="121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7779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VitalRoute · ICM 2025/26 · UA-DETI</a:t>
            </a:r>
            <a:endParaRPr lang="en-US" sz="750" dirty="0"/>
          </a:p>
        </p:txBody>
      </p:sp>
      <p:sp>
        <p:nvSpPr>
          <p:cNvPr id="74" name="Text 71"/>
          <p:cNvSpPr/>
          <p:nvPr/>
        </p:nvSpPr>
        <p:spPr>
          <a:xfrm>
            <a:off x="8390334" y="4797028"/>
            <a:ext cx="296466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7779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 / 12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</TotalTime>
  <Words>1311</Words>
  <Application>Microsoft Office PowerPoint</Application>
  <PresentationFormat>Apresentação no Ecrã (16:9)</PresentationFormat>
  <Paragraphs>330</Paragraphs>
  <Slides>12</Slides>
  <Notes>12</Notes>
  <HiddenSlides>0</HiddenSlides>
  <MMClips>0</MMClips>
  <ScaleCrop>false</ScaleCrop>
  <HeadingPairs>
    <vt:vector size="6" baseType="variant">
      <vt:variant>
        <vt:lpstr>Tipos de letra usados</vt:lpstr>
      </vt:variant>
      <vt:variant>
        <vt:i4>12</vt:i4>
      </vt:variant>
      <vt:variant>
        <vt:lpstr>Tema</vt:lpstr>
      </vt:variant>
      <vt:variant>
        <vt:i4>1</vt:i4>
      </vt:variant>
      <vt:variant>
        <vt:lpstr>Títulos dos diapositivos</vt:lpstr>
      </vt:variant>
      <vt:variant>
        <vt:i4>12</vt:i4>
      </vt:variant>
    </vt:vector>
  </HeadingPairs>
  <TitlesOfParts>
    <vt:vector size="25" baseType="lpstr">
      <vt:lpstr>Arial</vt:lpstr>
      <vt:lpstr>Courier New</vt:lpstr>
      <vt:lpstr>Inter</vt:lpstr>
      <vt:lpstr>Inter Bold</vt:lpstr>
      <vt:lpstr>Inter ExtraBold</vt:lpstr>
      <vt:lpstr>Inter Medium</vt:lpstr>
      <vt:lpstr>Inter SemiBold</vt:lpstr>
      <vt:lpstr>JetBrains Mono</vt:lpstr>
      <vt:lpstr>JetBrains Mono Bold</vt:lpstr>
      <vt:lpstr>JetBrains Mono SemiBold</vt:lpstr>
      <vt:lpstr>monospace</vt:lpstr>
      <vt:lpstr>SFMono-Regular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Duarte Lourenço</cp:lastModifiedBy>
  <cp:revision>3</cp:revision>
  <dcterms:created xsi:type="dcterms:W3CDTF">2026-05-18T22:26:57Z</dcterms:created>
  <dcterms:modified xsi:type="dcterms:W3CDTF">2026-05-18T23:06:54Z</dcterms:modified>
</cp:coreProperties>
</file>