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89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" y="621506"/>
            <a:ext cx="408050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COMPUTAÇÃO MÓVEL · 2025/26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514350" y="1316236"/>
            <a:ext cx="4080504" cy="538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73600"/>
              </a:lnSpc>
              <a:buNone/>
            </a:pPr>
            <a:r>
              <a:rPr lang="en-US" sz="4250" b="1" kern="0" spc="-4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</a:t>
            </a:r>
            <a:endParaRPr lang="en-US" sz="4250" dirty="0"/>
          </a:p>
        </p:txBody>
      </p:sp>
      <p:sp>
        <p:nvSpPr>
          <p:cNvPr id="5" name="Text 2"/>
          <p:cNvSpPr/>
          <p:nvPr/>
        </p:nvSpPr>
        <p:spPr>
          <a:xfrm>
            <a:off x="514350" y="2569936"/>
            <a:ext cx="4071938" cy="531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92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Fitness + segurança ativa para atletas ao ar livre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14350" y="3515757"/>
            <a:ext cx="2138406" cy="1825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 err="1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Autores</a:t>
            </a: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Duarte Lourenço,  João Silva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14350" y="3736907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Universidade: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Universidade de Aveiro · DETI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14350" y="3958056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19 de maio de 2026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937754" y="750094"/>
            <a:ext cx="3691868" cy="3643313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FF6B35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5890720" y="1035844"/>
            <a:ext cx="1785938" cy="3071813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047882" y="1421606"/>
            <a:ext cx="1471613" cy="1943100"/>
          </a:xfrm>
          <a:prstGeom prst="rect">
            <a:avLst/>
          </a:prstGeom>
          <a:solidFill>
            <a:srgbClr val="101015"/>
          </a:solidFill>
          <a:ln w="9144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6097888" y="3631763"/>
            <a:ext cx="137160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14350" y="4564856"/>
            <a:ext cx="8115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14350" y="4564856"/>
            <a:ext cx="81153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14350" y="4789884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8331398" y="4789884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12</a:t>
            </a:r>
            <a:endParaRPr lang="en-US" sz="75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D1B59539-4954-194F-69D9-978144001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001" y="1406808"/>
            <a:ext cx="1539373" cy="20070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32365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 problema que resolvemos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88244" y="573286"/>
            <a:ext cx="1398556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 &amp; CONCEITO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1000125"/>
            <a:ext cx="4000500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Atletas ao ar livre precisam de métricas de treino e de segurança ativa no mesmo fluxo.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688771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Ciclistas e corredores treinam sozinhos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750344" y="1688771"/>
            <a:ext cx="216455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Acidentes sem testemunhas são críticos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57200" y="2403146"/>
            <a:ext cx="216455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Apps de fitness ignoram emergência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2750344" y="2403146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Botões SOS ignoram contexto desportivo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solidFill>
            <a:srgbClr val="25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457200" y="3260396"/>
            <a:ext cx="44577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noFill/>
          <a:ln/>
        </p:spPr>
        <p:txBody>
          <a:bodyPr wrap="square" lIns="204089" tIns="0" rIns="204089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 = fitness tracker + sistema automático de emergência numa única app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329238" y="1028700"/>
            <a:ext cx="3357563" cy="300037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283263" y="1369479"/>
            <a:ext cx="1449484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VISUAL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65019" y="3341154"/>
            <a:ext cx="228600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IMAGEM: ciclista sozinho, acidente ou split conceptual]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368903" y="4797028"/>
            <a:ext cx="3178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750" dirty="0"/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25A2E379-E56B-6A32-C337-99FB9B706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9238" y="1028700"/>
            <a:ext cx="3427900" cy="30063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9153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Como a Marta usa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35745" y="573286"/>
            <a:ext cx="85105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MAP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2357438" cy="3043238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2357438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solidFill>
            <a:srgbClr val="241A15"/>
          </a:solidFill>
          <a:ln w="18288">
            <a:solidFill>
              <a:srgbClr val="FF6B3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2938" y="2028825"/>
            <a:ext cx="198596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Marta, 34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2938" y="2359223"/>
            <a:ext cx="1985963" cy="745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Ciclista de fim-de-semana. Sai sozinha duas vezes por semana e quer segurança sem interromper o treino.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2938" y="3319276"/>
            <a:ext cx="198596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Touchpoints: app, SMS, contactos do telemóvel, mapas OSM.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14675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114675" y="957263"/>
            <a:ext cx="1771650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571875" y="1151567"/>
            <a:ext cx="63222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Abre app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57550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 meteorologia e camada de mapa para ciclismo.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14913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5014913" y="957263"/>
            <a:ext cx="177165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36589" y="1114425"/>
            <a:ext cx="1221386" cy="337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Confirma segurança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157788" y="1580164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Revê contactos de confiança antes de sair.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915150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6915150" y="9572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72350" y="1151567"/>
            <a:ext cx="1057275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Inicia gravação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58025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Começa percurso, cronómetro e métricas em tempo real.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114675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3114675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571875" y="2637467"/>
            <a:ext cx="110728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257550" y="29718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sensibilidade configurada identifica impacto provável.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014913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5014913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72113" y="2637467"/>
            <a:ext cx="89654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SOS aparece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157788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Slider dá 10 segundos para cancelar falso positivo.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915150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6915150" y="24431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372350" y="2637467"/>
            <a:ext cx="113764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SMS automático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058025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 recebem alerta com localização GPS.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750" dirty="0"/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1F595C2F-208F-5491-05E6-D9734F674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37" y="1197248"/>
            <a:ext cx="655201" cy="6601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00938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Cinco ecrãs, uma jornada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96467" y="573286"/>
            <a:ext cx="7903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TOUR DA APP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1506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D4D4D8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aplicação organiza o fluxo de utilização em cinco áreas principais, mantendo navegação inferior consistente e ações críticas sempre acessíveis.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9435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70865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1054261" y="2357884"/>
            <a:ext cx="33748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70865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70865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48719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8719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semanal e estado dos sensores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226883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238313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2708346" y="2357884"/>
            <a:ext cx="37828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238313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238313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2161682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161682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OSM, CyclOSM e meteorologia em tempo real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>
            <a:off x="3943322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4057622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4369157" y="2357884"/>
            <a:ext cx="40563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057622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4057622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36166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836166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Cronómetro, métricas e slider SOS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61783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573213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914774" y="2357884"/>
            <a:ext cx="663392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573213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573213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551067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51067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Contactos, sensibilidade e zonas seguras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729231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740661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7736151" y="2357884"/>
            <a:ext cx="3696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1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740661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7185161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185161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Histórico, recordes e resumo mensal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65331" y="4797028"/>
            <a:ext cx="32146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161021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MVVM + UDF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26905" y="573286"/>
            <a:ext cx="125989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ARQUITETURA GERAL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85825"/>
            <a:ext cx="6072188" cy="41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 arquitetura separa interface, estado e dados para reduzir acoplamento e tornar o comportamento da app previsível.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15033"/>
            <a:ext cx="2400300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715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1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715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Layer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715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Compose Screens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Home, Maps, Recording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Security, Diary, Auth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715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Renderiza estado observado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5750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37185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3371850" y="1515033"/>
            <a:ext cx="24003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348615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2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348615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Holders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8615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ViewModels por funcionalidade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86150" y="2329755"/>
            <a:ext cx="46613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Expõem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StateFlow&lt;UiState&gt;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486150" y="2546914"/>
            <a:ext cx="37326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usa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collectAsStateWithLifecycle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486150" y="2756929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 eventos da interface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77215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2865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286500" y="1515033"/>
            <a:ext cx="2400300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4008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3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64008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Layer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4008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FirestoreRepository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4008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WeatherRepository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008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NominatimRepository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4008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SosManager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58158"/>
            <a:ext cx="8229600" cy="57150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57200" y="3658158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600075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State flows down ↓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00075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Os ViewModels publicam estado imutável para os composables.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4643438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Events flow up ↑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43438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UI comunica intenções; a lógica permanece fora dos ecrãs.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57200" y="4315383"/>
            <a:ext cx="82296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alinhado com a Android Architecture Guide: separação de responsabilidades, estado observável e ciclo de vida explícito.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457200" y="4436827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457200" y="4436827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457200" y="4661855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8370689" y="4661855"/>
            <a:ext cx="3161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21523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Compose e estado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705455" y="573286"/>
            <a:ext cx="98134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DECLARATIVA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28675"/>
            <a:ext cx="46434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interface é construída como função do estado, reduzindo acoplamento entre ecrãs, eventos e dados.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377851"/>
            <a:ext cx="242887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85788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TOOLKIT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85788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Jetpack Compose + Material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57513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2957513" y="1377851"/>
            <a:ext cx="2428875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3086100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COMPOSIÇÃO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3086100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Stateless + state hoisting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457200" y="2020788"/>
            <a:ext cx="242887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85788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585788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ViewModel expõe StateFlow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57513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2957513" y="2020788"/>
            <a:ext cx="242887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3086100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TEMA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3086100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Dark theme em Theme.kt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35163"/>
            <a:ext cx="492918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SNIPPET KOTLIN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solidFill>
            <a:srgbClr val="121217"/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noFill/>
          <a:ln/>
        </p:spPr>
        <p:txBody>
          <a:bodyPr wrap="square" lIns="153035" tIns="102108" rIns="119126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@Composable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
</a:t>
            </a: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fun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</a:t>
            </a:r>
            <a:r>
              <a:rPr lang="en-US" sz="800" b="1" dirty="0">
                <a:solidFill>
                  <a:srgbClr val="4ADE8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HomeScreen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(vm: </a:t>
            </a:r>
            <a:r>
              <a:rPr lang="en-US" sz="800" b="1" dirty="0">
                <a:solidFill>
                  <a:srgbClr val="3B82F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HomeViewModel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= viewModel()) {
    val state by vm.uiState.collectAsStateWithLifecycle()
    HomeContent(state, onSosClick = vm::triggerSos)
}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800725" y="828675"/>
            <a:ext cx="3000375" cy="271462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6445588" y="971550"/>
            <a:ext cx="171064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522244" y="1207294"/>
            <a:ext cx="1557338" cy="1960959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solidFill>
            <a:srgbClr val="1D1D2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679406" y="1464469"/>
            <a:ext cx="1243013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HomeScreen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BOTTOM NAV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6157913" y="3253978"/>
            <a:ext cx="228600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HomeScreen com dashboard semanal e estado dos sensores]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7200" y="4257675"/>
            <a:ext cx="8229600" cy="51435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457200" y="4257675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57200" y="44541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367117" y="44541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495401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Dados em tempo real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98342" y="573286"/>
            <a:ext cx="118845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FIRESTORE REATIVO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42975"/>
            <a:ext cx="3643313" cy="2986088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42975"/>
            <a:ext cx="3643313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27183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MODELO POR UTILIZADOR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7225" y="1428750"/>
            <a:ext cx="3271838" cy="18515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9600"/>
              </a:lnSpc>
              <a:buNone/>
            </a:pPr>
            <a:r>
              <a:rPr lang="en-US" sz="1050" dirty="0">
                <a:solidFill>
                  <a:srgbClr val="FF6B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users/{uid}/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3B82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raiz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name, email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activities/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distância, duração, velocidade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nome, telefone, sosEnabled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settings/main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fallSensitivity, alertas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429125" y="942975"/>
            <a:ext cx="40719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Firestore mantém os dados sincronizados e expõe alterações como fluxos consumidos pela UI.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29125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429125" y="2143125"/>
            <a:ext cx="2064544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572000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Listeners → Flow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2509940"/>
            <a:ext cx="77152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callbackFlow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343525" y="2520655"/>
            <a:ext cx="9376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 listeners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72000" y="2667102"/>
            <a:ext cx="66615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 em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238155" y="2656387"/>
            <a:ext cx="45005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Flow&lt;T&gt;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688211" y="2667102"/>
            <a:ext cx="34468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Kotlin.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22256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622256" y="2143125"/>
            <a:ext cx="2064544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6765131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UI reativa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765131" y="2511726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ecrãs atualizam quando outro dispositivo escreve dados.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429125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4429125" y="3100388"/>
            <a:ext cx="2064544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0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 por UID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0" y="3468988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utilizador lê e escreve apenas os seus documentos.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22256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622256" y="3100388"/>
            <a:ext cx="2064544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6765131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Firebase Auth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765131" y="3476132"/>
            <a:ext cx="10608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Email/password com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65131" y="3611863"/>
            <a:ext cx="1092994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AuthStateListener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858125" y="3622579"/>
            <a:ext cx="65008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sessão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765131" y="3767240"/>
            <a:ext cx="27503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ativa.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3943350"/>
            <a:ext cx="8229600" cy="5857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1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906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11858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Firestore Listener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29860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3328988" y="4141589"/>
            <a:ext cx="10287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callbackFlow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14863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577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StateFlow&lt;UiState&gt;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579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7100888" y="4141589"/>
            <a:ext cx="8572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Compose UI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29138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457200" y="4529138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457200" y="4754166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8374261" y="4754166"/>
            <a:ext cx="3125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14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Navigation + REST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534647" y="573286"/>
            <a:ext cx="115215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NAVEGAÇÃO E APIS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3964781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Navegação interna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7225" y="14894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657225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657225" y="14894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489597" y="14894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2489597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2489597" y="14894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Maps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657225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Recording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2489597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57225" y="25181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Diary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2489597" y="2518172"/>
            <a:ext cx="1732359" cy="14288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7225" y="3089672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57225" y="3089672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785813" y="3286125"/>
            <a:ext cx="54122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DETALHE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841427" y="3278088"/>
            <a:ext cx="12519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· ActivityDetail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57225" y="3761184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657225" y="3761184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785813" y="3957638"/>
            <a:ext cx="5639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REGRA UI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1746647" y="3949601"/>
            <a:ext cx="2346722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bar escondida em ecrãs detalhados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22019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4722019" y="957263"/>
            <a:ext cx="39647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922044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APIs externas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22044" y="1489472"/>
            <a:ext cx="1028700" cy="289322"/>
          </a:xfrm>
          <a:prstGeom prst="rect">
            <a:avLst/>
          </a:prstGeom>
          <a:noFill/>
          <a:ln/>
        </p:spPr>
        <p:txBody>
          <a:bodyPr wrap="non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SERVIÇO</a:t>
            </a:r>
            <a:endParaRPr lang="en-US" sz="650" dirty="0"/>
          </a:p>
        </p:txBody>
      </p:sp>
      <p:sp>
        <p:nvSpPr>
          <p:cNvPr id="38" name="Text 35"/>
          <p:cNvSpPr/>
          <p:nvPr/>
        </p:nvSpPr>
        <p:spPr>
          <a:xfrm>
            <a:off x="5950744" y="1489472"/>
            <a:ext cx="2536031" cy="289322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USO NA APP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4929188" y="1948542"/>
            <a:ext cx="71080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Open-Meteo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950744" y="1778794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humidade e vento sem API key.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929188" y="2427173"/>
            <a:ext cx="61793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Nominatim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950744" y="2257425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Geocoding reverso baseado em OpenStreetMap.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929188" y="2905804"/>
            <a:ext cx="54649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Overpass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950744" y="2736056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Pontos de interesse OSM para contexto no mapa.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57200" y="3914775"/>
            <a:ext cx="8229600" cy="6286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3914775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642938" y="4168378"/>
            <a:ext cx="16716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STACK ASSÍNCRONA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2314575" y="4055529"/>
            <a:ext cx="6372225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Retrofit + Gson · suspend functions · viewModelScope</a:t>
            </a:r>
            <a:r>
              <a:rPr lang="en-US" sz="9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Chamadas REST sem bloqueios no main thread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Shape 47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75972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 OpenStreetMap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98959" y="573286"/>
            <a:ext cx="1387841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LOCALIZAÇÃO E MAPAS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28688"/>
            <a:ext cx="22502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614363" y="1445884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14375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PROVIDER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4375" y="1672698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FusedLocationProviderClient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14363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614363" y="1974521"/>
            <a:ext cx="1935956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14375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714375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Fine + coarse location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14363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14363" y="2503159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714375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UX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14375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Pedido em contexto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14363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14363" y="3031796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714375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OVERLAY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714375" y="3258610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MyLocationOverlay mostra ponto azul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2907506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2907506" y="928688"/>
            <a:ext cx="2250281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3064669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064669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3064669" y="1445884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164681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BIBLIOTECA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3164681" y="1672698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OSMDroid em vez de Google Maps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3064669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064669" y="1974521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164681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BASE</a:t>
            </a:r>
            <a:endParaRPr lang="en-US" sz="600" dirty="0"/>
          </a:p>
        </p:txBody>
      </p:sp>
      <p:sp>
        <p:nvSpPr>
          <p:cNvPr id="34" name="Text 31"/>
          <p:cNvSpPr/>
          <p:nvPr/>
        </p:nvSpPr>
        <p:spPr>
          <a:xfrm>
            <a:off x="3164681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OpenStreetMap padrão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3064669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3064669" y="2503159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3164681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3164681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CyclOSM para ciclovias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3064669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3064669" y="3031796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164681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OPERAÇÃO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3164681" y="3258610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 API key · sem billing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357813" y="928688"/>
            <a:ext cx="3328988" cy="28003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6155959" y="1100138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143625" y="1364456"/>
            <a:ext cx="1757363" cy="2185988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6293644" y="1621631"/>
            <a:ext cx="1457325" cy="1571625"/>
          </a:xfrm>
          <a:prstGeom prst="rect">
            <a:avLst/>
          </a:prstGeom>
          <a:solidFill>
            <a:srgbClr val="3B82F6">
              <a:alpha val="12000"/>
            </a:srgbClr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solidFill>
            <a:srgbClr val="132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Shape 45"/>
          <p:cNvSpPr/>
          <p:nvPr/>
        </p:nvSpPr>
        <p:spPr>
          <a:xfrm>
            <a:off x="7179469" y="1693069"/>
            <a:ext cx="500063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Text 46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4ADE8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CyclOSM</a:t>
            </a:r>
            <a:endParaRPr lang="en-US" sz="550" dirty="0"/>
          </a:p>
        </p:txBody>
      </p:sp>
      <p:sp>
        <p:nvSpPr>
          <p:cNvPr id="50" name="Shape 47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6293644" y="3293269"/>
            <a:ext cx="1457325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MAPS SCREEN</a:t>
            </a:r>
            <a:endParaRPr lang="en-US" sz="600" dirty="0"/>
          </a:p>
        </p:txBody>
      </p:sp>
      <p:sp>
        <p:nvSpPr>
          <p:cNvPr id="53" name="Text 50"/>
          <p:cNvSpPr/>
          <p:nvPr/>
        </p:nvSpPr>
        <p:spPr>
          <a:xfrm>
            <a:off x="5807869" y="3607594"/>
            <a:ext cx="2428875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MapsScreen com camada CyclOSM e localização atual]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457200" y="3943350"/>
            <a:ext cx="8229600" cy="614363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642938" y="4189809"/>
            <a:ext cx="1707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FALLBACK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2350294" y="4082960"/>
            <a:ext cx="6336506" cy="335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0400"/>
              </a:lnSpc>
              <a:buNone/>
            </a:pPr>
            <a:r>
              <a:rPr lang="en-US" sz="8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Sem permissão:</a:t>
            </a:r>
            <a:r>
              <a:rPr lang="en-US" sz="8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 centro inicial em Aveiro · Open-source · custo previsível · independência de billing externo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Shape 5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957736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Tracking em background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982932" y="573286"/>
            <a:ext cx="170386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GRAVAÇÃO EM BACKGROUND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86500" cy="447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gravação fiável de percursos exige uma tarefa visível ao sistema quando a app deixa de estar em primeiro plano.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504345"/>
            <a:ext cx="3714750" cy="2000250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04345"/>
            <a:ext cx="371475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00075" y="1647220"/>
            <a:ext cx="344328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PATH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00075" y="1868677"/>
            <a:ext cx="3443288" cy="1140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1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Sobrevive a app em background?
 ├─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Sim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tarefa visível?
 │       └─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Foreground Service ✓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b="1" dirty="0">
                <a:solidFill>
                  <a:srgbClr val="EF4444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Não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coroutine no
         </a:t>
            </a:r>
            <a:r>
              <a:rPr lang="en-US" sz="10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ViewModelScope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29125" y="1504345"/>
            <a:ext cx="4257675" cy="20002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680621" y="1647220"/>
            <a:ext cx="17546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5414963" y="1925827"/>
            <a:ext cx="2286000" cy="208620"/>
          </a:xfrm>
          <a:prstGeom prst="rect">
            <a:avLst/>
          </a:prstGeom>
          <a:solidFill>
            <a:srgbClr val="10101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414963" y="1925827"/>
            <a:ext cx="228600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5514975" y="1973880"/>
            <a:ext cx="44291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7361634" y="1973880"/>
            <a:ext cx="23931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12:42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414963" y="2248746"/>
            <a:ext cx="2286000" cy="857250"/>
          </a:xfrm>
          <a:prstGeom prst="rect">
            <a:avLst/>
          </a:prstGeom>
          <a:solidFill>
            <a:srgbClr val="18181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414963" y="2248746"/>
            <a:ext cx="22860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514975" y="2365000"/>
            <a:ext cx="111978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Percurso a gravar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noFill/>
          <a:ln/>
        </p:spPr>
        <p:txBody>
          <a:bodyPr wrap="none" lIns="68072" tIns="34036" rIns="68072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ATIVO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514975" y="2606994"/>
            <a:ext cx="20859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Localização em foreground · distância e tempo atualizados continuamente.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14975" y="2982041"/>
            <a:ext cx="208597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00:38:12 · 12.4 km · GPS lock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5343525" y="3234584"/>
            <a:ext cx="2428875" cy="270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notificação persistente VitalRoute durante gravação]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3688240"/>
            <a:ext cx="1993106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557213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RecordingService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57213" y="4004686"/>
            <a:ext cx="10947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 declarado com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foregroundServiceType="location"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271713" y="4138687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2536031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2536031" y="3688240"/>
            <a:ext cx="1993106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2636044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Notificação visível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2636044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 ao utilizador que o tracking continua ativo.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614863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614863" y="3688240"/>
            <a:ext cx="199310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4714875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Ecrã apagado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714875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percurso continua sem depender do ecrã aberto.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693694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6693694" y="3688240"/>
            <a:ext cx="199310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6793706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Permissão dedicada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FOREGROUND_SERVICE_LOCATION</a:t>
            </a:r>
            <a:endParaRPr lang="en-US" sz="600" dirty="0"/>
          </a:p>
        </p:txBody>
      </p:sp>
      <p:sp>
        <p:nvSpPr>
          <p:cNvPr id="44" name="Text 41"/>
          <p:cNvSpPr/>
          <p:nvPr/>
        </p:nvSpPr>
        <p:spPr>
          <a:xfrm>
            <a:off x="6793706" y="4138687"/>
            <a:ext cx="158948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declarada para Android moderno.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8388548" y="4797028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379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Do sensor ao SMS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85751" y="573286"/>
            <a:ext cx="80104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SISTEMA SOS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14400"/>
            <a:ext cx="6715125" cy="4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SOS transforma deteção de queda numa comunicação automática, cancelável e contextualizada com localização.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485230"/>
            <a:ext cx="1210866" cy="169940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485230"/>
            <a:ext cx="1210866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2925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2925" y="2331039"/>
            <a:ext cx="1039416" cy="717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Sensibilidade configurada identifica impacto provável durante o percurso.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768078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1768078" y="1485230"/>
            <a:ext cx="1210866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53803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SosSlider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53803" y="2172453"/>
            <a:ext cx="96262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 no ecrã com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2077045" y="2316026"/>
            <a:ext cx="72866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cancelar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853803" y="2459599"/>
            <a:ext cx="70723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falso positivo.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078956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3078956" y="1485230"/>
            <a:ext cx="1210866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164681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Envio SMS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SosManager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3775472" y="2172453"/>
            <a:ext cx="2107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8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SmsManager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775472" y="2316026"/>
            <a:ext cx="2607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164681" y="2459599"/>
            <a:ext cx="48220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contactar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164681" y="2603171"/>
            <a:ext cx="70365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responsáveis.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389834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389834" y="1485230"/>
            <a:ext cx="1210866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4475559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 GPS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75559" y="2331039"/>
            <a:ext cx="1039416" cy="43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mensagem inclui a última posição conhecida do atleta.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915025" y="1485230"/>
            <a:ext cx="2771775" cy="1321594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/>
          <p:nvPr/>
        </p:nvSpPr>
        <p:spPr>
          <a:xfrm>
            <a:off x="6434565" y="1570955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6522244" y="1749549"/>
            <a:ext cx="1557338" cy="914400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solidFill>
            <a:srgbClr val="2A11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Shape 42"/>
          <p:cNvSpPr/>
          <p:nvPr/>
        </p:nvSpPr>
        <p:spPr>
          <a:xfrm>
            <a:off x="6686550" y="1883578"/>
            <a:ext cx="122872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Text 43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 PENDENTE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120533" y="2106737"/>
            <a:ext cx="36075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5F5F7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10</a:t>
            </a:r>
            <a:endParaRPr lang="en-US" sz="2100" dirty="0"/>
          </a:p>
        </p:txBody>
      </p:sp>
      <p:sp>
        <p:nvSpPr>
          <p:cNvPr id="48" name="Shape 45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6686550" y="2463924"/>
            <a:ext cx="122872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DESLIZAR PARA CANCELAR</a:t>
            </a:r>
            <a:endParaRPr lang="en-US" sz="600" dirty="0"/>
          </a:p>
        </p:txBody>
      </p:sp>
      <p:sp>
        <p:nvSpPr>
          <p:cNvPr id="51" name="Text 48"/>
          <p:cNvSpPr/>
          <p:nvPr/>
        </p:nvSpPr>
        <p:spPr>
          <a:xfrm>
            <a:off x="6229350" y="2721099"/>
            <a:ext cx="21431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SosSlider em ação durante uma atividade]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57200" y="2971354"/>
            <a:ext cx="2828925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3" name="Shape 50"/>
          <p:cNvSpPr/>
          <p:nvPr/>
        </p:nvSpPr>
        <p:spPr>
          <a:xfrm>
            <a:off x="457200" y="2971354"/>
            <a:ext cx="282892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4" name="Text 51"/>
          <p:cNvSpPr/>
          <p:nvPr/>
        </p:nvSpPr>
        <p:spPr>
          <a:xfrm>
            <a:off x="557213" y="3057079"/>
            <a:ext cx="2628900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Contactos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57213" y="3281744"/>
            <a:ext cx="123765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Picker via Intent implícito: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ACTION_PICK</a:t>
            </a:r>
            <a:endParaRPr lang="en-US" sz="600" dirty="0"/>
          </a:p>
        </p:txBody>
      </p:sp>
      <p:sp>
        <p:nvSpPr>
          <p:cNvPr id="58" name="Text 55"/>
          <p:cNvSpPr/>
          <p:nvPr/>
        </p:nvSpPr>
        <p:spPr>
          <a:xfrm>
            <a:off x="2421731" y="3281744"/>
            <a:ext cx="17502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Contacts.CONTENT_URI</a:t>
            </a:r>
            <a:endParaRPr lang="en-US" sz="600" dirty="0"/>
          </a:p>
        </p:txBody>
      </p:sp>
      <p:sp>
        <p:nvSpPr>
          <p:cNvPr id="61" name="Text 58"/>
          <p:cNvSpPr/>
          <p:nvPr/>
        </p:nvSpPr>
        <p:spPr>
          <a:xfrm>
            <a:off x="165020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3414713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3" name="Shape 60"/>
          <p:cNvSpPr/>
          <p:nvPr/>
        </p:nvSpPr>
        <p:spPr>
          <a:xfrm>
            <a:off x="3414713" y="2971354"/>
            <a:ext cx="25717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Text 61"/>
          <p:cNvSpPr/>
          <p:nvPr/>
        </p:nvSpPr>
        <p:spPr>
          <a:xfrm>
            <a:off x="3514725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Exportação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3514725" y="3281744"/>
            <a:ext cx="141089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 em GPX/CSV com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Text 64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FileProvider</a:t>
            </a:r>
            <a:endParaRPr lang="en-US" sz="600" dirty="0"/>
          </a:p>
        </p:txBody>
      </p:sp>
      <p:sp>
        <p:nvSpPr>
          <p:cNvPr id="68" name="Text 65"/>
          <p:cNvSpPr/>
          <p:nvPr/>
        </p:nvSpPr>
        <p:spPr>
          <a:xfrm>
            <a:off x="5604272" y="3281744"/>
            <a:ext cx="875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3514725" y="3415745"/>
            <a:ext cx="5464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partilha via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1" name="Text 68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ACTION_SEND</a:t>
            </a:r>
            <a:endParaRPr lang="en-US" sz="600" dirty="0"/>
          </a:p>
        </p:txBody>
      </p:sp>
      <p:sp>
        <p:nvSpPr>
          <p:cNvPr id="72" name="Text 69"/>
          <p:cNvSpPr/>
          <p:nvPr/>
        </p:nvSpPr>
        <p:spPr>
          <a:xfrm>
            <a:off x="468808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6115050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4" name="Shape 71"/>
          <p:cNvSpPr/>
          <p:nvPr/>
        </p:nvSpPr>
        <p:spPr>
          <a:xfrm>
            <a:off x="6115050" y="2971354"/>
            <a:ext cx="25717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5" name="Text 72"/>
          <p:cNvSpPr/>
          <p:nvPr/>
        </p:nvSpPr>
        <p:spPr>
          <a:xfrm>
            <a:off x="6215063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900" dirty="0"/>
          </a:p>
        </p:txBody>
      </p:sp>
      <p:sp>
        <p:nvSpPr>
          <p:cNvPr id="76" name="Shape 73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7" name="Text 74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SEND_SMS</a:t>
            </a:r>
            <a:endParaRPr lang="en-US" sz="600" dirty="0"/>
          </a:p>
        </p:txBody>
      </p:sp>
      <p:sp>
        <p:nvSpPr>
          <p:cNvPr id="78" name="Text 75"/>
          <p:cNvSpPr/>
          <p:nvPr/>
        </p:nvSpPr>
        <p:spPr>
          <a:xfrm>
            <a:off x="6686550" y="3281744"/>
            <a:ext cx="11608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0" name="Text 77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READ_CONTACTS</a:t>
            </a:r>
            <a:endParaRPr lang="en-US" sz="600" dirty="0"/>
          </a:p>
        </p:txBody>
      </p:sp>
      <p:sp>
        <p:nvSpPr>
          <p:cNvPr id="81" name="Text 78"/>
          <p:cNvSpPr/>
          <p:nvPr/>
        </p:nvSpPr>
        <p:spPr>
          <a:xfrm>
            <a:off x="7533084" y="3281744"/>
            <a:ext cx="9429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justificadas em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6215063" y="3415745"/>
            <a:ext cx="44112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contexto.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457200" y="4178871"/>
            <a:ext cx="8229600" cy="3571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4" name="Shape 81"/>
          <p:cNvSpPr/>
          <p:nvPr/>
        </p:nvSpPr>
        <p:spPr>
          <a:xfrm>
            <a:off x="457200" y="4178871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5" name="Text 82"/>
          <p:cNvSpPr/>
          <p:nvPr/>
        </p:nvSpPr>
        <p:spPr>
          <a:xfrm>
            <a:off x="2807494" y="4282455"/>
            <a:ext cx="291822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SMS: “Preciso de ajuda. Última localização: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5725716" y="4282455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lat, lon</a:t>
            </a:r>
            <a:endParaRPr lang="en-US" sz="800" dirty="0"/>
          </a:p>
        </p:txBody>
      </p:sp>
      <p:sp>
        <p:nvSpPr>
          <p:cNvPr id="87" name="Text 84"/>
          <p:cNvSpPr/>
          <p:nvPr/>
        </p:nvSpPr>
        <p:spPr>
          <a:xfrm>
            <a:off x="6268641" y="4282455"/>
            <a:ext cx="67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”</a:t>
            </a:r>
            <a:endParaRPr lang="en-US" sz="800" dirty="0"/>
          </a:p>
        </p:txBody>
      </p:sp>
      <p:sp>
        <p:nvSpPr>
          <p:cNvPr id="88" name="Shape 8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9" name="Shape 8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0" name="Text 8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91" name="Text 88"/>
          <p:cNvSpPr/>
          <p:nvPr/>
        </p:nvSpPr>
        <p:spPr>
          <a:xfrm>
            <a:off x="8409980" y="4797028"/>
            <a:ext cx="27682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06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Qualidade e futuro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958333" y="573286"/>
            <a:ext cx="728467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CONCLUSÃO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464594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Quality checklist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857250" y="1503034"/>
            <a:ext cx="6036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Min SDK 24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57250" y="1835218"/>
            <a:ext cx="171092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Permissões pedidas em contexto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857250" y="2163831"/>
            <a:ext cx="131087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Estados de loading e erro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857250" y="2492443"/>
            <a:ext cx="11787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Rotação suportada por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7250" y="2821056"/>
            <a:ext cx="120550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Tema escuro Material 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093244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3093244" y="914400"/>
            <a:ext cx="2464594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3250406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Limitações honestas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3493294" y="1503034"/>
            <a:ext cx="134123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cache offline custom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93294" y="1835218"/>
            <a:ext cx="15823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Health Connect integrado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6" name="Text 33"/>
          <p:cNvSpPr/>
          <p:nvPr/>
        </p:nvSpPr>
        <p:spPr>
          <a:xfrm>
            <a:off x="3493294" y="2163831"/>
            <a:ext cx="141089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testes instrumentados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3493294" y="2428149"/>
            <a:ext cx="190738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Deteção por sensibilidade configurada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42" name="Text 39"/>
          <p:cNvSpPr/>
          <p:nvPr/>
        </p:nvSpPr>
        <p:spPr>
          <a:xfrm>
            <a:off x="3493294" y="2821056"/>
            <a:ext cx="166806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Validação real de queda limitada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729288" y="914400"/>
            <a:ext cx="2957513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5729288" y="914400"/>
            <a:ext cx="2957513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5886450" y="1071563"/>
            <a:ext cx="2643188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886450" y="1403021"/>
            <a:ext cx="2643188" cy="614363"/>
          </a:xfrm>
          <a:prstGeom prst="rect">
            <a:avLst/>
          </a:prstGeom>
          <a:solidFill>
            <a:srgbClr val="21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5886450" y="1403021"/>
            <a:ext cx="2643188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Text 45"/>
          <p:cNvSpPr/>
          <p:nvPr/>
        </p:nvSpPr>
        <p:spPr>
          <a:xfrm>
            <a:off x="5986463" y="1476245"/>
            <a:ext cx="11072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BLE GATT + wearables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5986463" y="1601260"/>
            <a:ext cx="14376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Polar H10, Heart Rate Service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0x180D</a:t>
            </a:r>
            <a:endParaRPr lang="en-US" sz="600" dirty="0"/>
          </a:p>
        </p:txBody>
      </p:sp>
      <p:sp>
        <p:nvSpPr>
          <p:cNvPr id="52" name="Text 49"/>
          <p:cNvSpPr/>
          <p:nvPr/>
        </p:nvSpPr>
        <p:spPr>
          <a:xfrm>
            <a:off x="7792045" y="1601260"/>
            <a:ext cx="5750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 VitalBand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5986463" y="1726276"/>
            <a:ext cx="171985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para queda por hardware dedicado.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5886450" y="210310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Kotlin Multiplatform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versão iOS.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8" name="Shape 55"/>
          <p:cNvSpPr/>
          <p:nvPr/>
        </p:nvSpPr>
        <p:spPr>
          <a:xfrm>
            <a:off x="5886450" y="253173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Text 56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Health Connect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como fonte unificada de saúde.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5886450" y="296035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Gemini Nano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classificar atividade.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Shape 61"/>
          <p:cNvSpPr/>
          <p:nvPr/>
        </p:nvSpPr>
        <p:spPr>
          <a:xfrm>
            <a:off x="5886450" y="338898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5" name="Text 62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WorkManager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sync diferido.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57200" y="3768328"/>
            <a:ext cx="8229600" cy="80010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Shape 64"/>
          <p:cNvSpPr/>
          <p:nvPr/>
        </p:nvSpPr>
        <p:spPr>
          <a:xfrm>
            <a:off x="457200" y="3768328"/>
            <a:ext cx="82296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8" name="Text 65"/>
          <p:cNvSpPr/>
          <p:nvPr/>
        </p:nvSpPr>
        <p:spPr>
          <a:xfrm>
            <a:off x="657225" y="4029968"/>
            <a:ext cx="5029200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Obrigado · Perguntas?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5686425" y="3991235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REPOSITÓRIO</a:t>
            </a:r>
            <a:endParaRPr lang="en-US" sz="600" dirty="0"/>
          </a:p>
        </p:txBody>
      </p:sp>
      <p:sp>
        <p:nvSpPr>
          <p:cNvPr id="70" name="Text 67"/>
          <p:cNvSpPr/>
          <p:nvPr/>
        </p:nvSpPr>
        <p:spPr>
          <a:xfrm>
            <a:off x="5686425" y="4168378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[URL DO GIT]</a:t>
            </a:r>
            <a:endParaRPr lang="en-US" sz="600" dirty="0"/>
          </a:p>
        </p:txBody>
      </p:sp>
      <p:sp>
        <p:nvSpPr>
          <p:cNvPr id="71" name="Shape 6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Shape 6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3" name="Text 7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74" name="Text 71"/>
          <p:cNvSpPr/>
          <p:nvPr/>
        </p:nvSpPr>
        <p:spPr>
          <a:xfrm>
            <a:off x="8390334" y="4797028"/>
            <a:ext cx="2964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1311</Words>
  <Application>Microsoft Office PowerPoint</Application>
  <PresentationFormat>Apresentação no Ecrã (16:9)</PresentationFormat>
  <Paragraphs>330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25" baseType="lpstr">
      <vt:lpstr>Arial</vt:lpstr>
      <vt:lpstr>Courier New</vt:lpstr>
      <vt:lpstr>Inter</vt:lpstr>
      <vt:lpstr>Inter Bold</vt:lpstr>
      <vt:lpstr>Inter ExtraBold</vt:lpstr>
      <vt:lpstr>Inter Medium</vt:lpstr>
      <vt:lpstr>Inter SemiBold</vt:lpstr>
      <vt:lpstr>JetBrains Mono</vt:lpstr>
      <vt:lpstr>JetBrains Mono Bold</vt:lpstr>
      <vt:lpstr>JetBrains Mono SemiBold</vt:lpstr>
      <vt:lpstr>monospace</vt:lpstr>
      <vt:lpstr>SFMono-Regular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Duarte Lourenço</cp:lastModifiedBy>
  <cp:revision>2</cp:revision>
  <dcterms:created xsi:type="dcterms:W3CDTF">2026-05-18T22:26:57Z</dcterms:created>
  <dcterms:modified xsi:type="dcterms:W3CDTF">2026-05-18T22:52:12Z</dcterms:modified>
</cp:coreProperties>
</file>