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56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89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621506"/>
            <a:ext cx="408050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INTRODUÇÃO À COMPUTAÇÃO MÓVEL · 2025/26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1316236"/>
            <a:ext cx="4080504" cy="538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3600"/>
              </a:lnSpc>
              <a:buNone/>
            </a:pPr>
            <a:r>
              <a:rPr lang="en-US" sz="4250" b="1" kern="0" spc="-4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VitalRoute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514350" y="2569936"/>
            <a:ext cx="4071938" cy="531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92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Fitness + segurança ativa para atletas ao ar livre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4350" y="3515757"/>
            <a:ext cx="2138406" cy="182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7600"/>
              </a:lnSpc>
              <a:buNone/>
            </a:pPr>
            <a:r>
              <a:rPr lang="en-US" sz="900" dirty="0" err="1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Autores</a:t>
            </a:r>
            <a:r>
              <a:rPr lang="en-US" sz="90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</a:t>
            </a:r>
            <a:r>
              <a:rPr lang="en-US" sz="9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Duarte Lourenço,  João Silva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14350" y="3736907"/>
            <a:ext cx="4080504" cy="221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76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Universidade:</a:t>
            </a:r>
            <a:r>
              <a:rPr lang="en-US" sz="9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Universidade de Aveiro · DETI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3958056"/>
            <a:ext cx="4080504" cy="221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76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Data:</a:t>
            </a:r>
            <a:r>
              <a:rPr lang="en-US" sz="9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19 de maio de 2026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37754" y="750094"/>
            <a:ext cx="3691868" cy="3643313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FF6B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890720" y="1035844"/>
            <a:ext cx="1785938" cy="3071813"/>
          </a:xfrm>
          <a:prstGeom prst="rect">
            <a:avLst/>
          </a:prstGeom>
          <a:solidFill>
            <a:srgbClr val="131318"/>
          </a:solidFill>
          <a:ln w="18288">
            <a:solidFill>
              <a:srgbClr val="2A2A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047882" y="1421606"/>
            <a:ext cx="1471613" cy="1943100"/>
          </a:xfrm>
          <a:prstGeom prst="rect">
            <a:avLst/>
          </a:prstGeom>
          <a:solidFill>
            <a:srgbClr val="101015"/>
          </a:solidFill>
          <a:ln w="9144">
            <a:solidFill>
              <a:srgbClr val="2F30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097888" y="3631763"/>
            <a:ext cx="13716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14350" y="4564856"/>
            <a:ext cx="8115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514350" y="4564856"/>
            <a:ext cx="81153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514350" y="4789884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331398" y="4789884"/>
            <a:ext cx="2982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12</a:t>
            </a:r>
            <a:endParaRPr lang="en-US" sz="75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1B59539-4954-194F-69D9-978144001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001" y="1406808"/>
            <a:ext cx="1539373" cy="20070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332365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problema que resolvemos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288244" y="573286"/>
            <a:ext cx="1398556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 &amp; CONCEITO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57200" y="1000125"/>
            <a:ext cx="4000500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Atletas ao ar livre precisam de métricas de treino e de segurança ativa no mesmo fluxo.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88771"/>
            <a:ext cx="2164556" cy="585788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457200" y="1688771"/>
            <a:ext cx="2164556" cy="21431"/>
          </a:xfrm>
          <a:prstGeom prst="rect">
            <a:avLst/>
          </a:prstGeom>
          <a:solidFill>
            <a:srgbClr val="2F30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1688771"/>
            <a:ext cx="2164556" cy="585788"/>
          </a:xfrm>
          <a:prstGeom prst="rect">
            <a:avLst/>
          </a:prstGeom>
          <a:noFill/>
          <a:ln/>
        </p:spPr>
        <p:txBody>
          <a:bodyPr wrap="square" lIns="153035" tIns="0" rIns="153035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Ciclistas e corredores treinam sozinhos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50344" y="1688771"/>
            <a:ext cx="2164556" cy="585788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750344" y="1688771"/>
            <a:ext cx="2164556" cy="21431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2750344" y="1688771"/>
            <a:ext cx="2164556" cy="585788"/>
          </a:xfrm>
          <a:prstGeom prst="rect">
            <a:avLst/>
          </a:prstGeom>
          <a:noFill/>
          <a:ln/>
        </p:spPr>
        <p:txBody>
          <a:bodyPr wrap="square" lIns="153035" tIns="0" rIns="153035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Acidentes sem testemunhas são críticos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403146"/>
            <a:ext cx="2164556" cy="585788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57200" y="2403146"/>
            <a:ext cx="2164556" cy="2143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57200" y="2403146"/>
            <a:ext cx="2164556" cy="585788"/>
          </a:xfrm>
          <a:prstGeom prst="rect">
            <a:avLst/>
          </a:prstGeom>
          <a:noFill/>
          <a:ln/>
        </p:spPr>
        <p:txBody>
          <a:bodyPr wrap="square" lIns="153035" tIns="0" rIns="153035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Apps de fitness ignoram emergência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50344" y="2403146"/>
            <a:ext cx="2164556" cy="585788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2750344" y="2403146"/>
            <a:ext cx="2164556" cy="21431"/>
          </a:xfrm>
          <a:prstGeom prst="rect">
            <a:avLst/>
          </a:prstGeom>
          <a:solidFill>
            <a:srgbClr val="2F30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2750344" y="2403146"/>
            <a:ext cx="2164556" cy="585788"/>
          </a:xfrm>
          <a:prstGeom prst="rect">
            <a:avLst/>
          </a:prstGeom>
          <a:noFill/>
          <a:ln/>
        </p:spPr>
        <p:txBody>
          <a:bodyPr wrap="square" lIns="153035" tIns="0" rIns="153035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Botões SOS ignoram contexto desportivo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260396"/>
            <a:ext cx="4457700" cy="614363"/>
          </a:xfrm>
          <a:prstGeom prst="rect">
            <a:avLst/>
          </a:prstGeom>
          <a:solidFill>
            <a:srgbClr val="25171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457200" y="3260396"/>
            <a:ext cx="4457700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457200" y="3260396"/>
            <a:ext cx="4457700" cy="614363"/>
          </a:xfrm>
          <a:prstGeom prst="rect">
            <a:avLst/>
          </a:prstGeom>
          <a:noFill/>
          <a:ln/>
        </p:spPr>
        <p:txBody>
          <a:bodyPr wrap="square" lIns="204089" tIns="0" rIns="204089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VitalRoute = fitness tracker + sistema automático de emergência numa única app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29238" y="1028700"/>
            <a:ext cx="3357563" cy="3000375"/>
          </a:xfrm>
          <a:prstGeom prst="rect">
            <a:avLst/>
          </a:prstGeom>
          <a:solidFill>
            <a:srgbClr val="101015"/>
          </a:solidFill>
          <a:ln w="9144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283263" y="1369479"/>
            <a:ext cx="144948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PLACEHOLDER VISUAL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865019" y="3341154"/>
            <a:ext cx="228600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[INSERIR IMAGEM: ciclista sozinho, acidente ou split conceptual]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457200" y="4572000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457200" y="47970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368903" y="4797028"/>
            <a:ext cx="3178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750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25A2E379-E56B-6A32-C337-99FB9B706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238" y="1028700"/>
            <a:ext cx="3427900" cy="30063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214915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Como a Marta usa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835745" y="573286"/>
            <a:ext cx="85105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JOURNEY MAP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57200" y="957263"/>
            <a:ext cx="2357438" cy="3043238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957263"/>
            <a:ext cx="2357438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642938" y="1171575"/>
            <a:ext cx="685800" cy="685800"/>
          </a:xfrm>
          <a:prstGeom prst="rect">
            <a:avLst/>
          </a:prstGeom>
          <a:solidFill>
            <a:srgbClr val="241A15"/>
          </a:solidFill>
          <a:ln w="18288">
            <a:solidFill>
              <a:srgbClr val="FF6B3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42938" y="1171575"/>
            <a:ext cx="6858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2938" y="2028825"/>
            <a:ext cx="198596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kern="0" spc="-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Marta, 34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2938" y="2359223"/>
            <a:ext cx="1985963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Ciclista de fim-de-semana. Sai sozinha duas vezes por semana e quer segurança sem interromper o treino.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2938" y="3319276"/>
            <a:ext cx="198596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Touchpoints: app, SMS, contactos do telemóvel, mapas OSM.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114675" y="957263"/>
            <a:ext cx="1771650" cy="1357313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3114675" y="957263"/>
            <a:ext cx="1771650" cy="2143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3257550" y="1114425"/>
            <a:ext cx="242888" cy="2428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3257550" y="1114425"/>
            <a:ext cx="242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571875" y="1151567"/>
            <a:ext cx="632222" cy="168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Abre app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57550" y="1485900"/>
            <a:ext cx="1500188" cy="462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meteorologia e camada de mapa para ciclismo.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14913" y="957263"/>
            <a:ext cx="1771650" cy="1357313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5014913" y="957263"/>
            <a:ext cx="1771650" cy="21431"/>
          </a:xfrm>
          <a:prstGeom prst="rect">
            <a:avLst/>
          </a:prstGeom>
          <a:solidFill>
            <a:srgbClr val="2F30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5157788" y="1161557"/>
            <a:ext cx="207364" cy="2428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5157788" y="1161557"/>
            <a:ext cx="20736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436589" y="1114425"/>
            <a:ext cx="1221386" cy="337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Confirma segurança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57788" y="1580164"/>
            <a:ext cx="150018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Revê contactos de confiança antes de sair.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15150" y="957263"/>
            <a:ext cx="1771650" cy="1357313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6915150" y="957263"/>
            <a:ext cx="1771650" cy="2143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7058025" y="1114425"/>
            <a:ext cx="242888" cy="2428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7058025" y="1114425"/>
            <a:ext cx="242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372350" y="1151567"/>
            <a:ext cx="1057275" cy="168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Inicia gravação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58025" y="1485900"/>
            <a:ext cx="1500188" cy="462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Começa percurso, cronómetro e métricas em tempo real.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114675" y="2443163"/>
            <a:ext cx="1771650" cy="1357313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3114675" y="2443163"/>
            <a:ext cx="1771650" cy="21431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3257550" y="2600325"/>
            <a:ext cx="242888" cy="2428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3257550" y="2600325"/>
            <a:ext cx="242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571875" y="2637467"/>
            <a:ext cx="1107281" cy="168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Queda detetada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257550" y="2971800"/>
            <a:ext cx="1500188" cy="462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sensibilidade configurada identifica impacto provável.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014913" y="2443163"/>
            <a:ext cx="1771650" cy="1357313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5014913" y="2443163"/>
            <a:ext cx="1771650" cy="21431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5157788" y="2600325"/>
            <a:ext cx="242888" cy="2428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5157788" y="2600325"/>
            <a:ext cx="242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472113" y="2637467"/>
            <a:ext cx="896541" cy="168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SOS aparece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157788" y="2971800"/>
            <a:ext cx="150018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Slider dá 10 segundos para cancelar falso positivo.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915150" y="2443163"/>
            <a:ext cx="1771650" cy="1357313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6915150" y="2443163"/>
            <a:ext cx="1771650" cy="2143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41"/>
          <p:cNvSpPr/>
          <p:nvPr/>
        </p:nvSpPr>
        <p:spPr>
          <a:xfrm>
            <a:off x="7058025" y="2600325"/>
            <a:ext cx="242888" cy="2428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7058025" y="2600325"/>
            <a:ext cx="242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2350" y="2637467"/>
            <a:ext cx="1137642" cy="168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SMS automático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058025" y="2971800"/>
            <a:ext cx="150018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 recebem alerta com localização GPS.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457200" y="4572000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7"/>
          <p:cNvSpPr/>
          <p:nvPr/>
        </p:nvSpPr>
        <p:spPr>
          <a:xfrm>
            <a:off x="457200" y="47970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8367117" y="4797028"/>
            <a:ext cx="3196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750" dirty="0"/>
          </a:p>
        </p:txBody>
      </p:sp>
      <p:pic>
        <p:nvPicPr>
          <p:cNvPr id="53" name="Imagem 52">
            <a:extLst>
              <a:ext uri="{FF2B5EF4-FFF2-40B4-BE49-F238E27FC236}">
                <a16:creationId xmlns:a16="http://schemas.microsoft.com/office/drawing/2014/main" id="{1F595C2F-208F-5491-05E6-D9734F674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7" y="1197248"/>
            <a:ext cx="655201" cy="660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300938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Cinco ecrãs, uma jornada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896467" y="573286"/>
            <a:ext cx="79033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TOUR DA APP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57200" y="928688"/>
            <a:ext cx="6215063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100" dirty="0">
                <a:solidFill>
                  <a:srgbClr val="D4D4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aplicação organiza o fluxo de utilização em cinco áreas principais, mantendo navegação inferior consistente e ações críticas sempre acessíveis.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54" y="1510457"/>
            <a:ext cx="1257300" cy="2357438"/>
          </a:xfrm>
          <a:prstGeom prst="rect">
            <a:avLst/>
          </a:prstGeom>
          <a:solidFill>
            <a:srgbClr val="131318"/>
          </a:solidFill>
          <a:ln w="18288">
            <a:solidFill>
              <a:srgbClr val="2A2A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708654" y="1767632"/>
            <a:ext cx="1028700" cy="1678781"/>
          </a:xfrm>
          <a:prstGeom prst="rect">
            <a:avLst/>
          </a:prstGeom>
          <a:solidFill>
            <a:srgbClr val="101015"/>
          </a:solidFill>
          <a:ln w="9144">
            <a:solidFill>
              <a:srgbClr val="5B5E6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054261" y="2357884"/>
            <a:ext cx="33748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INÍCIO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708654" y="3539282"/>
            <a:ext cx="1028700" cy="214313"/>
          </a:xfrm>
          <a:prstGeom prst="rect">
            <a:avLst/>
          </a:prstGeom>
          <a:solidFill>
            <a:srgbClr val="2016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708654" y="3539282"/>
            <a:ext cx="1028700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87198" y="3982194"/>
            <a:ext cx="1471613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Início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7198" y="4180768"/>
            <a:ext cx="1471613" cy="23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6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semanal e estado dos sensores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268838" y="1510457"/>
            <a:ext cx="1257300" cy="2357438"/>
          </a:xfrm>
          <a:prstGeom prst="rect">
            <a:avLst/>
          </a:prstGeom>
          <a:solidFill>
            <a:srgbClr val="131318"/>
          </a:solidFill>
          <a:ln w="18288">
            <a:solidFill>
              <a:srgbClr val="2A2A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2383138" y="1767632"/>
            <a:ext cx="1028700" cy="1678781"/>
          </a:xfrm>
          <a:prstGeom prst="rect">
            <a:avLst/>
          </a:prstGeom>
          <a:solidFill>
            <a:srgbClr val="101015"/>
          </a:solidFill>
          <a:ln w="9144">
            <a:solidFill>
              <a:srgbClr val="5B5E6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2708346" y="2357884"/>
            <a:ext cx="37828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MAPAS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2383138" y="3539282"/>
            <a:ext cx="1028700" cy="214313"/>
          </a:xfrm>
          <a:prstGeom prst="rect">
            <a:avLst/>
          </a:prstGeom>
          <a:solidFill>
            <a:srgbClr val="2016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2383138" y="3539282"/>
            <a:ext cx="1028700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161682" y="3982194"/>
            <a:ext cx="1471613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Mapas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61682" y="4180768"/>
            <a:ext cx="1471613" cy="23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6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OSM, CyclOSM e meteorologia em tempo real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943322" y="1510457"/>
            <a:ext cx="1257300" cy="2357438"/>
          </a:xfrm>
          <a:prstGeom prst="rect">
            <a:avLst/>
          </a:prstGeom>
          <a:solidFill>
            <a:srgbClr val="131318"/>
          </a:solidFill>
          <a:ln w="18288">
            <a:solidFill>
              <a:srgbClr val="2A2A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4057622" y="1767632"/>
            <a:ext cx="1028700" cy="1678781"/>
          </a:xfrm>
          <a:prstGeom prst="rect">
            <a:avLst/>
          </a:prstGeom>
          <a:solidFill>
            <a:srgbClr val="101015"/>
          </a:solidFill>
          <a:ln w="9144">
            <a:solidFill>
              <a:srgbClr val="5B5E6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4369157" y="2357884"/>
            <a:ext cx="40563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INICIAR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4057622" y="3539282"/>
            <a:ext cx="1028700" cy="214313"/>
          </a:xfrm>
          <a:prstGeom prst="rect">
            <a:avLst/>
          </a:prstGeom>
          <a:solidFill>
            <a:srgbClr val="2016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4057622" y="3539282"/>
            <a:ext cx="1028700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4345148" y="3982194"/>
            <a:ext cx="453650" cy="121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b="1" dirty="0" err="1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</a:rPr>
              <a:t>Gravação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836166" y="4180768"/>
            <a:ext cx="1471613" cy="23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6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Cronómetro, métricas e slider SOS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5617834" y="1510457"/>
            <a:ext cx="1257300" cy="2357438"/>
          </a:xfrm>
          <a:prstGeom prst="rect">
            <a:avLst/>
          </a:prstGeom>
          <a:solidFill>
            <a:srgbClr val="131318"/>
          </a:solidFill>
          <a:ln w="18288">
            <a:solidFill>
              <a:srgbClr val="2A2A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5732134" y="1767632"/>
            <a:ext cx="1028700" cy="1678781"/>
          </a:xfrm>
          <a:prstGeom prst="rect">
            <a:avLst/>
          </a:prstGeom>
          <a:solidFill>
            <a:srgbClr val="101015"/>
          </a:solidFill>
          <a:ln w="9144">
            <a:solidFill>
              <a:srgbClr val="5B5E6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5914774" y="2357884"/>
            <a:ext cx="66339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SEGURANÇA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5732134" y="3539282"/>
            <a:ext cx="1028700" cy="214313"/>
          </a:xfrm>
          <a:prstGeom prst="rect">
            <a:avLst/>
          </a:prstGeom>
          <a:solidFill>
            <a:srgbClr val="2016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5732134" y="3539282"/>
            <a:ext cx="1028700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5510678" y="3982194"/>
            <a:ext cx="1471613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Segurança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510678" y="4180768"/>
            <a:ext cx="1471613" cy="23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6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Contactos, sensibilidade e zonas seguras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7292318" y="1510457"/>
            <a:ext cx="1257300" cy="2357438"/>
          </a:xfrm>
          <a:prstGeom prst="rect">
            <a:avLst/>
          </a:prstGeom>
          <a:solidFill>
            <a:srgbClr val="131318"/>
          </a:solidFill>
          <a:ln w="18288">
            <a:solidFill>
              <a:srgbClr val="2A2A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7406618" y="1767632"/>
            <a:ext cx="1028700" cy="1678781"/>
          </a:xfrm>
          <a:prstGeom prst="rect">
            <a:avLst/>
          </a:prstGeom>
          <a:solidFill>
            <a:srgbClr val="101015"/>
          </a:solidFill>
          <a:ln w="9144">
            <a:solidFill>
              <a:srgbClr val="5B5E6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7736151" y="2357884"/>
            <a:ext cx="36963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DIÁRIO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7406618" y="3539282"/>
            <a:ext cx="1028700" cy="214313"/>
          </a:xfrm>
          <a:prstGeom prst="rect">
            <a:avLst/>
          </a:prstGeom>
          <a:solidFill>
            <a:srgbClr val="2016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7406618" y="3539282"/>
            <a:ext cx="1028700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7793529" y="3982194"/>
            <a:ext cx="254878" cy="121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b="1" dirty="0" err="1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Perfil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185161" y="4180768"/>
            <a:ext cx="1471613" cy="23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6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Histórico, recordes e resumo mensal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39"/>
          <p:cNvSpPr/>
          <p:nvPr/>
        </p:nvSpPr>
        <p:spPr>
          <a:xfrm>
            <a:off x="457200" y="4572000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457200" y="47970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8365331" y="4797028"/>
            <a:ext cx="3214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750" dirty="0"/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608CC0EE-7425-9D37-BEBB-8C5E20495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26" y="1510429"/>
            <a:ext cx="1257300" cy="2357466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10CF1012-435A-DBFC-04B8-11A602F17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810" y="1510457"/>
            <a:ext cx="1278332" cy="2357438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57EA626A-0F8A-0DE4-263E-085C52D0C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768" y="1515055"/>
            <a:ext cx="1284005" cy="2352840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372C1A5F-48FA-CFC5-C085-ABC0B7D1D3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5098" y="1512177"/>
            <a:ext cx="1255502" cy="2355718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F19948AD-B66C-897C-91C3-E51ABB52F7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3196" y="1515055"/>
            <a:ext cx="1255502" cy="2352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161021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MVVM + UDF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426905" y="573286"/>
            <a:ext cx="125989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GERAL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57200" y="885825"/>
            <a:ext cx="6072188" cy="414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arquitetura separa interface, estado e dados para reduzir acoplamento e tornar o comportamento da app previsível.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515033"/>
            <a:ext cx="2400300" cy="200025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457200" y="1515033"/>
            <a:ext cx="2400300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71500" y="1629333"/>
            <a:ext cx="217170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CAMADA 1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71500" y="1813285"/>
            <a:ext cx="2171700" cy="2121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350" b="1" kern="0" spc="-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Layer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1500" y="2111173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 Screens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" y="2322612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Home, Maps, Recording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71500" y="2534050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Diary, Auth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2745488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Renderiza estado observado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857500" y="1515033"/>
            <a:ext cx="514350" cy="2000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371850" y="1515033"/>
            <a:ext cx="2400300" cy="200025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3371850" y="1515033"/>
            <a:ext cx="2400300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3486150" y="1629333"/>
            <a:ext cx="217170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CAMADA 2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486150" y="1813285"/>
            <a:ext cx="2171700" cy="2121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350" b="1" kern="0" spc="-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 Holders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486150" y="2111173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ViewModels por funcionalidade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86150" y="2329755"/>
            <a:ext cx="4661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Expõem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952280" y="2342257"/>
            <a:ext cx="1151762" cy="142875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952280" y="2342257"/>
            <a:ext cx="1151762" cy="142875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StateFlow&lt;UiState&gt;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486150" y="2546914"/>
            <a:ext cx="3732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usa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859411" y="2559416"/>
            <a:ext cx="1691925" cy="142875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859411" y="2559416"/>
            <a:ext cx="1691925" cy="142875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collectAsStateWithLifecycle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486150" y="2756929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 eventos da interface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772150" y="1515033"/>
            <a:ext cx="514350" cy="2000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286500" y="1515033"/>
            <a:ext cx="2400300" cy="200025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6286500" y="1515033"/>
            <a:ext cx="2400300" cy="28575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6400800" y="1629333"/>
            <a:ext cx="217170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CAMADA 3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6400800" y="1813285"/>
            <a:ext cx="2171700" cy="2121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350" b="1" kern="0" spc="-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400800" y="2111173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FirestoreRepository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400800" y="2322612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WeatherRepository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400800" y="2534050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NominatimRepository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400800" y="2745488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SosManager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57200" y="3658158"/>
            <a:ext cx="8229600" cy="571500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457200" y="3658158"/>
            <a:ext cx="8229600" cy="21431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600075" y="3799247"/>
            <a:ext cx="39004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State flows down ↓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00075" y="3986771"/>
            <a:ext cx="39004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Os ViewModels publicam estado imutável para os composables.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643438" y="3799247"/>
            <a:ext cx="39004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Events flow up ↑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643438" y="3986771"/>
            <a:ext cx="39004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UI comunica intenções; a lógica permanece fora dos ecrãs.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7200" y="4315383"/>
            <a:ext cx="82296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alinhado com a Android Architecture Guide: separação de responsabilidades, estado observável e ciclo de vida explícito.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457200" y="4436827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41"/>
          <p:cNvSpPr/>
          <p:nvPr/>
        </p:nvSpPr>
        <p:spPr>
          <a:xfrm>
            <a:off x="457200" y="4436827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457200" y="4661855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8370689" y="4661855"/>
            <a:ext cx="3161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2215232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Compose e estado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705455" y="573286"/>
            <a:ext cx="98134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DECLARATIVA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57200" y="828675"/>
            <a:ext cx="4643438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interface é construída como função do estado, reduzindo acoplamento entre ecrãs, eventos e dados.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7851"/>
            <a:ext cx="2428875" cy="5715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457200" y="1377851"/>
            <a:ext cx="2428875" cy="21431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85788" y="1477863"/>
            <a:ext cx="217170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TOOLKIT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85788" y="1647527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Jetpack Compose + Material 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57513" y="1377851"/>
            <a:ext cx="2428875" cy="5715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957513" y="1377851"/>
            <a:ext cx="2428875" cy="2143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3086100" y="1477863"/>
            <a:ext cx="217170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COMPOSIÇÃO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086100" y="1647527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Stateless + state hoisting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020788"/>
            <a:ext cx="2428875" cy="5715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57200" y="2020788"/>
            <a:ext cx="2428875" cy="2143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585788" y="2120801"/>
            <a:ext cx="217170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585788" y="2290465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ViewModel expõe StateFlow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57513" y="2020788"/>
            <a:ext cx="2428875" cy="57150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57513" y="2020788"/>
            <a:ext cx="2428875" cy="21431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86100" y="2120801"/>
            <a:ext cx="217170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TEMA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086100" y="2290465"/>
            <a:ext cx="21717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Dark theme em Theme.kt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2735163"/>
            <a:ext cx="492918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SNIPPET KOTLIN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457200" y="2904827"/>
            <a:ext cx="4643438" cy="714375"/>
          </a:xfrm>
          <a:prstGeom prst="rect">
            <a:avLst/>
          </a:prstGeom>
          <a:solidFill>
            <a:srgbClr val="121217"/>
          </a:solidFill>
          <a:ln w="9144">
            <a:solidFill>
              <a:srgbClr val="30303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457200" y="2904827"/>
            <a:ext cx="4643438" cy="714375"/>
          </a:xfrm>
          <a:prstGeom prst="rect">
            <a:avLst/>
          </a:prstGeom>
          <a:noFill/>
          <a:ln/>
        </p:spPr>
        <p:txBody>
          <a:bodyPr wrap="square" lIns="153035" tIns="102108" rIns="119126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6B3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@Composable</a:t>
            </a:r>
            <a:r>
              <a:rPr lang="en-US" sz="850" dirty="0">
                <a:solidFill>
                  <a:srgbClr val="E5E7EB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
</a:t>
            </a:r>
            <a:r>
              <a:rPr lang="en-US" sz="800" b="1" dirty="0">
                <a:solidFill>
                  <a:srgbClr val="FF6B3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fun</a:t>
            </a:r>
            <a:r>
              <a:rPr lang="en-US" sz="850" dirty="0">
                <a:solidFill>
                  <a:srgbClr val="E5E7EB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r>
              <a:rPr lang="en-US" sz="800" b="1" dirty="0">
                <a:solidFill>
                  <a:srgbClr val="4ADE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HomeScreen</a:t>
            </a:r>
            <a:r>
              <a:rPr lang="en-US" sz="850" dirty="0">
                <a:solidFill>
                  <a:srgbClr val="E5E7EB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(vm: </a:t>
            </a:r>
            <a:r>
              <a:rPr lang="en-US" sz="800" b="1" dirty="0">
                <a:solidFill>
                  <a:srgbClr val="3B82F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HomeViewModel</a:t>
            </a:r>
            <a:r>
              <a:rPr lang="en-US" sz="850" dirty="0">
                <a:solidFill>
                  <a:srgbClr val="E5E7EB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= viewModel()) {
    val state by vm.uiState.collectAsStateWithLifecycle()
    HomeContent(state, onSosClick = vm::triggerSos)
}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57200" y="4257675"/>
            <a:ext cx="8229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457200" y="4257675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457200" y="44541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8367117" y="4454128"/>
            <a:ext cx="3196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750" dirty="0"/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42AC6346-DFD2-C270-4B13-178C7342A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119" y="806478"/>
            <a:ext cx="3200401" cy="2967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2495401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Dados em tempo real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498342" y="573286"/>
            <a:ext cx="118845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FIRESTORE REATIVO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57200" y="942975"/>
            <a:ext cx="3643313" cy="2986088"/>
          </a:xfrm>
          <a:prstGeom prst="rect">
            <a:avLst/>
          </a:prstGeom>
          <a:solidFill>
            <a:srgbClr val="1414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942975"/>
            <a:ext cx="3643313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57225" y="1143000"/>
            <a:ext cx="32718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MODELO POR UTILIZADOR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57225" y="1428750"/>
            <a:ext cx="3271838" cy="185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96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users/{uid}/</a:t>
            </a: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├─ </a:t>
            </a:r>
            <a:r>
              <a:rPr lang="en-US" sz="105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raiz</a:t>
            </a: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</a:t>
            </a:r>
            <a:r>
              <a:rPr lang="en-US" sz="10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name, email</a:t>
            </a: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├─ </a:t>
            </a:r>
            <a:r>
              <a:rPr lang="en-US" sz="10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activities/</a:t>
            </a: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r>
              <a:rPr lang="en-US" sz="10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distância, duração, velocidade</a:t>
            </a: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├─ </a:t>
            </a:r>
            <a:r>
              <a:rPr lang="en-US" sz="10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contacts/</a:t>
            </a: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r>
              <a:rPr lang="en-US" sz="10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nome, telefone, sosEnabled</a:t>
            </a: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└─ </a:t>
            </a:r>
            <a:r>
              <a:rPr lang="en-US" sz="10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settings/main</a:t>
            </a: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0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fallSensitivity, alertas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29125" y="942975"/>
            <a:ext cx="4071938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Firestore mantém os dados sincronizados e expõe alterações como fluxos consumidos pela UI.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29125" y="2143125"/>
            <a:ext cx="2064544" cy="828675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429125" y="2143125"/>
            <a:ext cx="2064544" cy="2143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4572000" y="2271713"/>
            <a:ext cx="180736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Listeners → Flow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2509940"/>
            <a:ext cx="7715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callbackFlow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43525" y="2520655"/>
            <a:ext cx="9376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 listeners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0" y="2667102"/>
            <a:ext cx="6661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 em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38155" y="2656387"/>
            <a:ext cx="4500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Flow&lt;T&gt;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688211" y="2667102"/>
            <a:ext cx="34468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Kotlin.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622256" y="2143125"/>
            <a:ext cx="2064544" cy="828675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622256" y="2143125"/>
            <a:ext cx="2064544" cy="2143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6765131" y="2271713"/>
            <a:ext cx="180736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UI reativa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65131" y="2511726"/>
            <a:ext cx="180736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ecrãs atualizam quando outro dispositivo escreve dados.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429125" y="3100388"/>
            <a:ext cx="2064544" cy="828675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4429125" y="3100388"/>
            <a:ext cx="2064544" cy="21431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4572000" y="3228975"/>
            <a:ext cx="180736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Segurança por UID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0" y="3468988"/>
            <a:ext cx="180736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utilizador lê e escreve apenas os seus documentos.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622256" y="3100388"/>
            <a:ext cx="2064544" cy="828675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6622256" y="3100388"/>
            <a:ext cx="2064544" cy="21431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6765131" y="3228975"/>
            <a:ext cx="180736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Firebase Auth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765131" y="3476132"/>
            <a:ext cx="10608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Email/password com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765131" y="3611863"/>
            <a:ext cx="10929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AuthStateListener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858125" y="3622579"/>
            <a:ext cx="6500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sessão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765131" y="3767240"/>
            <a:ext cx="2750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ativa.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3943350"/>
            <a:ext cx="8229600" cy="585788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1"/>
          <p:cNvSpPr/>
          <p:nvPr/>
        </p:nvSpPr>
        <p:spPr>
          <a:xfrm>
            <a:off x="457200" y="3943350"/>
            <a:ext cx="8229600" cy="21431"/>
          </a:xfrm>
          <a:prstGeom prst="rect">
            <a:avLst/>
          </a:prstGeom>
          <a:solidFill>
            <a:srgbClr val="FF906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1185863" y="4141589"/>
            <a:ext cx="15430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6B35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Firestore Listener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986088" y="4138910"/>
            <a:ext cx="85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6B35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328988" y="4141589"/>
            <a:ext cx="10287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6B35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callbackFlow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614863" y="4138910"/>
            <a:ext cx="85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6B35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957763" y="4141589"/>
            <a:ext cx="15430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6B35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StateFlow&lt;UiState&gt;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757988" y="4138910"/>
            <a:ext cx="85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6B35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100888" y="4141589"/>
            <a:ext cx="8572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6B35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Compose UI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57200" y="4529138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457200" y="4529138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457200" y="4754166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8374261" y="4754166"/>
            <a:ext cx="3125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219014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Navigation + REST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534647" y="573286"/>
            <a:ext cx="115215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NAVEGAÇÃO E APIS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57200" y="957263"/>
            <a:ext cx="3964781" cy="2728913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pPr algn="ctr"/>
            <a:endParaRPr lang="es-ES" u="sng" dirty="0"/>
          </a:p>
        </p:txBody>
      </p:sp>
      <p:sp>
        <p:nvSpPr>
          <p:cNvPr id="6" name="Shape 3"/>
          <p:cNvSpPr/>
          <p:nvPr/>
        </p:nvSpPr>
        <p:spPr>
          <a:xfrm>
            <a:off x="457200" y="957263"/>
            <a:ext cx="3964781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57225" y="1143000"/>
            <a:ext cx="35647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Navegação interna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2938" y="1525192"/>
            <a:ext cx="1732359" cy="414338"/>
          </a:xfrm>
          <a:prstGeom prst="rect">
            <a:avLst/>
          </a:prstGeom>
          <a:solidFill>
            <a:srgbClr val="1B1B23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9" name="Shape 6"/>
          <p:cNvSpPr/>
          <p:nvPr/>
        </p:nvSpPr>
        <p:spPr>
          <a:xfrm>
            <a:off x="657225" y="1489472"/>
            <a:ext cx="1732359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57225" y="1520934"/>
            <a:ext cx="718523" cy="130805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</a:rPr>
              <a:t>Home</a:t>
            </a:r>
          </a:p>
        </p:txBody>
      </p:sp>
      <p:sp>
        <p:nvSpPr>
          <p:cNvPr id="11" name="Shape 8"/>
          <p:cNvSpPr/>
          <p:nvPr/>
        </p:nvSpPr>
        <p:spPr>
          <a:xfrm>
            <a:off x="2489597" y="1489472"/>
            <a:ext cx="1732359" cy="414338"/>
          </a:xfrm>
          <a:prstGeom prst="rect">
            <a:avLst/>
          </a:prstGeom>
          <a:solidFill>
            <a:srgbClr val="1B1B23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2" name="Shape 9"/>
          <p:cNvSpPr/>
          <p:nvPr/>
        </p:nvSpPr>
        <p:spPr>
          <a:xfrm>
            <a:off x="2489597" y="1489472"/>
            <a:ext cx="1732359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3" name="Text 10"/>
          <p:cNvSpPr/>
          <p:nvPr/>
        </p:nvSpPr>
        <p:spPr>
          <a:xfrm>
            <a:off x="1781165" y="1508734"/>
            <a:ext cx="1732359" cy="130805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</a:rPr>
              <a:t>Maps</a:t>
            </a:r>
          </a:p>
        </p:txBody>
      </p:sp>
      <p:sp>
        <p:nvSpPr>
          <p:cNvPr id="14" name="Shape 11"/>
          <p:cNvSpPr/>
          <p:nvPr/>
        </p:nvSpPr>
        <p:spPr>
          <a:xfrm>
            <a:off x="657225" y="2003822"/>
            <a:ext cx="1732359" cy="414338"/>
          </a:xfrm>
          <a:prstGeom prst="rect">
            <a:avLst/>
          </a:prstGeom>
          <a:solidFill>
            <a:srgbClr val="1B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657225" y="2003822"/>
            <a:ext cx="1732359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57225" y="2003822"/>
            <a:ext cx="1732359" cy="414338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489597" y="2003822"/>
            <a:ext cx="1732359" cy="414338"/>
          </a:xfrm>
          <a:prstGeom prst="rect">
            <a:avLst/>
          </a:prstGeom>
          <a:solidFill>
            <a:srgbClr val="1B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489597" y="2003822"/>
            <a:ext cx="1732359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489597" y="2003822"/>
            <a:ext cx="1732359" cy="414338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7225" y="2518172"/>
            <a:ext cx="1732359" cy="414338"/>
          </a:xfrm>
          <a:prstGeom prst="rect">
            <a:avLst/>
          </a:prstGeom>
          <a:solidFill>
            <a:srgbClr val="1B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57225" y="2518172"/>
            <a:ext cx="1732359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57225" y="2518172"/>
            <a:ext cx="1732359" cy="414338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Diary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489597" y="2518172"/>
            <a:ext cx="1732359" cy="414338"/>
          </a:xfrm>
          <a:prstGeom prst="rect">
            <a:avLst/>
          </a:prstGeom>
          <a:solidFill>
            <a:srgbClr val="1B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2489597" y="2518172"/>
            <a:ext cx="1732359" cy="14288"/>
          </a:xfrm>
          <a:prstGeom prst="rect">
            <a:avLst/>
          </a:prstGeom>
          <a:solidFill>
            <a:srgbClr val="2F30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2489597" y="2518172"/>
            <a:ext cx="1732359" cy="414338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5E7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57225" y="3089672"/>
            <a:ext cx="3564731" cy="514350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657225" y="3089672"/>
            <a:ext cx="3564731" cy="14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785813" y="3286125"/>
            <a:ext cx="5412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DETALHE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841427" y="3278088"/>
            <a:ext cx="12519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 · ActivityDetail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57225" y="3761184"/>
            <a:ext cx="3564731" cy="514350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657225" y="3761184"/>
            <a:ext cx="3564731" cy="14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785813" y="3957638"/>
            <a:ext cx="5639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 UI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746647" y="3949601"/>
            <a:ext cx="234672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bar escondida em ecrãs detalhados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722019" y="957263"/>
            <a:ext cx="3964781" cy="2728913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35" name="Shape 32"/>
          <p:cNvSpPr/>
          <p:nvPr/>
        </p:nvSpPr>
        <p:spPr>
          <a:xfrm>
            <a:off x="4722019" y="957263"/>
            <a:ext cx="3964781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4922044" y="1143000"/>
            <a:ext cx="35647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APIs externas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922044" y="1489472"/>
            <a:ext cx="1028700" cy="289322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SERVIÇO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5950744" y="1489472"/>
            <a:ext cx="2536031" cy="289322"/>
          </a:xfrm>
          <a:prstGeom prst="rect">
            <a:avLst/>
          </a:prstGeom>
          <a:noFill/>
          <a:ln/>
        </p:spPr>
        <p:txBody>
          <a:bodyPr wrap="square" lIns="8509" tIns="8509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USO NA APP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4929188" y="1948542"/>
            <a:ext cx="7108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Open-Meteo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950744" y="1778794"/>
            <a:ext cx="2536031" cy="478631"/>
          </a:xfrm>
          <a:prstGeom prst="rect">
            <a:avLst/>
          </a:prstGeom>
          <a:noFill/>
          <a:ln/>
        </p:spPr>
        <p:txBody>
          <a:bodyPr wrap="square" lIns="8509" tIns="8509" rIns="8509" bIns="8509" rtlCol="0" anchor="ctr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Temperatura, humidade e vento sem API key.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929188" y="2427173"/>
            <a:ext cx="6179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Nominatim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950744" y="2257425"/>
            <a:ext cx="2536031" cy="478631"/>
          </a:xfrm>
          <a:prstGeom prst="rect">
            <a:avLst/>
          </a:prstGeom>
          <a:noFill/>
          <a:ln/>
        </p:spPr>
        <p:txBody>
          <a:bodyPr wrap="square" lIns="8509" tIns="8509" rIns="8509" bIns="8509" rtlCol="0" anchor="ctr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Geocoding reverso baseado em OpenStreetMap.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929188" y="2905804"/>
            <a:ext cx="5464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Overpass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950744" y="2736056"/>
            <a:ext cx="2536031" cy="478631"/>
          </a:xfrm>
          <a:prstGeom prst="rect">
            <a:avLst/>
          </a:prstGeom>
          <a:noFill/>
          <a:ln/>
        </p:spPr>
        <p:txBody>
          <a:bodyPr wrap="square" lIns="8509" tIns="8509" rIns="8509" bIns="8509" rtlCol="0" anchor="ctr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Pontos de interesse OSM para contexto no mapa.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57200" y="3914775"/>
            <a:ext cx="8229600" cy="628650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457200" y="3914775"/>
            <a:ext cx="8229600" cy="21431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/>
          <p:nvPr/>
        </p:nvSpPr>
        <p:spPr>
          <a:xfrm>
            <a:off x="642938" y="4168378"/>
            <a:ext cx="16716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STACK ASSÍNCRONA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2314575" y="4055529"/>
            <a:ext cx="637222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Retrofit + Gson · suspend functions · viewModelScope</a:t>
            </a:r>
            <a:r>
              <a:rPr lang="en-US" sz="9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Chamadas REST sem bloqueios no main thread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7"/>
          <p:cNvSpPr/>
          <p:nvPr/>
        </p:nvSpPr>
        <p:spPr>
          <a:xfrm>
            <a:off x="457200" y="4572000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8"/>
          <p:cNvSpPr/>
          <p:nvPr/>
        </p:nvSpPr>
        <p:spPr>
          <a:xfrm>
            <a:off x="457200" y="47970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8367117" y="4797028"/>
            <a:ext cx="3196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275972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Mapas OpenStreetMap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298959" y="573286"/>
            <a:ext cx="138784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LOCALIZAÇÃO E MAPAS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57200" y="928688"/>
            <a:ext cx="2250281" cy="2800350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928688"/>
            <a:ext cx="2250281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14363" y="1100138"/>
            <a:ext cx="1935956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Localização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4363" y="1445884"/>
            <a:ext cx="1935956" cy="442913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614363" y="1445884"/>
            <a:ext cx="1935956" cy="14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14375" y="1524465"/>
            <a:ext cx="17502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PROVIDER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4375" y="1672698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FusedLocationProviderClient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14363" y="1974521"/>
            <a:ext cx="1935956" cy="442913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14363" y="1974521"/>
            <a:ext cx="1935956" cy="142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14375" y="2053103"/>
            <a:ext cx="17502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PERMISSÕES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714375" y="2201335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Fine + coarse location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14363" y="2503159"/>
            <a:ext cx="1935956" cy="442913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14363" y="2503159"/>
            <a:ext cx="1935956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714375" y="2581740"/>
            <a:ext cx="17502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UX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14375" y="2729973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Pedido em contexto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14363" y="3031796"/>
            <a:ext cx="1935956" cy="442913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14363" y="3031796"/>
            <a:ext cx="1935956" cy="14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14375" y="3110378"/>
            <a:ext cx="17502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OVERLAY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14375" y="3258610"/>
            <a:ext cx="17502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MyLocationOverlay mostra ponto azul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2907506" y="928688"/>
            <a:ext cx="2250281" cy="2800350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2907506" y="928688"/>
            <a:ext cx="2250281" cy="28575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3064669" y="1100138"/>
            <a:ext cx="1935956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Mapas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064669" y="1445884"/>
            <a:ext cx="1935956" cy="442913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3064669" y="1445884"/>
            <a:ext cx="1935956" cy="142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3164681" y="1524465"/>
            <a:ext cx="17502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BIBLIOTECA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3164681" y="1672698"/>
            <a:ext cx="17502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OSMDroid em vez de Google Maps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064669" y="1974521"/>
            <a:ext cx="1935956" cy="442913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3064669" y="1974521"/>
            <a:ext cx="1935956" cy="14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3164681" y="2053103"/>
            <a:ext cx="17502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BASE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164681" y="2201335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OpenStreetMap padrão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3064669" y="2503159"/>
            <a:ext cx="1935956" cy="442913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3064669" y="2503159"/>
            <a:ext cx="1935956" cy="142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3164681" y="2581740"/>
            <a:ext cx="17502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CAMADA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3164681" y="2729973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CyclOSM para ciclovias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064669" y="3031796"/>
            <a:ext cx="1935956" cy="442913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7"/>
          <p:cNvSpPr/>
          <p:nvPr/>
        </p:nvSpPr>
        <p:spPr>
          <a:xfrm>
            <a:off x="3064669" y="3031796"/>
            <a:ext cx="1935956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/>
          <p:nvPr/>
        </p:nvSpPr>
        <p:spPr>
          <a:xfrm>
            <a:off x="3164681" y="3110378"/>
            <a:ext cx="17502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A1A1A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OPERAÇÃO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3164681" y="3258610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API key · sem billing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357813" y="928688"/>
            <a:ext cx="3328988" cy="2800350"/>
          </a:xfrm>
          <a:prstGeom prst="rect">
            <a:avLst/>
          </a:prstGeom>
          <a:solidFill>
            <a:srgbClr val="101015"/>
          </a:solidFill>
          <a:ln w="9144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6155959" y="1100138"/>
            <a:ext cx="17326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PLACEHOLDER SCREENSHOT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6143625" y="1364456"/>
            <a:ext cx="1757363" cy="2185988"/>
          </a:xfrm>
          <a:prstGeom prst="rect">
            <a:avLst/>
          </a:prstGeom>
          <a:solidFill>
            <a:srgbClr val="111116"/>
          </a:solidFill>
          <a:ln w="18288">
            <a:solidFill>
              <a:srgbClr val="2F30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6293644" y="1621631"/>
            <a:ext cx="1457325" cy="1571625"/>
          </a:xfrm>
          <a:prstGeom prst="rect">
            <a:avLst/>
          </a:prstGeom>
          <a:solidFill>
            <a:srgbClr val="3B82F6">
              <a:alpha val="12000"/>
            </a:srgbClr>
          </a:solidFill>
          <a:ln w="9144">
            <a:solidFill>
              <a:srgbClr val="30303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4"/>
          <p:cNvSpPr/>
          <p:nvPr/>
        </p:nvSpPr>
        <p:spPr>
          <a:xfrm>
            <a:off x="7179469" y="1693069"/>
            <a:ext cx="500063" cy="171450"/>
          </a:xfrm>
          <a:prstGeom prst="rect">
            <a:avLst/>
          </a:prstGeom>
          <a:solidFill>
            <a:srgbClr val="132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7179469" y="1693069"/>
            <a:ext cx="500063" cy="142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6"/>
          <p:cNvSpPr/>
          <p:nvPr/>
        </p:nvSpPr>
        <p:spPr>
          <a:xfrm>
            <a:off x="7179469" y="1693069"/>
            <a:ext cx="500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CyclOSM</a:t>
            </a:r>
            <a:endParaRPr lang="en-US" sz="550" dirty="0"/>
          </a:p>
        </p:txBody>
      </p:sp>
      <p:sp>
        <p:nvSpPr>
          <p:cNvPr id="50" name="Shape 47"/>
          <p:cNvSpPr/>
          <p:nvPr/>
        </p:nvSpPr>
        <p:spPr>
          <a:xfrm>
            <a:off x="6293644" y="3293269"/>
            <a:ext cx="1457325" cy="214313"/>
          </a:xfrm>
          <a:prstGeom prst="rect">
            <a:avLst/>
          </a:prstGeom>
          <a:solidFill>
            <a:srgbClr val="24181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Shape 48"/>
          <p:cNvSpPr/>
          <p:nvPr/>
        </p:nvSpPr>
        <p:spPr>
          <a:xfrm>
            <a:off x="6293644" y="3293269"/>
            <a:ext cx="1457325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49"/>
          <p:cNvSpPr/>
          <p:nvPr/>
        </p:nvSpPr>
        <p:spPr>
          <a:xfrm>
            <a:off x="6293644" y="3293269"/>
            <a:ext cx="1457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MAPS SCREEN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5807869" y="3607594"/>
            <a:ext cx="2428875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457200" y="3943350"/>
            <a:ext cx="8229600" cy="614363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Shape 52"/>
          <p:cNvSpPr/>
          <p:nvPr/>
        </p:nvSpPr>
        <p:spPr>
          <a:xfrm>
            <a:off x="457200" y="3943350"/>
            <a:ext cx="8229600" cy="21431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642938" y="4189809"/>
            <a:ext cx="17073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FALLBACK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2350294" y="4082960"/>
            <a:ext cx="6336506" cy="33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850" b="1" dirty="0">
                <a:solidFill>
                  <a:srgbClr val="3B82F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Sem permissão:</a:t>
            </a:r>
            <a:r>
              <a:rPr lang="en-US" sz="850" b="1" dirty="0">
                <a:solidFill>
                  <a:srgbClr val="4ADE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centro inicial em Aveiro · Open-source · custo previsível · independência de billing externo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Shape 56"/>
          <p:cNvSpPr/>
          <p:nvPr/>
        </p:nvSpPr>
        <p:spPr>
          <a:xfrm>
            <a:off x="457200" y="4572000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7"/>
          <p:cNvSpPr/>
          <p:nvPr/>
        </p:nvSpPr>
        <p:spPr>
          <a:xfrm>
            <a:off x="457200" y="47970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8367117" y="4797028"/>
            <a:ext cx="3196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750" dirty="0"/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EFDF2E75-84E2-68AC-9838-9A9D6E3DF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78" y="931170"/>
            <a:ext cx="1890720" cy="28064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2957736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Tracking em background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982932" y="573286"/>
            <a:ext cx="170386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GRAVAÇÃO EM BACKGROUND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57200" y="928688"/>
            <a:ext cx="6286500" cy="447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gravação fiável de percursos exige uma tarefa visível ao sistema quando a app deixa de estar em primeiro plano.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504345"/>
            <a:ext cx="3714750" cy="2000250"/>
          </a:xfrm>
          <a:prstGeom prst="rect">
            <a:avLst/>
          </a:prstGeom>
          <a:solidFill>
            <a:srgbClr val="1414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457200" y="1504345"/>
            <a:ext cx="37147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00075" y="1647220"/>
            <a:ext cx="34432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DECISION PATH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00075" y="1868677"/>
            <a:ext cx="3443288" cy="114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16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Sobrevive a app em background?
 ├─ </a:t>
            </a:r>
            <a:r>
              <a:rPr lang="en-US" sz="1050" b="1" dirty="0">
                <a:solidFill>
                  <a:srgbClr val="4ADE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Sim</a:t>
            </a: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tarefa visível?
 │       └─ </a:t>
            </a:r>
            <a:r>
              <a:rPr lang="en-US" sz="1050" b="1" dirty="0">
                <a:solidFill>
                  <a:srgbClr val="4ADE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Foreground Service ✓</a:t>
            </a: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└─ </a:t>
            </a:r>
            <a:r>
              <a:rPr lang="en-US" sz="1050" b="1" dirty="0">
                <a:solidFill>
                  <a:srgbClr val="EF444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Não</a:t>
            </a: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coroutine no
         </a:t>
            </a:r>
            <a:r>
              <a:rPr lang="en-US" sz="1050" b="1" dirty="0">
                <a:solidFill>
                  <a:srgbClr val="3B82F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ViewModelScope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29125" y="1504345"/>
            <a:ext cx="4257675" cy="2000250"/>
          </a:xfrm>
          <a:prstGeom prst="rect">
            <a:avLst/>
          </a:prstGeom>
          <a:solidFill>
            <a:srgbClr val="101015"/>
          </a:solidFill>
          <a:ln w="9144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680621" y="1647220"/>
            <a:ext cx="17546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PLACEHOLDER SCREENSHOT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5414963" y="1925827"/>
            <a:ext cx="2286000" cy="208620"/>
          </a:xfrm>
          <a:prstGeom prst="rect">
            <a:avLst/>
          </a:prstGeom>
          <a:solidFill>
            <a:srgbClr val="10101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5414963" y="1925827"/>
            <a:ext cx="2286000" cy="21431"/>
          </a:xfrm>
          <a:prstGeom prst="rect">
            <a:avLst/>
          </a:prstGeom>
          <a:solidFill>
            <a:srgbClr val="2F30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5514975" y="1973880"/>
            <a:ext cx="44291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7361634" y="1973880"/>
            <a:ext cx="23931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12:42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414963" y="2248746"/>
            <a:ext cx="2286000" cy="857250"/>
          </a:xfrm>
          <a:prstGeom prst="rect">
            <a:avLst/>
          </a:prstGeom>
          <a:solidFill>
            <a:srgbClr val="18181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5414963" y="2248746"/>
            <a:ext cx="2286000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5514975" y="2365000"/>
            <a:ext cx="11197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Percurso a gravar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16973" y="2364107"/>
            <a:ext cx="383977" cy="15716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7216973" y="2364107"/>
            <a:ext cx="383977" cy="157163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ATIVO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514975" y="2606994"/>
            <a:ext cx="20859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Localização em foreground · distância e tempo atualizados continuamente.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14975" y="2982041"/>
            <a:ext cx="208597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00:38:12 · 12.4 km · GPS lock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5343525" y="3234584"/>
            <a:ext cx="2428875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[INSERIR SCREENSHOT: notificação persistente VitalRoute durante gravação]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57200" y="3688240"/>
            <a:ext cx="1993106" cy="85725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457200" y="3688240"/>
            <a:ext cx="1993106" cy="21431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557213" y="3788252"/>
            <a:ext cx="1807369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RecordingService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57213" y="4004686"/>
            <a:ext cx="10947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 declarado com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57213" y="4147617"/>
            <a:ext cx="1714500" cy="112514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557213" y="4147617"/>
            <a:ext cx="1714500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foregroundServiceType="location"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271713" y="4138687"/>
            <a:ext cx="285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2536031" y="3688240"/>
            <a:ext cx="1993106" cy="85725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2536031" y="3688240"/>
            <a:ext cx="1993106" cy="2143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2636044" y="3788252"/>
            <a:ext cx="1807369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Notificação visível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2636044" y="3999328"/>
            <a:ext cx="1807369" cy="268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 ao utilizador que o tracking continua ativo.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614863" y="3688240"/>
            <a:ext cx="1993106" cy="85725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4614863" y="3688240"/>
            <a:ext cx="1993106" cy="2143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4714875" y="3788252"/>
            <a:ext cx="1807369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Ecrã apagado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714875" y="3999328"/>
            <a:ext cx="1807369" cy="268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percurso continua sem depender do ecrã aberto.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693694" y="3688240"/>
            <a:ext cx="1993106" cy="857250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7"/>
          <p:cNvSpPr/>
          <p:nvPr/>
        </p:nvSpPr>
        <p:spPr>
          <a:xfrm>
            <a:off x="6693694" y="3688240"/>
            <a:ext cx="1993106" cy="21431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/>
          <p:nvPr/>
        </p:nvSpPr>
        <p:spPr>
          <a:xfrm>
            <a:off x="6793706" y="3788252"/>
            <a:ext cx="1807369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Permissão dedicada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793706" y="4013615"/>
            <a:ext cx="1455539" cy="112514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6793706" y="4013615"/>
            <a:ext cx="1455539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FOREGROUND_SERVICE_LOCATION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6793706" y="4138687"/>
            <a:ext cx="15894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declarada para Android moderno.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457200" y="4572000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/>
          <p:nvPr/>
        </p:nvSpPr>
        <p:spPr>
          <a:xfrm>
            <a:off x="457200" y="47970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8388548" y="4797028"/>
            <a:ext cx="2982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750" dirty="0"/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29AC1AD1-F09E-BF0F-0E5B-6946FE1E0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487480"/>
            <a:ext cx="4381428" cy="2075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214379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 sensor ao SMS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885751" y="573286"/>
            <a:ext cx="80104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SOS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6715125" cy="4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SOS transforma deteção de queda numa comunicação automática, cancelável e contextualizada com localização.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485230"/>
            <a:ext cx="1210866" cy="1699403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457200" y="1485230"/>
            <a:ext cx="1210866" cy="2857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542925" y="1570955"/>
            <a:ext cx="257175" cy="25717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42925" y="15709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2925" y="1928143"/>
            <a:ext cx="1039416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Queda detetada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2925" y="2331039"/>
            <a:ext cx="1039416" cy="717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Sensibilidade configurada identifica impacto provável durante o percurso.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768078" y="1485230"/>
            <a:ext cx="1210866" cy="1670828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768078" y="1485230"/>
            <a:ext cx="1210866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53803" y="1570955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853803" y="15709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853803" y="1928143"/>
            <a:ext cx="1039416" cy="16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SosSlider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853803" y="2172453"/>
            <a:ext cx="9626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Surge no ecrã com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853803" y="2324956"/>
            <a:ext cx="223242" cy="123230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853803" y="2324956"/>
            <a:ext cx="223242" cy="123230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5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10s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2077045" y="2316026"/>
            <a:ext cx="7286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cancelar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853803" y="2459599"/>
            <a:ext cx="70723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 positivo.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078956" y="1485230"/>
            <a:ext cx="1210866" cy="1670828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3078956" y="1485230"/>
            <a:ext cx="1210866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164681" y="1570955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164681" y="15709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164681" y="1928143"/>
            <a:ext cx="1039416" cy="16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Envio SMS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64681" y="2181383"/>
            <a:ext cx="610791" cy="123230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164681" y="2181383"/>
            <a:ext cx="610791" cy="123230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5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SosManager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775472" y="2172453"/>
            <a:ext cx="2107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164681" y="2324956"/>
            <a:ext cx="610791" cy="123230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164681" y="2324956"/>
            <a:ext cx="610791" cy="123230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5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SmsManager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775472" y="2316026"/>
            <a:ext cx="2607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164681" y="2459599"/>
            <a:ext cx="4822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contactar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164681" y="2603171"/>
            <a:ext cx="7036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responsáveis.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389834" y="1485230"/>
            <a:ext cx="1210866" cy="1670828"/>
          </a:xfrm>
          <a:prstGeom prst="rect">
            <a:avLst/>
          </a:prstGeom>
          <a:solidFill>
            <a:srgbClr val="1616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4389834" y="1485230"/>
            <a:ext cx="1210866" cy="28575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4475559" y="1570955"/>
            <a:ext cx="257175" cy="257175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4475559" y="15709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475559" y="1928143"/>
            <a:ext cx="1039416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Localização GPS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475559" y="2331039"/>
            <a:ext cx="1039416" cy="43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0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mensagem inclui a última posição conhecida do atleta.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915025" y="1485230"/>
            <a:ext cx="2771775" cy="1321594"/>
          </a:xfrm>
          <a:prstGeom prst="rect">
            <a:avLst/>
          </a:prstGeom>
          <a:solidFill>
            <a:srgbClr val="101015"/>
          </a:solidFill>
          <a:ln w="9144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/>
          <p:nvPr/>
        </p:nvSpPr>
        <p:spPr>
          <a:xfrm>
            <a:off x="6434565" y="1570955"/>
            <a:ext cx="17326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PLACEHOLDER SCREENSHOT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6522244" y="1749549"/>
            <a:ext cx="1557338" cy="914400"/>
          </a:xfrm>
          <a:prstGeom prst="rect">
            <a:avLst/>
          </a:prstGeom>
          <a:solidFill>
            <a:srgbClr val="111116"/>
          </a:solidFill>
          <a:ln w="18288">
            <a:solidFill>
              <a:srgbClr val="2F30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1"/>
          <p:cNvSpPr/>
          <p:nvPr/>
        </p:nvSpPr>
        <p:spPr>
          <a:xfrm>
            <a:off x="6686550" y="1883578"/>
            <a:ext cx="1228725" cy="151721"/>
          </a:xfrm>
          <a:prstGeom prst="rect">
            <a:avLst/>
          </a:prstGeom>
          <a:solidFill>
            <a:srgbClr val="2A111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Shape 42"/>
          <p:cNvSpPr/>
          <p:nvPr/>
        </p:nvSpPr>
        <p:spPr>
          <a:xfrm>
            <a:off x="6686550" y="1883578"/>
            <a:ext cx="1228725" cy="21431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3"/>
          <p:cNvSpPr/>
          <p:nvPr/>
        </p:nvSpPr>
        <p:spPr>
          <a:xfrm>
            <a:off x="6686550" y="1883578"/>
            <a:ext cx="1228725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SOS PENDENTE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7120533" y="2106737"/>
            <a:ext cx="36075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5F5F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10</a:t>
            </a:r>
            <a:endParaRPr lang="en-US" sz="2100" dirty="0"/>
          </a:p>
        </p:txBody>
      </p:sp>
      <p:sp>
        <p:nvSpPr>
          <p:cNvPr id="48" name="Shape 45"/>
          <p:cNvSpPr/>
          <p:nvPr/>
        </p:nvSpPr>
        <p:spPr>
          <a:xfrm>
            <a:off x="6686550" y="2463924"/>
            <a:ext cx="1228725" cy="200025"/>
          </a:xfrm>
          <a:prstGeom prst="rect">
            <a:avLst/>
          </a:prstGeom>
          <a:solidFill>
            <a:srgbClr val="24181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6686550" y="2463924"/>
            <a:ext cx="1228725" cy="21431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7"/>
          <p:cNvSpPr/>
          <p:nvPr/>
        </p:nvSpPr>
        <p:spPr>
          <a:xfrm>
            <a:off x="6686550" y="2463924"/>
            <a:ext cx="12287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DESLIZAR PARA CANCELAR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6229350" y="2721099"/>
            <a:ext cx="2143125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57200" y="2971354"/>
            <a:ext cx="2828925" cy="1085850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Shape 50"/>
          <p:cNvSpPr/>
          <p:nvPr/>
        </p:nvSpPr>
        <p:spPr>
          <a:xfrm>
            <a:off x="457200" y="2971354"/>
            <a:ext cx="2828925" cy="2143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1"/>
          <p:cNvSpPr/>
          <p:nvPr/>
        </p:nvSpPr>
        <p:spPr>
          <a:xfrm>
            <a:off x="557213" y="3057079"/>
            <a:ext cx="2628900" cy="1478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Contactos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57213" y="3281744"/>
            <a:ext cx="123765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Picker via Intent implícito: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794867" y="3290674"/>
            <a:ext cx="626864" cy="112514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4"/>
          <p:cNvSpPr/>
          <p:nvPr/>
        </p:nvSpPr>
        <p:spPr>
          <a:xfrm>
            <a:off x="1794867" y="3290674"/>
            <a:ext cx="626864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ACTION_PICK</a:t>
            </a:r>
            <a:endParaRPr lang="en-US" sz="600" dirty="0"/>
          </a:p>
        </p:txBody>
      </p:sp>
      <p:sp>
        <p:nvSpPr>
          <p:cNvPr id="58" name="Text 55"/>
          <p:cNvSpPr/>
          <p:nvPr/>
        </p:nvSpPr>
        <p:spPr>
          <a:xfrm>
            <a:off x="2421731" y="3281744"/>
            <a:ext cx="1750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557213" y="3424675"/>
            <a:ext cx="1092994" cy="112514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7"/>
          <p:cNvSpPr/>
          <p:nvPr/>
        </p:nvSpPr>
        <p:spPr>
          <a:xfrm>
            <a:off x="557213" y="3424675"/>
            <a:ext cx="1092994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Contacts.CONTENT_URI</a:t>
            </a:r>
            <a:endParaRPr lang="en-US" sz="600" dirty="0"/>
          </a:p>
        </p:txBody>
      </p:sp>
      <p:sp>
        <p:nvSpPr>
          <p:cNvPr id="61" name="Text 58"/>
          <p:cNvSpPr/>
          <p:nvPr/>
        </p:nvSpPr>
        <p:spPr>
          <a:xfrm>
            <a:off x="1650206" y="3415745"/>
            <a:ext cx="285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3414713" y="2971354"/>
            <a:ext cx="2571750" cy="1085850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Shape 60"/>
          <p:cNvSpPr/>
          <p:nvPr/>
        </p:nvSpPr>
        <p:spPr>
          <a:xfrm>
            <a:off x="3414713" y="2971354"/>
            <a:ext cx="2571750" cy="2143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Text 61"/>
          <p:cNvSpPr/>
          <p:nvPr/>
        </p:nvSpPr>
        <p:spPr>
          <a:xfrm>
            <a:off x="3514725" y="3057079"/>
            <a:ext cx="2371725" cy="1478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Exportação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3514725" y="3281744"/>
            <a:ext cx="14108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Atividades em GPX/CSV com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4925616" y="3290674"/>
            <a:ext cx="678656" cy="112514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Text 64"/>
          <p:cNvSpPr/>
          <p:nvPr/>
        </p:nvSpPr>
        <p:spPr>
          <a:xfrm>
            <a:off x="4925616" y="3290674"/>
            <a:ext cx="678656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FileProvider</a:t>
            </a:r>
            <a:endParaRPr lang="en-US" sz="600" dirty="0"/>
          </a:p>
        </p:txBody>
      </p:sp>
      <p:sp>
        <p:nvSpPr>
          <p:cNvPr id="68" name="Text 65"/>
          <p:cNvSpPr/>
          <p:nvPr/>
        </p:nvSpPr>
        <p:spPr>
          <a:xfrm>
            <a:off x="5604272" y="3281744"/>
            <a:ext cx="875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3514725" y="3415745"/>
            <a:ext cx="5464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partilha via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4061222" y="3424675"/>
            <a:ext cx="626864" cy="112514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ext 68"/>
          <p:cNvSpPr/>
          <p:nvPr/>
        </p:nvSpPr>
        <p:spPr>
          <a:xfrm>
            <a:off x="4061222" y="3424675"/>
            <a:ext cx="626864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ACTION_SEND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4688086" y="3415745"/>
            <a:ext cx="285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73" name="Shape 70"/>
          <p:cNvSpPr/>
          <p:nvPr/>
        </p:nvSpPr>
        <p:spPr>
          <a:xfrm>
            <a:off x="6115050" y="2971354"/>
            <a:ext cx="2571750" cy="1085850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4" name="Shape 71"/>
          <p:cNvSpPr/>
          <p:nvPr/>
        </p:nvSpPr>
        <p:spPr>
          <a:xfrm>
            <a:off x="6115050" y="2971354"/>
            <a:ext cx="2571750" cy="21431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2"/>
          <p:cNvSpPr/>
          <p:nvPr/>
        </p:nvSpPr>
        <p:spPr>
          <a:xfrm>
            <a:off x="6215063" y="3057079"/>
            <a:ext cx="2371725" cy="1478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Permissões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6215063" y="3290674"/>
            <a:ext cx="471488" cy="112514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7" name="Text 74"/>
          <p:cNvSpPr/>
          <p:nvPr/>
        </p:nvSpPr>
        <p:spPr>
          <a:xfrm>
            <a:off x="6215063" y="3290674"/>
            <a:ext cx="471488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SEND_SMS</a:t>
            </a:r>
            <a:endParaRPr lang="en-US" sz="600" dirty="0"/>
          </a:p>
        </p:txBody>
      </p:sp>
      <p:sp>
        <p:nvSpPr>
          <p:cNvPr id="78" name="Text 75"/>
          <p:cNvSpPr/>
          <p:nvPr/>
        </p:nvSpPr>
        <p:spPr>
          <a:xfrm>
            <a:off x="6686550" y="3281744"/>
            <a:ext cx="11608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750" dirty="0"/>
          </a:p>
        </p:txBody>
      </p:sp>
      <p:sp>
        <p:nvSpPr>
          <p:cNvPr id="79" name="Shape 76"/>
          <p:cNvSpPr/>
          <p:nvPr/>
        </p:nvSpPr>
        <p:spPr>
          <a:xfrm>
            <a:off x="6802636" y="3290674"/>
            <a:ext cx="730448" cy="112514"/>
          </a:xfrm>
          <a:prstGeom prst="rect">
            <a:avLst/>
          </a:prstGeom>
          <a:solidFill>
            <a:srgbClr val="2222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0" name="Text 77"/>
          <p:cNvSpPr/>
          <p:nvPr/>
        </p:nvSpPr>
        <p:spPr>
          <a:xfrm>
            <a:off x="6802636" y="3290674"/>
            <a:ext cx="730448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READ_CONTACTS</a:t>
            </a:r>
            <a:endParaRPr lang="en-US" sz="600" dirty="0"/>
          </a:p>
        </p:txBody>
      </p:sp>
      <p:sp>
        <p:nvSpPr>
          <p:cNvPr id="81" name="Text 78"/>
          <p:cNvSpPr/>
          <p:nvPr/>
        </p:nvSpPr>
        <p:spPr>
          <a:xfrm>
            <a:off x="7533084" y="3281744"/>
            <a:ext cx="9429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justificadas em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6215063" y="3415745"/>
            <a:ext cx="44112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dirty="0">
                <a:solidFill>
                  <a:srgbClr val="C7C7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contexto.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457200" y="4178871"/>
            <a:ext cx="8229600" cy="357188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4" name="Shape 81"/>
          <p:cNvSpPr/>
          <p:nvPr/>
        </p:nvSpPr>
        <p:spPr>
          <a:xfrm>
            <a:off x="457200" y="4178871"/>
            <a:ext cx="8229600" cy="21431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5" name="Text 82"/>
          <p:cNvSpPr/>
          <p:nvPr/>
        </p:nvSpPr>
        <p:spPr>
          <a:xfrm>
            <a:off x="2807494" y="4282455"/>
            <a:ext cx="29182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DE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SMS: “Preciso de ajuda. Última localização: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5725716" y="4282455"/>
            <a:ext cx="5429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DE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lat, lon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6268641" y="4282455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DE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”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9" name="Shape 86"/>
          <p:cNvSpPr/>
          <p:nvPr/>
        </p:nvSpPr>
        <p:spPr>
          <a:xfrm>
            <a:off x="457200" y="4572000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0" name="Text 87"/>
          <p:cNvSpPr/>
          <p:nvPr/>
        </p:nvSpPr>
        <p:spPr>
          <a:xfrm>
            <a:off x="457200" y="47970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91" name="Text 88"/>
          <p:cNvSpPr/>
          <p:nvPr/>
        </p:nvSpPr>
        <p:spPr>
          <a:xfrm>
            <a:off x="8409980" y="4797028"/>
            <a:ext cx="2768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750" dirty="0"/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F8BE39BA-7266-B03C-C075-941A5F7C6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0" y="1459467"/>
            <a:ext cx="2840417" cy="13761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3261"/>
            <a:ext cx="2190062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Qualidade e futuro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958333" y="573286"/>
            <a:ext cx="72846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6B3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2464594" cy="2650331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2464594" cy="28575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14363" y="1071563"/>
            <a:ext cx="2150269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Quality checklist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4363" y="1488746"/>
            <a:ext cx="157163" cy="15716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14363" y="148874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✓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857250" y="1503034"/>
            <a:ext cx="6036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Min SDK 24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4363" y="1820931"/>
            <a:ext cx="157163" cy="15716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14363" y="18209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✓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857250" y="1835218"/>
            <a:ext cx="17109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Permissões pedidas em contexto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4363" y="2149543"/>
            <a:ext cx="157163" cy="15716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14363" y="214954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✓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857250" y="2163831"/>
            <a:ext cx="1310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Estados de loading e erro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4363" y="2478156"/>
            <a:ext cx="157163" cy="15716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14363" y="247815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✓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857250" y="2492443"/>
            <a:ext cx="11787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Rotação suportada por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035969" y="2505308"/>
            <a:ext cx="523280" cy="102859"/>
          </a:xfrm>
          <a:prstGeom prst="rect">
            <a:avLst/>
          </a:prstGeom>
          <a:solidFill>
            <a:srgbClr val="2424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2035969" y="2505308"/>
            <a:ext cx="523280" cy="102859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StateFlow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14363" y="2806768"/>
            <a:ext cx="157163" cy="15716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614363" y="280676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E0E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✓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857250" y="2821056"/>
            <a:ext cx="12055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Tema escuro Material 3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093244" y="914400"/>
            <a:ext cx="2464594" cy="2650331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3093244" y="914400"/>
            <a:ext cx="2464594" cy="2857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3250406" y="1071563"/>
            <a:ext cx="2150269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Limitações honestas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50406" y="1488746"/>
            <a:ext cx="157163" cy="1571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3250406" y="148874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!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3493294" y="1503034"/>
            <a:ext cx="13412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 cache offline custom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250406" y="1820931"/>
            <a:ext cx="157163" cy="1571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3250406" y="18209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!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493294" y="1835218"/>
            <a:ext cx="15823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 Health Connect integrado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50406" y="2149543"/>
            <a:ext cx="157163" cy="1571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3250406" y="214954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!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3493294" y="2163831"/>
            <a:ext cx="14108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 testes instrumentados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250406" y="2478156"/>
            <a:ext cx="157163" cy="1571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3250406" y="247815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!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3493294" y="2428149"/>
            <a:ext cx="19073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Deteção por sensibilidade configurada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250406" y="2806768"/>
            <a:ext cx="157163" cy="1571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/>
          <p:nvPr/>
        </p:nvSpPr>
        <p:spPr>
          <a:xfrm>
            <a:off x="3250406" y="280676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!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493294" y="2821056"/>
            <a:ext cx="16680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Validação real de queda limitada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729288" y="914400"/>
            <a:ext cx="2957513" cy="2650331"/>
          </a:xfrm>
          <a:prstGeom prst="rect">
            <a:avLst/>
          </a:prstGeom>
          <a:solidFill>
            <a:srgbClr val="1515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41"/>
          <p:cNvSpPr/>
          <p:nvPr/>
        </p:nvSpPr>
        <p:spPr>
          <a:xfrm>
            <a:off x="5729288" y="914400"/>
            <a:ext cx="2957513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5886450" y="1071563"/>
            <a:ext cx="2643188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886450" y="1403021"/>
            <a:ext cx="2643188" cy="614363"/>
          </a:xfrm>
          <a:prstGeom prst="rect">
            <a:avLst/>
          </a:prstGeom>
          <a:solidFill>
            <a:srgbClr val="21171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Shape 44"/>
          <p:cNvSpPr/>
          <p:nvPr/>
        </p:nvSpPr>
        <p:spPr>
          <a:xfrm>
            <a:off x="5886450" y="1403021"/>
            <a:ext cx="2643188" cy="14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5"/>
          <p:cNvSpPr/>
          <p:nvPr/>
        </p:nvSpPr>
        <p:spPr>
          <a:xfrm>
            <a:off x="5986463" y="1476245"/>
            <a:ext cx="11072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BLE GATT + wearables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986463" y="1601260"/>
            <a:ext cx="14376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Polar H10, Heart Rate Service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7424142" y="1610190"/>
            <a:ext cx="367903" cy="112514"/>
          </a:xfrm>
          <a:prstGeom prst="rect">
            <a:avLst/>
          </a:prstGeom>
          <a:solidFill>
            <a:srgbClr val="2424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8"/>
          <p:cNvSpPr/>
          <p:nvPr/>
        </p:nvSpPr>
        <p:spPr>
          <a:xfrm>
            <a:off x="7424142" y="1610190"/>
            <a:ext cx="367903" cy="112514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5F5F7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0x180D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7792045" y="1601260"/>
            <a:ext cx="5750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 VitalBand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5986463" y="1726276"/>
            <a:ext cx="171985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5F5F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queda por hardware dedicado.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5886450" y="2103109"/>
            <a:ext cx="2643188" cy="342900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Shape 52"/>
          <p:cNvSpPr/>
          <p:nvPr/>
        </p:nvSpPr>
        <p:spPr>
          <a:xfrm>
            <a:off x="5886450" y="2103109"/>
            <a:ext cx="2643188" cy="14288"/>
          </a:xfrm>
          <a:prstGeom prst="rect">
            <a:avLst/>
          </a:prstGeom>
          <a:solidFill>
            <a:srgbClr val="3030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5886450" y="2103109"/>
            <a:ext cx="2643188" cy="342900"/>
          </a:xfrm>
          <a:prstGeom prst="rect">
            <a:avLst/>
          </a:prstGeom>
          <a:noFill/>
          <a:ln/>
        </p:spPr>
        <p:txBody>
          <a:bodyPr wrap="square" lIns="119126" tIns="85090" rIns="102108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Kotlin Multiplatform</a:t>
            </a:r>
            <a:r>
              <a:rPr lang="en-US" sz="75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para versão iOS.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5886450" y="2531734"/>
            <a:ext cx="2643188" cy="342900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8" name="Shape 55"/>
          <p:cNvSpPr/>
          <p:nvPr/>
        </p:nvSpPr>
        <p:spPr>
          <a:xfrm>
            <a:off x="5886450" y="2531734"/>
            <a:ext cx="2643188" cy="14288"/>
          </a:xfrm>
          <a:prstGeom prst="rect">
            <a:avLst/>
          </a:prstGeom>
          <a:solidFill>
            <a:srgbClr val="3030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6"/>
          <p:cNvSpPr/>
          <p:nvPr/>
        </p:nvSpPr>
        <p:spPr>
          <a:xfrm>
            <a:off x="5886450" y="2531734"/>
            <a:ext cx="2643188" cy="342900"/>
          </a:xfrm>
          <a:prstGeom prst="rect">
            <a:avLst/>
          </a:prstGeom>
          <a:noFill/>
          <a:ln/>
        </p:spPr>
        <p:txBody>
          <a:bodyPr wrap="square" lIns="119126" tIns="85090" rIns="102108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Health Connect</a:t>
            </a:r>
            <a:r>
              <a:rPr lang="en-US" sz="75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como fonte unificada de saúde.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5886450" y="2960359"/>
            <a:ext cx="2643188" cy="342900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Shape 58"/>
          <p:cNvSpPr/>
          <p:nvPr/>
        </p:nvSpPr>
        <p:spPr>
          <a:xfrm>
            <a:off x="5886450" y="2960359"/>
            <a:ext cx="2643188" cy="14288"/>
          </a:xfrm>
          <a:prstGeom prst="rect">
            <a:avLst/>
          </a:prstGeom>
          <a:solidFill>
            <a:srgbClr val="3030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 59"/>
          <p:cNvSpPr/>
          <p:nvPr/>
        </p:nvSpPr>
        <p:spPr>
          <a:xfrm>
            <a:off x="5886450" y="2960359"/>
            <a:ext cx="2643188" cy="342900"/>
          </a:xfrm>
          <a:prstGeom prst="rect">
            <a:avLst/>
          </a:prstGeom>
          <a:noFill/>
          <a:ln/>
        </p:spPr>
        <p:txBody>
          <a:bodyPr wrap="square" lIns="119126" tIns="85090" rIns="102108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Gemini Nano</a:t>
            </a:r>
            <a:r>
              <a:rPr lang="en-US" sz="75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para classificar atividade.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5886450" y="3388984"/>
            <a:ext cx="2643188" cy="342900"/>
          </a:xfrm>
          <a:prstGeom prst="rect">
            <a:avLst/>
          </a:prstGeom>
          <a:solidFill>
            <a:srgbClr val="1A1A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Shape 61"/>
          <p:cNvSpPr/>
          <p:nvPr/>
        </p:nvSpPr>
        <p:spPr>
          <a:xfrm>
            <a:off x="5886450" y="3388984"/>
            <a:ext cx="2643188" cy="14288"/>
          </a:xfrm>
          <a:prstGeom prst="rect">
            <a:avLst/>
          </a:prstGeom>
          <a:solidFill>
            <a:srgbClr val="3030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5" name="Text 62"/>
          <p:cNvSpPr/>
          <p:nvPr/>
        </p:nvSpPr>
        <p:spPr>
          <a:xfrm>
            <a:off x="5886450" y="3388984"/>
            <a:ext cx="2643188" cy="342900"/>
          </a:xfrm>
          <a:prstGeom prst="rect">
            <a:avLst/>
          </a:prstGeom>
          <a:noFill/>
          <a:ln/>
        </p:spPr>
        <p:txBody>
          <a:bodyPr wrap="square" lIns="119126" tIns="85090" rIns="102108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WorkManager</a:t>
            </a:r>
            <a:r>
              <a:rPr lang="en-US" sz="750" dirty="0">
                <a:solidFill>
                  <a:srgbClr val="D4D4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para sync diferido.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457200" y="3768328"/>
            <a:ext cx="8229600" cy="800100"/>
          </a:xfrm>
          <a:prstGeom prst="rect">
            <a:avLst/>
          </a:prstGeom>
          <a:solidFill>
            <a:srgbClr val="1111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Shape 64"/>
          <p:cNvSpPr/>
          <p:nvPr/>
        </p:nvSpPr>
        <p:spPr>
          <a:xfrm>
            <a:off x="457200" y="3768328"/>
            <a:ext cx="8229600" cy="28575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Text 65"/>
          <p:cNvSpPr/>
          <p:nvPr/>
        </p:nvSpPr>
        <p:spPr>
          <a:xfrm>
            <a:off x="657225" y="4029968"/>
            <a:ext cx="50292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F5F5F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Obrigado · Perguntas?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5686425" y="3991235"/>
            <a:ext cx="30003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REPOSITÓRIO</a:t>
            </a:r>
            <a:endParaRPr lang="en-US" sz="600" dirty="0"/>
          </a:p>
        </p:txBody>
      </p:sp>
      <p:sp>
        <p:nvSpPr>
          <p:cNvPr id="70" name="Text 67"/>
          <p:cNvSpPr/>
          <p:nvPr/>
        </p:nvSpPr>
        <p:spPr>
          <a:xfrm>
            <a:off x="5686425" y="4168378"/>
            <a:ext cx="30003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b="1" kern="0" spc="1" dirty="0">
                <a:solidFill>
                  <a:srgbClr val="FF6B3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[URL DO GIT]</a:t>
            </a:r>
            <a:endParaRPr lang="en-US" sz="600" dirty="0"/>
          </a:p>
        </p:txBody>
      </p:sp>
      <p:sp>
        <p:nvSpPr>
          <p:cNvPr id="71" name="Shape 68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Shape 69"/>
          <p:cNvSpPr/>
          <p:nvPr/>
        </p:nvSpPr>
        <p:spPr>
          <a:xfrm>
            <a:off x="457200" y="4572000"/>
            <a:ext cx="82296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Text 70"/>
          <p:cNvSpPr/>
          <p:nvPr/>
        </p:nvSpPr>
        <p:spPr>
          <a:xfrm>
            <a:off x="457200" y="4797028"/>
            <a:ext cx="16805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VitalRoute · ICM 2025/26 · UA-DETI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8390334" y="4797028"/>
            <a:ext cx="2964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77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1272</Words>
  <Application>Microsoft Office PowerPoint</Application>
  <PresentationFormat>Apresentação no Ecrã (16:9)</PresentationFormat>
  <Paragraphs>326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25" baseType="lpstr">
      <vt:lpstr>Arial</vt:lpstr>
      <vt:lpstr>Courier New</vt:lpstr>
      <vt:lpstr>Inter</vt:lpstr>
      <vt:lpstr>Inter Bold</vt:lpstr>
      <vt:lpstr>Inter ExtraBold</vt:lpstr>
      <vt:lpstr>Inter Medium</vt:lpstr>
      <vt:lpstr>Inter SemiBold</vt:lpstr>
      <vt:lpstr>JetBrains Mono</vt:lpstr>
      <vt:lpstr>JetBrains Mono Bold</vt:lpstr>
      <vt:lpstr>JetBrains Mono SemiBold</vt:lpstr>
      <vt:lpstr>monospace</vt:lpstr>
      <vt:lpstr>SFMono-Regular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Duarte Lourenço</cp:lastModifiedBy>
  <cp:revision>5</cp:revision>
  <dcterms:created xsi:type="dcterms:W3CDTF">2026-05-18T22:26:57Z</dcterms:created>
  <dcterms:modified xsi:type="dcterms:W3CDTF">2026-05-19T13:03:43Z</dcterms:modified>
</cp:coreProperties>
</file>